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84" r:id="rId2"/>
    <p:sldMasterId id="2147483729" r:id="rId3"/>
  </p:sldMasterIdLst>
  <p:notesMasterIdLst>
    <p:notesMasterId r:id="rId35"/>
  </p:notesMasterIdLst>
  <p:sldIdLst>
    <p:sldId id="256" r:id="rId4"/>
    <p:sldId id="367" r:id="rId5"/>
    <p:sldId id="368" r:id="rId6"/>
    <p:sldId id="369" r:id="rId7"/>
    <p:sldId id="398" r:id="rId8"/>
    <p:sldId id="379" r:id="rId9"/>
    <p:sldId id="380" r:id="rId10"/>
    <p:sldId id="381" r:id="rId11"/>
    <p:sldId id="397" r:id="rId12"/>
    <p:sldId id="371" r:id="rId13"/>
    <p:sldId id="372" r:id="rId14"/>
    <p:sldId id="373" r:id="rId15"/>
    <p:sldId id="399" r:id="rId16"/>
    <p:sldId id="375" r:id="rId17"/>
    <p:sldId id="376" r:id="rId18"/>
    <p:sldId id="377" r:id="rId19"/>
    <p:sldId id="400" r:id="rId20"/>
    <p:sldId id="383" r:id="rId21"/>
    <p:sldId id="384" r:id="rId22"/>
    <p:sldId id="385" r:id="rId23"/>
    <p:sldId id="401" r:id="rId24"/>
    <p:sldId id="387" r:id="rId25"/>
    <p:sldId id="388" r:id="rId26"/>
    <p:sldId id="389" r:id="rId27"/>
    <p:sldId id="402" r:id="rId28"/>
    <p:sldId id="391" r:id="rId29"/>
    <p:sldId id="392" r:id="rId30"/>
    <p:sldId id="393" r:id="rId31"/>
    <p:sldId id="394" r:id="rId32"/>
    <p:sldId id="395" r:id="rId33"/>
    <p:sldId id="396"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94" d="100"/>
          <a:sy n="94" d="100"/>
        </p:scale>
        <p:origin x="240"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slide" Target="slides/slide3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viewProps" Target="view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presProps" Target="presProp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958EB7-0CC6-4156-A7DD-96D681019C46}" type="datetimeFigureOut">
              <a:rPr lang="en-IN" smtClean="0"/>
              <a:t>07-04-2025</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25A8AB-CA34-489A-821B-49D45858C0E4}" type="slidenum">
              <a:rPr lang="en-IN" smtClean="0"/>
              <a:t>‹#›</a:t>
            </a:fld>
            <a:endParaRPr lang="en-IN" dirty="0"/>
          </a:p>
        </p:txBody>
      </p:sp>
    </p:spTree>
    <p:extLst>
      <p:ext uri="{BB962C8B-B14F-4D97-AF65-F5344CB8AC3E}">
        <p14:creationId xmlns:p14="http://schemas.microsoft.com/office/powerpoint/2010/main" val="4000849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B325A8AB-CA34-489A-821B-49D45858C0E4}" type="slidenum">
              <a:rPr lang="en-IN" smtClean="0"/>
              <a:t>1</a:t>
            </a:fld>
            <a:endParaRPr lang="en-IN" dirty="0"/>
          </a:p>
        </p:txBody>
      </p:sp>
    </p:spTree>
    <p:extLst>
      <p:ext uri="{BB962C8B-B14F-4D97-AF65-F5344CB8AC3E}">
        <p14:creationId xmlns:p14="http://schemas.microsoft.com/office/powerpoint/2010/main" val="3302803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3871837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812667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849524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3167516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7831126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2818994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32893877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557968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2660611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dirty="0"/>
          </a:p>
        </p:txBody>
      </p:sp>
    </p:spTree>
    <p:extLst>
      <p:ext uri="{BB962C8B-B14F-4D97-AF65-F5344CB8AC3E}">
        <p14:creationId xmlns:p14="http://schemas.microsoft.com/office/powerpoint/2010/main" val="2995031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2143961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2992299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20674552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29930196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275410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dirty="0"/>
          </a:p>
        </p:txBody>
      </p:sp>
    </p:spTree>
    <p:extLst>
      <p:ext uri="{BB962C8B-B14F-4D97-AF65-F5344CB8AC3E}">
        <p14:creationId xmlns:p14="http://schemas.microsoft.com/office/powerpoint/2010/main" val="4270771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dirty="0"/>
          </a:p>
        </p:txBody>
      </p:sp>
    </p:spTree>
    <p:extLst>
      <p:ext uri="{BB962C8B-B14F-4D97-AF65-F5344CB8AC3E}">
        <p14:creationId xmlns:p14="http://schemas.microsoft.com/office/powerpoint/2010/main" val="31013089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dirty="0"/>
          </a:p>
        </p:txBody>
      </p:sp>
    </p:spTree>
    <p:extLst>
      <p:ext uri="{BB962C8B-B14F-4D97-AF65-F5344CB8AC3E}">
        <p14:creationId xmlns:p14="http://schemas.microsoft.com/office/powerpoint/2010/main" val="38437198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dirty="0"/>
          </a:p>
        </p:txBody>
      </p:sp>
    </p:spTree>
    <p:extLst>
      <p:ext uri="{BB962C8B-B14F-4D97-AF65-F5344CB8AC3E}">
        <p14:creationId xmlns:p14="http://schemas.microsoft.com/office/powerpoint/2010/main" val="21916720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dirty="0"/>
          </a:p>
        </p:txBody>
      </p:sp>
    </p:spTree>
    <p:extLst>
      <p:ext uri="{BB962C8B-B14F-4D97-AF65-F5344CB8AC3E}">
        <p14:creationId xmlns:p14="http://schemas.microsoft.com/office/powerpoint/2010/main" val="39471448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dirty="0"/>
          </a:p>
        </p:txBody>
      </p:sp>
    </p:spTree>
    <p:extLst>
      <p:ext uri="{BB962C8B-B14F-4D97-AF65-F5344CB8AC3E}">
        <p14:creationId xmlns:p14="http://schemas.microsoft.com/office/powerpoint/2010/main" val="40221160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dirty="0"/>
          </a:p>
        </p:txBody>
      </p:sp>
    </p:spTree>
    <p:extLst>
      <p:ext uri="{BB962C8B-B14F-4D97-AF65-F5344CB8AC3E}">
        <p14:creationId xmlns:p14="http://schemas.microsoft.com/office/powerpoint/2010/main" val="288393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22278133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8945301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42839840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26163537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2784810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 y="6334316"/>
            <a:ext cx="12192000"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1"/>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123D6071-15B7-4B00-A5A2-C31F3760CD0C}" type="slidenum">
              <a:rPr lang="en-IN" smtClean="0"/>
              <a:t>‹#›</a:t>
            </a:fld>
            <a:endParaRPr lang="en-IN"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651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4234523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123D6071-15B7-4B00-A5A2-C31F3760CD0C}" type="slidenum">
              <a:rPr lang="en-IN" smtClean="0"/>
              <a:t>‹#›</a:t>
            </a:fld>
            <a:endParaRPr lang="en-IN" dirty="0"/>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9942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1845734"/>
            <a:ext cx="4937760" cy="40233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36350602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5"/>
            <a:ext cx="4937760" cy="3286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286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13920768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134662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endParaRPr lang="en-IN" dirty="0"/>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dirty="0"/>
          </a:p>
        </p:txBody>
      </p:sp>
      <p:sp>
        <p:nvSpPr>
          <p:cNvPr id="9" name="Slide Number Placeholder 8"/>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42613012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endParaRPr lang="en-IN" dirty="0"/>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123D6071-15B7-4B00-A5A2-C31F3760CD0C}" type="slidenum">
              <a:rPr lang="en-IN" smtClean="0"/>
              <a:t>‹#›</a:t>
            </a:fld>
            <a:endParaRPr lang="en-IN" dirty="0"/>
          </a:p>
        </p:txBody>
      </p:sp>
    </p:spTree>
    <p:extLst>
      <p:ext uri="{BB962C8B-B14F-4D97-AF65-F5344CB8AC3E}">
        <p14:creationId xmlns:p14="http://schemas.microsoft.com/office/powerpoint/2010/main" val="825216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645" cy="822960"/>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solidFill>
            <a:schemeClr val="bg2">
              <a:lumMod val="90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097280" y="5907024"/>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2244537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27977284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123D6071-15B7-4B00-A5A2-C31F3760CD0C}" type="slidenum">
              <a:rPr lang="en-IN" smtClean="0"/>
              <a:t>‹#›</a:t>
            </a:fld>
            <a:endParaRPr lang="en-IN" dirty="0"/>
          </a:p>
        </p:txBody>
      </p:sp>
    </p:spTree>
    <p:extLst>
      <p:ext uri="{BB962C8B-B14F-4D97-AF65-F5344CB8AC3E}">
        <p14:creationId xmlns:p14="http://schemas.microsoft.com/office/powerpoint/2010/main" val="2849144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8_Custom Layout">
    <p:spTree>
      <p:nvGrpSpPr>
        <p:cNvPr id="1" name=""/>
        <p:cNvGrpSpPr/>
        <p:nvPr/>
      </p:nvGrpSpPr>
      <p:grpSpPr>
        <a:xfrm>
          <a:off x="0" y="0"/>
          <a:ext cx="0" cy="0"/>
          <a:chOff x="0" y="0"/>
          <a:chExt cx="0" cy="0"/>
        </a:xfrm>
      </p:grpSpPr>
      <p:sp>
        <p:nvSpPr>
          <p:cNvPr id="10" name="Picture Placeholder 7"/>
          <p:cNvSpPr>
            <a:spLocks noGrp="1"/>
          </p:cNvSpPr>
          <p:nvPr>
            <p:ph type="pic" sz="quarter" idx="10" hasCustomPrompt="1"/>
          </p:nvPr>
        </p:nvSpPr>
        <p:spPr>
          <a:xfrm>
            <a:off x="0" y="0"/>
            <a:ext cx="12192000" cy="6858000"/>
          </a:xfrm>
        </p:spPr>
        <p:txBody>
          <a:bodyPr tIns="137160">
            <a:normAutofit/>
          </a:bodyPr>
          <a:lstStyle>
            <a:lvl1pPr>
              <a:defRPr sz="1200" b="0" baseline="0">
                <a:solidFill>
                  <a:schemeClr val="accent2"/>
                </a:solidFill>
              </a:defRPr>
            </a:lvl1pPr>
          </a:lstStyle>
          <a:p>
            <a:r>
              <a:rPr lang="en-US" dirty="0"/>
              <a:t>Drag &amp; Drop Here</a:t>
            </a:r>
          </a:p>
        </p:txBody>
      </p:sp>
      <p:sp>
        <p:nvSpPr>
          <p:cNvPr id="3" name="TextBox 2"/>
          <p:cNvSpPr txBox="1"/>
          <p:nvPr userDrawn="1"/>
        </p:nvSpPr>
        <p:spPr>
          <a:xfrm>
            <a:off x="0" y="649170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40402270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sp>
        <p:nvSpPr>
          <p:cNvPr id="8" name="TextBox 7"/>
          <p:cNvSpPr txBox="1"/>
          <p:nvPr userDrawn="1"/>
        </p:nvSpPr>
        <p:spPr>
          <a:xfrm>
            <a:off x="11652069" y="6377896"/>
            <a:ext cx="539931" cy="470801"/>
          </a:xfrm>
          <a:prstGeom prst="rect">
            <a:avLst/>
          </a:prstGeom>
          <a:solidFill>
            <a:schemeClr val="accent1">
              <a:lumMod val="75000"/>
            </a:schemeClr>
          </a:solidFill>
          <a:ln>
            <a:solidFill>
              <a:schemeClr val="accent1">
                <a:lumMod val="50000"/>
              </a:schemeClr>
            </a:solidFill>
          </a:ln>
        </p:spPr>
        <p:txBody>
          <a:bodyPr wrap="square" rtlCol="0">
            <a:spAutoFit/>
          </a:bodyPr>
          <a:lstStyle/>
          <a:p>
            <a:endParaRPr lang="en-IN" sz="1400" b="1" dirty="0">
              <a:solidFill>
                <a:prstClr val="white"/>
              </a:solidFill>
              <a:latin typeface="Roboto" pitchFamily="2" charset="0"/>
              <a:ea typeface="Roboto" pitchFamily="2" charset="0"/>
            </a:endParaRPr>
          </a:p>
        </p:txBody>
      </p:sp>
      <p:sp>
        <p:nvSpPr>
          <p:cNvPr id="2" name="Rectangle 1"/>
          <p:cNvSpPr/>
          <p:nvPr userDrawn="1"/>
        </p:nvSpPr>
        <p:spPr>
          <a:xfrm>
            <a:off x="11778341" y="6459407"/>
            <a:ext cx="405880" cy="307777"/>
          </a:xfrm>
          <a:prstGeom prst="rect">
            <a:avLst/>
          </a:prstGeom>
        </p:spPr>
        <p:txBody>
          <a:bodyPr wrap="none">
            <a:spAutoFit/>
          </a:bodyPr>
          <a:lstStyle/>
          <a:p>
            <a:fld id="{2FFD5520-3B3B-4A6C-9BAB-9937FD8E0F76}" type="slidenum">
              <a:rPr lang="en-US" sz="1400" b="1">
                <a:solidFill>
                  <a:prstClr val="white"/>
                </a:solidFill>
                <a:latin typeface="Roboto" pitchFamily="2" charset="0"/>
                <a:ea typeface="Roboto" pitchFamily="2" charset="0"/>
              </a:rPr>
              <a:pPr/>
              <a:t>‹#›</a:t>
            </a:fld>
            <a:endParaRPr lang="en-IN" b="1" dirty="0">
              <a:solidFill>
                <a:prstClr val="white"/>
              </a:solidFill>
              <a:latin typeface="Roboto" pitchFamily="2" charset="0"/>
              <a:ea typeface="Roboto" pitchFamily="2" charset="0"/>
            </a:endParaRPr>
          </a:p>
        </p:txBody>
      </p:sp>
      <p:sp>
        <p:nvSpPr>
          <p:cNvPr id="10" name="Title Placeholder 1"/>
          <p:cNvSpPr>
            <a:spLocks noGrp="1"/>
          </p:cNvSpPr>
          <p:nvPr>
            <p:ph type="title"/>
          </p:nvPr>
        </p:nvSpPr>
        <p:spPr>
          <a:xfrm>
            <a:off x="0" y="1"/>
            <a:ext cx="12192000" cy="726509"/>
          </a:xfrm>
          <a:prstGeom prst="rect">
            <a:avLst/>
          </a:prstGeom>
          <a:solidFill>
            <a:schemeClr val="accent1">
              <a:lumMod val="75000"/>
            </a:schemeClr>
          </a:solidFill>
        </p:spPr>
        <p:txBody>
          <a:bodyPr vert="horz" lIns="91440" tIns="45720" rIns="91440" bIns="45720" rtlCol="0" anchor="ctr">
            <a:normAutofit/>
          </a:bodyPr>
          <a:lstStyle>
            <a:lvl1pPr algn="ctr">
              <a:defRPr sz="3600">
                <a:solidFill>
                  <a:schemeClr val="bg1"/>
                </a:solidFill>
                <a:latin typeface="Roboto" pitchFamily="2" charset="0"/>
                <a:ea typeface="Roboto" pitchFamily="2" charset="0"/>
              </a:defRPr>
            </a:lvl1pPr>
          </a:lstStyle>
          <a:p>
            <a:r>
              <a:rPr lang="en-US" dirty="0"/>
              <a:t>Click to edit Master title style</a:t>
            </a:r>
          </a:p>
        </p:txBody>
      </p:sp>
      <p:sp>
        <p:nvSpPr>
          <p:cNvPr id="11" name="Text Placeholder 10"/>
          <p:cNvSpPr>
            <a:spLocks noGrp="1"/>
          </p:cNvSpPr>
          <p:nvPr>
            <p:ph type="body" sz="quarter" idx="11"/>
          </p:nvPr>
        </p:nvSpPr>
        <p:spPr>
          <a:xfrm>
            <a:off x="212724" y="889000"/>
            <a:ext cx="11749631" cy="5436644"/>
          </a:xfrm>
        </p:spPr>
        <p:txBody>
          <a:bodyPr/>
          <a:lstStyle>
            <a:lvl1pPr marL="228600" indent="-228600">
              <a:buFont typeface="Arial" panose="020B0604020202020204" pitchFamily="34" charset="0"/>
              <a:buChar char="•"/>
              <a:defRPr>
                <a:latin typeface="Roboto" pitchFamily="2" charset="0"/>
                <a:ea typeface="Roboto" pitchFamily="2" charset="0"/>
              </a:defRPr>
            </a:lvl1pPr>
            <a:lvl2pPr marL="685800" indent="-228600">
              <a:buFont typeface="Arial" panose="020B0604020202020204" pitchFamily="34" charset="0"/>
              <a:buChar char="•"/>
              <a:defRPr>
                <a:latin typeface="Roboto" pitchFamily="2" charset="0"/>
                <a:ea typeface="Roboto" pitchFamily="2" charset="0"/>
              </a:defRPr>
            </a:lvl2pPr>
            <a:lvl3pPr marL="1143000" indent="-228600">
              <a:buFont typeface="Arial" panose="020B0604020202020204" pitchFamily="34" charset="0"/>
              <a:buChar char="•"/>
              <a:defRPr>
                <a:latin typeface="Roboto" pitchFamily="2" charset="0"/>
                <a:ea typeface="Roboto" pitchFamily="2" charset="0"/>
              </a:defRPr>
            </a:lvl3pPr>
            <a:lvl4pPr marL="1600200" indent="-228600">
              <a:buFont typeface="Arial" panose="020B0604020202020204" pitchFamily="34" charset="0"/>
              <a:buChar char="•"/>
              <a:defRPr>
                <a:latin typeface="Roboto" pitchFamily="2" charset="0"/>
                <a:ea typeface="Roboto" pitchFamily="2" charset="0"/>
              </a:defRPr>
            </a:lvl4pPr>
            <a:lvl5pPr marL="2057400" indent="-228600">
              <a:buFont typeface="Arial" panose="020B0604020202020204" pitchFamily="34" charset="0"/>
              <a:buChar char="•"/>
              <a:defRPr>
                <a:latin typeface="Roboto" pitchFamily="2" charset="0"/>
                <a:ea typeface="Roboto" pitchFamily="2"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Tree>
    <p:extLst>
      <p:ext uri="{BB962C8B-B14F-4D97-AF65-F5344CB8AC3E}">
        <p14:creationId xmlns:p14="http://schemas.microsoft.com/office/powerpoint/2010/main" val="10282874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5" name="Picture Placeholder 14"/>
          <p:cNvSpPr>
            <a:spLocks noGrp="1"/>
          </p:cNvSpPr>
          <p:nvPr>
            <p:ph type="pic" sz="quarter" idx="10" hasCustomPrompt="1"/>
          </p:nvPr>
        </p:nvSpPr>
        <p:spPr>
          <a:xfrm>
            <a:off x="1195809"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1" hasCustomPrompt="1"/>
          </p:nvPr>
        </p:nvSpPr>
        <p:spPr>
          <a:xfrm>
            <a:off x="3843878"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6491948"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140017"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8" name="Oval 7"/>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9" name="TextBox 8"/>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0" name="TextBox 9"/>
          <p:cNvSpPr txBox="1"/>
          <p:nvPr userDrawn="1"/>
        </p:nvSpPr>
        <p:spPr>
          <a:xfrm>
            <a:off x="0" y="6501008"/>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7096459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15" name="Picture Placeholder 14"/>
          <p:cNvSpPr>
            <a:spLocks noGrp="1"/>
          </p:cNvSpPr>
          <p:nvPr>
            <p:ph type="pic" sz="quarter" idx="10" hasCustomPrompt="1"/>
          </p:nvPr>
        </p:nvSpPr>
        <p:spPr>
          <a:xfrm>
            <a:off x="838201"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1" hasCustomPrompt="1"/>
          </p:nvPr>
        </p:nvSpPr>
        <p:spPr>
          <a:xfrm>
            <a:off x="3646714"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6455228"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263743"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7274253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19" name="Picture Placeholder 18"/>
          <p:cNvSpPr>
            <a:spLocks noGrp="1"/>
          </p:cNvSpPr>
          <p:nvPr>
            <p:ph type="pic" sz="quarter" idx="10" hasCustomPrompt="1"/>
          </p:nvPr>
        </p:nvSpPr>
        <p:spPr>
          <a:xfrm>
            <a:off x="4282333" y="1884937"/>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1" hasCustomPrompt="1"/>
          </p:nvPr>
        </p:nvSpPr>
        <p:spPr>
          <a:xfrm>
            <a:off x="6150990" y="1884937"/>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2" hasCustomPrompt="1"/>
          </p:nvPr>
        </p:nvSpPr>
        <p:spPr>
          <a:xfrm>
            <a:off x="4282333" y="4167134"/>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3" hasCustomPrompt="1"/>
          </p:nvPr>
        </p:nvSpPr>
        <p:spPr>
          <a:xfrm>
            <a:off x="6150990" y="4167134"/>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1337131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3971192" y="186237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336742" y="186237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3971192" y="422792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3" hasCustomPrompt="1"/>
          </p:nvPr>
        </p:nvSpPr>
        <p:spPr>
          <a:xfrm>
            <a:off x="6336742" y="422792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76170631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4230343" y="2221757"/>
            <a:ext cx="2582562" cy="2582562"/>
          </a:xfrm>
          <a:custGeom>
            <a:avLst/>
            <a:gdLst>
              <a:gd name="connsiteX0" fmla="*/ 0 w 2582562"/>
              <a:gd name="connsiteY0" fmla="*/ 0 h 2582562"/>
              <a:gd name="connsiteX1" fmla="*/ 2582562 w 2582562"/>
              <a:gd name="connsiteY1" fmla="*/ 0 h 2582562"/>
              <a:gd name="connsiteX2" fmla="*/ 2582562 w 2582562"/>
              <a:gd name="connsiteY2" fmla="*/ 2582562 h 2582562"/>
              <a:gd name="connsiteX3" fmla="*/ 0 w 2582562"/>
              <a:gd name="connsiteY3" fmla="*/ 2582562 h 2582562"/>
            </a:gdLst>
            <a:ahLst/>
            <a:cxnLst>
              <a:cxn ang="0">
                <a:pos x="connsiteX0" y="connsiteY0"/>
              </a:cxn>
              <a:cxn ang="0">
                <a:pos x="connsiteX1" y="connsiteY1"/>
              </a:cxn>
              <a:cxn ang="0">
                <a:pos x="connsiteX2" y="connsiteY2"/>
              </a:cxn>
              <a:cxn ang="0">
                <a:pos x="connsiteX3" y="connsiteY3"/>
              </a:cxn>
            </a:cxnLst>
            <a:rect l="l" t="t" r="r" b="b"/>
            <a:pathLst>
              <a:path w="2582562" h="2582562">
                <a:moveTo>
                  <a:pt x="0" y="0"/>
                </a:moveTo>
                <a:lnTo>
                  <a:pt x="2582562" y="0"/>
                </a:lnTo>
                <a:lnTo>
                  <a:pt x="2582562" y="2582562"/>
                </a:lnTo>
                <a:lnTo>
                  <a:pt x="0" y="258256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0409465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77119" y="2567756"/>
            <a:ext cx="2582562" cy="2582562"/>
          </a:xfrm>
          <a:custGeom>
            <a:avLst/>
            <a:gdLst>
              <a:gd name="connsiteX0" fmla="*/ 0 w 2582562"/>
              <a:gd name="connsiteY0" fmla="*/ 0 h 2582562"/>
              <a:gd name="connsiteX1" fmla="*/ 2582562 w 2582562"/>
              <a:gd name="connsiteY1" fmla="*/ 0 h 2582562"/>
              <a:gd name="connsiteX2" fmla="*/ 2582562 w 2582562"/>
              <a:gd name="connsiteY2" fmla="*/ 2582562 h 2582562"/>
              <a:gd name="connsiteX3" fmla="*/ 0 w 2582562"/>
              <a:gd name="connsiteY3" fmla="*/ 2582562 h 2582562"/>
            </a:gdLst>
            <a:ahLst/>
            <a:cxnLst>
              <a:cxn ang="0">
                <a:pos x="connsiteX0" y="connsiteY0"/>
              </a:cxn>
              <a:cxn ang="0">
                <a:pos x="connsiteX1" y="connsiteY1"/>
              </a:cxn>
              <a:cxn ang="0">
                <a:pos x="connsiteX2" y="connsiteY2"/>
              </a:cxn>
              <a:cxn ang="0">
                <a:pos x="connsiteX3" y="connsiteY3"/>
              </a:cxn>
            </a:cxnLst>
            <a:rect l="l" t="t" r="r" b="b"/>
            <a:pathLst>
              <a:path w="2582562" h="2582562">
                <a:moveTo>
                  <a:pt x="0" y="0"/>
                </a:moveTo>
                <a:lnTo>
                  <a:pt x="2582562" y="0"/>
                </a:lnTo>
                <a:lnTo>
                  <a:pt x="2582562" y="2582562"/>
                </a:lnTo>
                <a:lnTo>
                  <a:pt x="0" y="258256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121792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0" y="2608098"/>
            <a:ext cx="12192000" cy="1900747"/>
          </a:xfrm>
          <a:custGeom>
            <a:avLst/>
            <a:gdLst>
              <a:gd name="connsiteX0" fmla="*/ 0 w 12192000"/>
              <a:gd name="connsiteY0" fmla="*/ 0 h 1900747"/>
              <a:gd name="connsiteX1" fmla="*/ 12192000 w 12192000"/>
              <a:gd name="connsiteY1" fmla="*/ 0 h 1900747"/>
              <a:gd name="connsiteX2" fmla="*/ 12192000 w 12192000"/>
              <a:gd name="connsiteY2" fmla="*/ 1900747 h 1900747"/>
              <a:gd name="connsiteX3" fmla="*/ 0 w 12192000"/>
              <a:gd name="connsiteY3" fmla="*/ 1900747 h 1900747"/>
            </a:gdLst>
            <a:ahLst/>
            <a:cxnLst>
              <a:cxn ang="0">
                <a:pos x="connsiteX0" y="connsiteY0"/>
              </a:cxn>
              <a:cxn ang="0">
                <a:pos x="connsiteX1" y="connsiteY1"/>
              </a:cxn>
              <a:cxn ang="0">
                <a:pos x="connsiteX2" y="connsiteY2"/>
              </a:cxn>
              <a:cxn ang="0">
                <a:pos x="connsiteX3" y="connsiteY3"/>
              </a:cxn>
            </a:cxnLst>
            <a:rect l="l" t="t" r="r" b="b"/>
            <a:pathLst>
              <a:path w="12192000" h="1900747">
                <a:moveTo>
                  <a:pt x="0" y="0"/>
                </a:moveTo>
                <a:lnTo>
                  <a:pt x="12192000" y="0"/>
                </a:lnTo>
                <a:lnTo>
                  <a:pt x="12192000" y="1900747"/>
                </a:lnTo>
                <a:lnTo>
                  <a:pt x="0" y="190074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6" name="TextBox 5"/>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8" name="TextBox 7"/>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552145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0" y="2667006"/>
            <a:ext cx="6095998" cy="2936949"/>
          </a:xfrm>
          <a:custGeom>
            <a:avLst/>
            <a:gdLst>
              <a:gd name="connsiteX0" fmla="*/ 0 w 6095998"/>
              <a:gd name="connsiteY0" fmla="*/ 0 h 2936949"/>
              <a:gd name="connsiteX1" fmla="*/ 6095998 w 6095998"/>
              <a:gd name="connsiteY1" fmla="*/ 0 h 2936949"/>
              <a:gd name="connsiteX2" fmla="*/ 6095998 w 6095998"/>
              <a:gd name="connsiteY2" fmla="*/ 2936949 h 2936949"/>
              <a:gd name="connsiteX3" fmla="*/ 0 w 6095998"/>
              <a:gd name="connsiteY3" fmla="*/ 2936949 h 2936949"/>
            </a:gdLst>
            <a:ahLst/>
            <a:cxnLst>
              <a:cxn ang="0">
                <a:pos x="connsiteX0" y="connsiteY0"/>
              </a:cxn>
              <a:cxn ang="0">
                <a:pos x="connsiteX1" y="connsiteY1"/>
              </a:cxn>
              <a:cxn ang="0">
                <a:pos x="connsiteX2" y="connsiteY2"/>
              </a:cxn>
              <a:cxn ang="0">
                <a:pos x="connsiteX3" y="connsiteY3"/>
              </a:cxn>
            </a:cxnLst>
            <a:rect l="l" t="t" r="r" b="b"/>
            <a:pathLst>
              <a:path w="6095998" h="2936949">
                <a:moveTo>
                  <a:pt x="0" y="0"/>
                </a:moveTo>
                <a:lnTo>
                  <a:pt x="6095998" y="0"/>
                </a:lnTo>
                <a:lnTo>
                  <a:pt x="6095998" y="2936949"/>
                </a:lnTo>
                <a:lnTo>
                  <a:pt x="0" y="2936949"/>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6" name="TextBox 5"/>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8" name="TextBox 7"/>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1444909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539102" y="2872080"/>
            <a:ext cx="4554414" cy="3024046"/>
          </a:xfrm>
          <a:custGeom>
            <a:avLst/>
            <a:gdLst>
              <a:gd name="connsiteX0" fmla="*/ 0 w 4554414"/>
              <a:gd name="connsiteY0" fmla="*/ 0 h 3024046"/>
              <a:gd name="connsiteX1" fmla="*/ 4554414 w 4554414"/>
              <a:gd name="connsiteY1" fmla="*/ 0 h 3024046"/>
              <a:gd name="connsiteX2" fmla="*/ 4554414 w 4554414"/>
              <a:gd name="connsiteY2" fmla="*/ 3024046 h 3024046"/>
              <a:gd name="connsiteX3" fmla="*/ 0 w 4554414"/>
              <a:gd name="connsiteY3" fmla="*/ 3024046 h 3024046"/>
            </a:gdLst>
            <a:ahLst/>
            <a:cxnLst>
              <a:cxn ang="0">
                <a:pos x="connsiteX0" y="connsiteY0"/>
              </a:cxn>
              <a:cxn ang="0">
                <a:pos x="connsiteX1" y="connsiteY1"/>
              </a:cxn>
              <a:cxn ang="0">
                <a:pos x="connsiteX2" y="connsiteY2"/>
              </a:cxn>
              <a:cxn ang="0">
                <a:pos x="connsiteX3" y="connsiteY3"/>
              </a:cxn>
            </a:cxnLst>
            <a:rect l="l" t="t" r="r" b="b"/>
            <a:pathLst>
              <a:path w="4554414" h="3024046">
                <a:moveTo>
                  <a:pt x="0" y="0"/>
                </a:moveTo>
                <a:lnTo>
                  <a:pt x="4554414" y="0"/>
                </a:lnTo>
                <a:lnTo>
                  <a:pt x="4554414" y="3024046"/>
                </a:lnTo>
                <a:lnTo>
                  <a:pt x="0" y="302404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2"/>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8213247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760959" y="1720634"/>
            <a:ext cx="3348319" cy="4464425"/>
          </a:xfrm>
          <a:custGeom>
            <a:avLst/>
            <a:gdLst>
              <a:gd name="connsiteX0" fmla="*/ 0 w 3348319"/>
              <a:gd name="connsiteY0" fmla="*/ 0 h 4464425"/>
              <a:gd name="connsiteX1" fmla="*/ 3348319 w 3348319"/>
              <a:gd name="connsiteY1" fmla="*/ 0 h 4464425"/>
              <a:gd name="connsiteX2" fmla="*/ 3348319 w 3348319"/>
              <a:gd name="connsiteY2" fmla="*/ 4464425 h 4464425"/>
              <a:gd name="connsiteX3" fmla="*/ 0 w 3348319"/>
              <a:gd name="connsiteY3" fmla="*/ 4464425 h 4464425"/>
            </a:gdLst>
            <a:ahLst/>
            <a:cxnLst>
              <a:cxn ang="0">
                <a:pos x="connsiteX0" y="connsiteY0"/>
              </a:cxn>
              <a:cxn ang="0">
                <a:pos x="connsiteX1" y="connsiteY1"/>
              </a:cxn>
              <a:cxn ang="0">
                <a:pos x="connsiteX2" y="connsiteY2"/>
              </a:cxn>
              <a:cxn ang="0">
                <a:pos x="connsiteX3" y="connsiteY3"/>
              </a:cxn>
            </a:cxnLst>
            <a:rect l="l" t="t" r="r" b="b"/>
            <a:pathLst>
              <a:path w="3348319" h="4464425">
                <a:moveTo>
                  <a:pt x="0" y="0"/>
                </a:moveTo>
                <a:lnTo>
                  <a:pt x="3348319" y="0"/>
                </a:lnTo>
                <a:lnTo>
                  <a:pt x="3348319" y="4464425"/>
                </a:lnTo>
                <a:lnTo>
                  <a:pt x="0" y="446442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05963884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3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4403746" y="1579448"/>
            <a:ext cx="3125459" cy="5278553"/>
          </a:xfrm>
          <a:custGeom>
            <a:avLst/>
            <a:gdLst>
              <a:gd name="connsiteX0" fmla="*/ 0 w 3125459"/>
              <a:gd name="connsiteY0" fmla="*/ 0 h 5278553"/>
              <a:gd name="connsiteX1" fmla="*/ 3125459 w 3125459"/>
              <a:gd name="connsiteY1" fmla="*/ 0 h 5278553"/>
              <a:gd name="connsiteX2" fmla="*/ 3125459 w 3125459"/>
              <a:gd name="connsiteY2" fmla="*/ 5278553 h 5278553"/>
              <a:gd name="connsiteX3" fmla="*/ 0 w 3125459"/>
              <a:gd name="connsiteY3" fmla="*/ 5278553 h 5278553"/>
            </a:gdLst>
            <a:ahLst/>
            <a:cxnLst>
              <a:cxn ang="0">
                <a:pos x="connsiteX0" y="connsiteY0"/>
              </a:cxn>
              <a:cxn ang="0">
                <a:pos x="connsiteX1" y="connsiteY1"/>
              </a:cxn>
              <a:cxn ang="0">
                <a:pos x="connsiteX2" y="connsiteY2"/>
              </a:cxn>
              <a:cxn ang="0">
                <a:pos x="connsiteX3" y="connsiteY3"/>
              </a:cxn>
            </a:cxnLst>
            <a:rect l="l" t="t" r="r" b="b"/>
            <a:pathLst>
              <a:path w="3125459" h="5278553">
                <a:moveTo>
                  <a:pt x="0" y="0"/>
                </a:moveTo>
                <a:lnTo>
                  <a:pt x="3125459" y="0"/>
                </a:lnTo>
                <a:lnTo>
                  <a:pt x="3125459" y="5278553"/>
                </a:lnTo>
                <a:lnTo>
                  <a:pt x="0" y="5278553"/>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16544247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4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087465" y="1541074"/>
            <a:ext cx="3474127" cy="5316926"/>
          </a:xfrm>
          <a:custGeom>
            <a:avLst/>
            <a:gdLst>
              <a:gd name="connsiteX0" fmla="*/ 0 w 3474127"/>
              <a:gd name="connsiteY0" fmla="*/ 0 h 5316926"/>
              <a:gd name="connsiteX1" fmla="*/ 3474127 w 3474127"/>
              <a:gd name="connsiteY1" fmla="*/ 0 h 5316926"/>
              <a:gd name="connsiteX2" fmla="*/ 3474127 w 3474127"/>
              <a:gd name="connsiteY2" fmla="*/ 5316926 h 5316926"/>
              <a:gd name="connsiteX3" fmla="*/ 0 w 3474127"/>
              <a:gd name="connsiteY3" fmla="*/ 5316926 h 5316926"/>
            </a:gdLst>
            <a:ahLst/>
            <a:cxnLst>
              <a:cxn ang="0">
                <a:pos x="connsiteX0" y="connsiteY0"/>
              </a:cxn>
              <a:cxn ang="0">
                <a:pos x="connsiteX1" y="connsiteY1"/>
              </a:cxn>
              <a:cxn ang="0">
                <a:pos x="connsiteX2" y="connsiteY2"/>
              </a:cxn>
              <a:cxn ang="0">
                <a:pos x="connsiteX3" y="connsiteY3"/>
              </a:cxn>
            </a:cxnLst>
            <a:rect l="l" t="t" r="r" b="b"/>
            <a:pathLst>
              <a:path w="3474127" h="5316926">
                <a:moveTo>
                  <a:pt x="0" y="0"/>
                </a:moveTo>
                <a:lnTo>
                  <a:pt x="3474127" y="0"/>
                </a:lnTo>
                <a:lnTo>
                  <a:pt x="3474127" y="5316926"/>
                </a:lnTo>
                <a:lnTo>
                  <a:pt x="0" y="531692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9446242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5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45592" y="1324006"/>
            <a:ext cx="3898392" cy="5533995"/>
          </a:xfrm>
          <a:custGeom>
            <a:avLst/>
            <a:gdLst>
              <a:gd name="connsiteX0" fmla="*/ 0 w 3898392"/>
              <a:gd name="connsiteY0" fmla="*/ 0 h 5533995"/>
              <a:gd name="connsiteX1" fmla="*/ 3898392 w 3898392"/>
              <a:gd name="connsiteY1" fmla="*/ 0 h 5533995"/>
              <a:gd name="connsiteX2" fmla="*/ 3898392 w 3898392"/>
              <a:gd name="connsiteY2" fmla="*/ 5533995 h 5533995"/>
              <a:gd name="connsiteX3" fmla="*/ 0 w 3898392"/>
              <a:gd name="connsiteY3" fmla="*/ 5533995 h 5533995"/>
            </a:gdLst>
            <a:ahLst/>
            <a:cxnLst>
              <a:cxn ang="0">
                <a:pos x="connsiteX0" y="connsiteY0"/>
              </a:cxn>
              <a:cxn ang="0">
                <a:pos x="connsiteX1" y="connsiteY1"/>
              </a:cxn>
              <a:cxn ang="0">
                <a:pos x="connsiteX2" y="connsiteY2"/>
              </a:cxn>
              <a:cxn ang="0">
                <a:pos x="connsiteX3" y="connsiteY3"/>
              </a:cxn>
            </a:cxnLst>
            <a:rect l="l" t="t" r="r" b="b"/>
            <a:pathLst>
              <a:path w="3898392" h="5533995">
                <a:moveTo>
                  <a:pt x="0" y="0"/>
                </a:moveTo>
                <a:lnTo>
                  <a:pt x="3898392" y="0"/>
                </a:lnTo>
                <a:lnTo>
                  <a:pt x="3898392" y="5533995"/>
                </a:lnTo>
                <a:lnTo>
                  <a:pt x="0" y="55339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9009017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6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6110097" y="1033456"/>
            <a:ext cx="5896233" cy="5824545"/>
          </a:xfrm>
          <a:custGeom>
            <a:avLst/>
            <a:gdLst>
              <a:gd name="connsiteX0" fmla="*/ 0 w 5896233"/>
              <a:gd name="connsiteY0" fmla="*/ 0 h 5824545"/>
              <a:gd name="connsiteX1" fmla="*/ 5896233 w 5896233"/>
              <a:gd name="connsiteY1" fmla="*/ 0 h 5824545"/>
              <a:gd name="connsiteX2" fmla="*/ 5896233 w 5896233"/>
              <a:gd name="connsiteY2" fmla="*/ 5824545 h 5824545"/>
              <a:gd name="connsiteX3" fmla="*/ 0 w 5896233"/>
              <a:gd name="connsiteY3" fmla="*/ 5824545 h 5824545"/>
            </a:gdLst>
            <a:ahLst/>
            <a:cxnLst>
              <a:cxn ang="0">
                <a:pos x="connsiteX0" y="connsiteY0"/>
              </a:cxn>
              <a:cxn ang="0">
                <a:pos x="connsiteX1" y="connsiteY1"/>
              </a:cxn>
              <a:cxn ang="0">
                <a:pos x="connsiteX2" y="connsiteY2"/>
              </a:cxn>
              <a:cxn ang="0">
                <a:pos x="connsiteX3" y="connsiteY3"/>
              </a:cxn>
            </a:cxnLst>
            <a:rect l="l" t="t" r="r" b="b"/>
            <a:pathLst>
              <a:path w="5896233" h="5824545">
                <a:moveTo>
                  <a:pt x="0" y="0"/>
                </a:moveTo>
                <a:lnTo>
                  <a:pt x="5896233" y="0"/>
                </a:lnTo>
                <a:lnTo>
                  <a:pt x="5896233" y="5824545"/>
                </a:lnTo>
                <a:lnTo>
                  <a:pt x="0" y="582454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2012072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7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247796" y="2531158"/>
            <a:ext cx="1719072" cy="3038022"/>
          </a:xfrm>
          <a:custGeom>
            <a:avLst/>
            <a:gdLst>
              <a:gd name="connsiteX0" fmla="*/ 0 w 1719072"/>
              <a:gd name="connsiteY0" fmla="*/ 0 h 3038022"/>
              <a:gd name="connsiteX1" fmla="*/ 1719072 w 1719072"/>
              <a:gd name="connsiteY1" fmla="*/ 0 h 3038022"/>
              <a:gd name="connsiteX2" fmla="*/ 1719072 w 1719072"/>
              <a:gd name="connsiteY2" fmla="*/ 3038022 h 3038022"/>
              <a:gd name="connsiteX3" fmla="*/ 0 w 1719072"/>
              <a:gd name="connsiteY3" fmla="*/ 3038022 h 3038022"/>
            </a:gdLst>
            <a:ahLst/>
            <a:cxnLst>
              <a:cxn ang="0">
                <a:pos x="connsiteX0" y="connsiteY0"/>
              </a:cxn>
              <a:cxn ang="0">
                <a:pos x="connsiteX1" y="connsiteY1"/>
              </a:cxn>
              <a:cxn ang="0">
                <a:pos x="connsiteX2" y="connsiteY2"/>
              </a:cxn>
              <a:cxn ang="0">
                <a:pos x="connsiteX3" y="connsiteY3"/>
              </a:cxn>
            </a:cxnLst>
            <a:rect l="l" t="t" r="r" b="b"/>
            <a:pathLst>
              <a:path w="1719072" h="3038022">
                <a:moveTo>
                  <a:pt x="0" y="0"/>
                </a:moveTo>
                <a:lnTo>
                  <a:pt x="1719072" y="0"/>
                </a:lnTo>
                <a:lnTo>
                  <a:pt x="1719072" y="3038022"/>
                </a:lnTo>
                <a:lnTo>
                  <a:pt x="0" y="303802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7075037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701627" y="1718605"/>
            <a:ext cx="2298805" cy="4071814"/>
          </a:xfrm>
          <a:custGeom>
            <a:avLst/>
            <a:gdLst>
              <a:gd name="connsiteX0" fmla="*/ 0 w 2298805"/>
              <a:gd name="connsiteY0" fmla="*/ 0 h 4071814"/>
              <a:gd name="connsiteX1" fmla="*/ 3661 w 2298805"/>
              <a:gd name="connsiteY1" fmla="*/ 0 h 4071814"/>
              <a:gd name="connsiteX2" fmla="*/ 2298805 w 2298805"/>
              <a:gd name="connsiteY2" fmla="*/ 0 h 4071814"/>
              <a:gd name="connsiteX3" fmla="*/ 2298805 w 2298805"/>
              <a:gd name="connsiteY3" fmla="*/ 4056082 h 4071814"/>
              <a:gd name="connsiteX4" fmla="*/ 2298805 w 2298805"/>
              <a:gd name="connsiteY4" fmla="*/ 4071814 h 4071814"/>
              <a:gd name="connsiteX5" fmla="*/ 0 w 2298805"/>
              <a:gd name="connsiteY5" fmla="*/ 4071814 h 4071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98805" h="4071814">
                <a:moveTo>
                  <a:pt x="0" y="0"/>
                </a:moveTo>
                <a:lnTo>
                  <a:pt x="3661" y="0"/>
                </a:lnTo>
                <a:lnTo>
                  <a:pt x="2298805" y="0"/>
                </a:lnTo>
                <a:lnTo>
                  <a:pt x="2298805" y="4056082"/>
                </a:lnTo>
                <a:lnTo>
                  <a:pt x="2298805" y="4071814"/>
                </a:lnTo>
                <a:lnTo>
                  <a:pt x="0" y="407181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2319563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0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317991" y="2079948"/>
            <a:ext cx="2547117" cy="3367566"/>
          </a:xfrm>
          <a:custGeom>
            <a:avLst/>
            <a:gdLst>
              <a:gd name="connsiteX0" fmla="*/ 0 w 2547117"/>
              <a:gd name="connsiteY0" fmla="*/ 0 h 3367566"/>
              <a:gd name="connsiteX1" fmla="*/ 2547117 w 2547117"/>
              <a:gd name="connsiteY1" fmla="*/ 0 h 3367566"/>
              <a:gd name="connsiteX2" fmla="*/ 2547117 w 2547117"/>
              <a:gd name="connsiteY2" fmla="*/ 3367566 h 3367566"/>
              <a:gd name="connsiteX3" fmla="*/ 0 w 2547117"/>
              <a:gd name="connsiteY3" fmla="*/ 3367566 h 3367566"/>
            </a:gdLst>
            <a:ahLst/>
            <a:cxnLst>
              <a:cxn ang="0">
                <a:pos x="connsiteX0" y="connsiteY0"/>
              </a:cxn>
              <a:cxn ang="0">
                <a:pos x="connsiteX1" y="connsiteY1"/>
              </a:cxn>
              <a:cxn ang="0">
                <a:pos x="connsiteX2" y="connsiteY2"/>
              </a:cxn>
              <a:cxn ang="0">
                <a:pos x="connsiteX3" y="connsiteY3"/>
              </a:cxn>
            </a:cxnLst>
            <a:rect l="l" t="t" r="r" b="b"/>
            <a:pathLst>
              <a:path w="2547117" h="3367566">
                <a:moveTo>
                  <a:pt x="0" y="0"/>
                </a:moveTo>
                <a:lnTo>
                  <a:pt x="2547117" y="0"/>
                </a:lnTo>
                <a:lnTo>
                  <a:pt x="2547117" y="3367566"/>
                </a:lnTo>
                <a:lnTo>
                  <a:pt x="0" y="336756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8149073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1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391262" y="2549419"/>
            <a:ext cx="4215161" cy="2639122"/>
          </a:xfrm>
          <a:custGeom>
            <a:avLst/>
            <a:gdLst>
              <a:gd name="connsiteX0" fmla="*/ 0 w 4215161"/>
              <a:gd name="connsiteY0" fmla="*/ 0 h 2639122"/>
              <a:gd name="connsiteX1" fmla="*/ 4215161 w 4215161"/>
              <a:gd name="connsiteY1" fmla="*/ 0 h 2639122"/>
              <a:gd name="connsiteX2" fmla="*/ 4215161 w 4215161"/>
              <a:gd name="connsiteY2" fmla="*/ 2639122 h 2639122"/>
              <a:gd name="connsiteX3" fmla="*/ 0 w 4215161"/>
              <a:gd name="connsiteY3" fmla="*/ 2639122 h 2639122"/>
            </a:gdLst>
            <a:ahLst/>
            <a:cxnLst>
              <a:cxn ang="0">
                <a:pos x="connsiteX0" y="connsiteY0"/>
              </a:cxn>
              <a:cxn ang="0">
                <a:pos x="connsiteX1" y="connsiteY1"/>
              </a:cxn>
              <a:cxn ang="0">
                <a:pos x="connsiteX2" y="connsiteY2"/>
              </a:cxn>
              <a:cxn ang="0">
                <a:pos x="connsiteX3" y="connsiteY3"/>
              </a:cxn>
            </a:cxnLst>
            <a:rect l="l" t="t" r="r" b="b"/>
            <a:pathLst>
              <a:path w="4215161" h="2639122">
                <a:moveTo>
                  <a:pt x="0" y="0"/>
                </a:moveTo>
                <a:lnTo>
                  <a:pt x="4215161" y="0"/>
                </a:lnTo>
                <a:lnTo>
                  <a:pt x="4215161" y="2639122"/>
                </a:lnTo>
                <a:lnTo>
                  <a:pt x="0" y="263912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9464461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sp>
        <p:nvSpPr>
          <p:cNvPr id="7" name="Picture Placeholder 6"/>
          <p:cNvSpPr>
            <a:spLocks noGrp="1"/>
          </p:cNvSpPr>
          <p:nvPr>
            <p:ph type="pic" sz="quarter" idx="10" hasCustomPrompt="1"/>
          </p:nvPr>
        </p:nvSpPr>
        <p:spPr>
          <a:xfrm>
            <a:off x="4037019" y="2342675"/>
            <a:ext cx="1779180" cy="3155542"/>
          </a:xfrm>
          <a:custGeom>
            <a:avLst/>
            <a:gdLst>
              <a:gd name="connsiteX0" fmla="*/ 0 w 1779180"/>
              <a:gd name="connsiteY0" fmla="*/ 0 h 3155542"/>
              <a:gd name="connsiteX1" fmla="*/ 1779180 w 1779180"/>
              <a:gd name="connsiteY1" fmla="*/ 0 h 3155542"/>
              <a:gd name="connsiteX2" fmla="*/ 1779180 w 1779180"/>
              <a:gd name="connsiteY2" fmla="*/ 3155542 h 3155542"/>
              <a:gd name="connsiteX3" fmla="*/ 0 w 1779180"/>
              <a:gd name="connsiteY3" fmla="*/ 3155542 h 3155542"/>
            </a:gdLst>
            <a:ahLst/>
            <a:cxnLst>
              <a:cxn ang="0">
                <a:pos x="connsiteX0" y="connsiteY0"/>
              </a:cxn>
              <a:cxn ang="0">
                <a:pos x="connsiteX1" y="connsiteY1"/>
              </a:cxn>
              <a:cxn ang="0">
                <a:pos x="connsiteX2" y="connsiteY2"/>
              </a:cxn>
              <a:cxn ang="0">
                <a:pos x="connsiteX3" y="connsiteY3"/>
              </a:cxn>
            </a:cxnLst>
            <a:rect l="l" t="t" r="r" b="b"/>
            <a:pathLst>
              <a:path w="1779180" h="3155542">
                <a:moveTo>
                  <a:pt x="0" y="0"/>
                </a:moveTo>
                <a:lnTo>
                  <a:pt x="1779180" y="0"/>
                </a:lnTo>
                <a:lnTo>
                  <a:pt x="1779180" y="3155542"/>
                </a:lnTo>
                <a:lnTo>
                  <a:pt x="0" y="315554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6375131" y="2337765"/>
            <a:ext cx="1780123" cy="3160452"/>
          </a:xfrm>
          <a:custGeom>
            <a:avLst/>
            <a:gdLst>
              <a:gd name="connsiteX0" fmla="*/ 0 w 1780123"/>
              <a:gd name="connsiteY0" fmla="*/ 0 h 3160452"/>
              <a:gd name="connsiteX1" fmla="*/ 1780123 w 1780123"/>
              <a:gd name="connsiteY1" fmla="*/ 0 h 3160452"/>
              <a:gd name="connsiteX2" fmla="*/ 1780123 w 1780123"/>
              <a:gd name="connsiteY2" fmla="*/ 3160452 h 3160452"/>
              <a:gd name="connsiteX3" fmla="*/ 0 w 1780123"/>
              <a:gd name="connsiteY3" fmla="*/ 3160452 h 3160452"/>
            </a:gdLst>
            <a:ahLst/>
            <a:cxnLst>
              <a:cxn ang="0">
                <a:pos x="connsiteX0" y="connsiteY0"/>
              </a:cxn>
              <a:cxn ang="0">
                <a:pos x="connsiteX1" y="connsiteY1"/>
              </a:cxn>
              <a:cxn ang="0">
                <a:pos x="connsiteX2" y="connsiteY2"/>
              </a:cxn>
              <a:cxn ang="0">
                <a:pos x="connsiteX3" y="connsiteY3"/>
              </a:cxn>
            </a:cxnLst>
            <a:rect l="l" t="t" r="r" b="b"/>
            <a:pathLst>
              <a:path w="1780123" h="3160452">
                <a:moveTo>
                  <a:pt x="0" y="0"/>
                </a:moveTo>
                <a:lnTo>
                  <a:pt x="1780123" y="0"/>
                </a:lnTo>
                <a:lnTo>
                  <a:pt x="1780123" y="3160452"/>
                </a:lnTo>
                <a:lnTo>
                  <a:pt x="0" y="316045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6" name="Oval 5"/>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0534813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3_Custom Layout">
    <p:spTree>
      <p:nvGrpSpPr>
        <p:cNvPr id="1" name=""/>
        <p:cNvGrpSpPr/>
        <p:nvPr/>
      </p:nvGrpSpPr>
      <p:grpSpPr>
        <a:xfrm>
          <a:off x="0" y="0"/>
          <a:ext cx="0" cy="0"/>
          <a:chOff x="0" y="0"/>
          <a:chExt cx="0" cy="0"/>
        </a:xfrm>
      </p:grpSpPr>
      <p:sp>
        <p:nvSpPr>
          <p:cNvPr id="7" name="Picture Placeholder 6"/>
          <p:cNvSpPr>
            <a:spLocks noGrp="1"/>
          </p:cNvSpPr>
          <p:nvPr>
            <p:ph type="pic" sz="quarter" idx="10" hasCustomPrompt="1"/>
          </p:nvPr>
        </p:nvSpPr>
        <p:spPr>
          <a:xfrm>
            <a:off x="3218935" y="2141119"/>
            <a:ext cx="2629014" cy="3494665"/>
          </a:xfrm>
          <a:custGeom>
            <a:avLst/>
            <a:gdLst>
              <a:gd name="connsiteX0" fmla="*/ 0 w 2629014"/>
              <a:gd name="connsiteY0" fmla="*/ 0 h 3494665"/>
              <a:gd name="connsiteX1" fmla="*/ 2629014 w 2629014"/>
              <a:gd name="connsiteY1" fmla="*/ 0 h 3494665"/>
              <a:gd name="connsiteX2" fmla="*/ 2629014 w 2629014"/>
              <a:gd name="connsiteY2" fmla="*/ 3494665 h 3494665"/>
              <a:gd name="connsiteX3" fmla="*/ 0 w 2629014"/>
              <a:gd name="connsiteY3" fmla="*/ 3494665 h 3494665"/>
            </a:gdLst>
            <a:ahLst/>
            <a:cxnLst>
              <a:cxn ang="0">
                <a:pos x="connsiteX0" y="connsiteY0"/>
              </a:cxn>
              <a:cxn ang="0">
                <a:pos x="connsiteX1" y="connsiteY1"/>
              </a:cxn>
              <a:cxn ang="0">
                <a:pos x="connsiteX2" y="connsiteY2"/>
              </a:cxn>
              <a:cxn ang="0">
                <a:pos x="connsiteX3" y="connsiteY3"/>
              </a:cxn>
            </a:cxnLst>
            <a:rect l="l" t="t" r="r" b="b"/>
            <a:pathLst>
              <a:path w="2629014" h="3494665">
                <a:moveTo>
                  <a:pt x="0" y="0"/>
                </a:moveTo>
                <a:lnTo>
                  <a:pt x="2629014" y="0"/>
                </a:lnTo>
                <a:lnTo>
                  <a:pt x="2629014" y="3494665"/>
                </a:lnTo>
                <a:lnTo>
                  <a:pt x="0" y="349466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6450120" y="2214400"/>
            <a:ext cx="2482450" cy="3306880"/>
          </a:xfrm>
          <a:custGeom>
            <a:avLst/>
            <a:gdLst>
              <a:gd name="connsiteX0" fmla="*/ 0 w 2482450"/>
              <a:gd name="connsiteY0" fmla="*/ 0 h 3306880"/>
              <a:gd name="connsiteX1" fmla="*/ 2482450 w 2482450"/>
              <a:gd name="connsiteY1" fmla="*/ 0 h 3306880"/>
              <a:gd name="connsiteX2" fmla="*/ 2482450 w 2482450"/>
              <a:gd name="connsiteY2" fmla="*/ 3306880 h 3306880"/>
              <a:gd name="connsiteX3" fmla="*/ 0 w 2482450"/>
              <a:gd name="connsiteY3" fmla="*/ 3306880 h 3306880"/>
            </a:gdLst>
            <a:ahLst/>
            <a:cxnLst>
              <a:cxn ang="0">
                <a:pos x="connsiteX0" y="connsiteY0"/>
              </a:cxn>
              <a:cxn ang="0">
                <a:pos x="connsiteX1" y="connsiteY1"/>
              </a:cxn>
              <a:cxn ang="0">
                <a:pos x="connsiteX2" y="connsiteY2"/>
              </a:cxn>
              <a:cxn ang="0">
                <a:pos x="connsiteX3" y="connsiteY3"/>
              </a:cxn>
            </a:cxnLst>
            <a:rect l="l" t="t" r="r" b="b"/>
            <a:pathLst>
              <a:path w="2482450" h="3306880">
                <a:moveTo>
                  <a:pt x="0" y="0"/>
                </a:moveTo>
                <a:lnTo>
                  <a:pt x="2482450" y="0"/>
                </a:lnTo>
                <a:lnTo>
                  <a:pt x="2482450" y="3306880"/>
                </a:lnTo>
                <a:lnTo>
                  <a:pt x="0" y="330688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6" name="Oval 5"/>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9157793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4_Custom Layout">
    <p:spTree>
      <p:nvGrpSpPr>
        <p:cNvPr id="1" name=""/>
        <p:cNvGrpSpPr/>
        <p:nvPr/>
      </p:nvGrpSpPr>
      <p:grpSpPr>
        <a:xfrm>
          <a:off x="0" y="0"/>
          <a:ext cx="0" cy="0"/>
          <a:chOff x="0" y="0"/>
          <a:chExt cx="0" cy="0"/>
        </a:xfrm>
      </p:grpSpPr>
      <p:sp>
        <p:nvSpPr>
          <p:cNvPr id="15" name="Picture Placeholder 14"/>
          <p:cNvSpPr>
            <a:spLocks noGrp="1"/>
          </p:cNvSpPr>
          <p:nvPr>
            <p:ph type="pic" sz="quarter" idx="12" hasCustomPrompt="1"/>
          </p:nvPr>
        </p:nvSpPr>
        <p:spPr>
          <a:xfrm>
            <a:off x="5204691" y="2355274"/>
            <a:ext cx="1792224" cy="3174521"/>
          </a:xfrm>
          <a:custGeom>
            <a:avLst/>
            <a:gdLst>
              <a:gd name="connsiteX0" fmla="*/ 0 w 1792224"/>
              <a:gd name="connsiteY0" fmla="*/ 0 h 3174521"/>
              <a:gd name="connsiteX1" fmla="*/ 2854 w 1792224"/>
              <a:gd name="connsiteY1" fmla="*/ 0 h 3174521"/>
              <a:gd name="connsiteX2" fmla="*/ 1792224 w 1792224"/>
              <a:gd name="connsiteY2" fmla="*/ 0 h 3174521"/>
              <a:gd name="connsiteX3" fmla="*/ 1792224 w 1792224"/>
              <a:gd name="connsiteY3" fmla="*/ 3162256 h 3174521"/>
              <a:gd name="connsiteX4" fmla="*/ 1792224 w 1792224"/>
              <a:gd name="connsiteY4" fmla="*/ 3174521 h 3174521"/>
              <a:gd name="connsiteX5" fmla="*/ 0 w 1792224"/>
              <a:gd name="connsiteY5" fmla="*/ 3174521 h 3174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92224" h="3174521">
                <a:moveTo>
                  <a:pt x="0" y="0"/>
                </a:moveTo>
                <a:lnTo>
                  <a:pt x="2854" y="0"/>
                </a:lnTo>
                <a:lnTo>
                  <a:pt x="1792224" y="0"/>
                </a:lnTo>
                <a:lnTo>
                  <a:pt x="1792224" y="3162256"/>
                </a:lnTo>
                <a:lnTo>
                  <a:pt x="1792224" y="3174521"/>
                </a:lnTo>
                <a:lnTo>
                  <a:pt x="0" y="3174521"/>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1" name="Picture Placeholder 10"/>
          <p:cNvSpPr>
            <a:spLocks noGrp="1"/>
          </p:cNvSpPr>
          <p:nvPr>
            <p:ph type="pic" sz="quarter" idx="10" hasCustomPrompt="1"/>
          </p:nvPr>
        </p:nvSpPr>
        <p:spPr>
          <a:xfrm>
            <a:off x="3972645" y="2654833"/>
            <a:ext cx="1444600" cy="2558784"/>
          </a:xfrm>
          <a:custGeom>
            <a:avLst/>
            <a:gdLst>
              <a:gd name="connsiteX0" fmla="*/ 0 w 1444600"/>
              <a:gd name="connsiteY0" fmla="*/ 0 h 2558784"/>
              <a:gd name="connsiteX1" fmla="*/ 1444600 w 1444600"/>
              <a:gd name="connsiteY1" fmla="*/ 0 h 2558784"/>
              <a:gd name="connsiteX2" fmla="*/ 1444600 w 1444600"/>
              <a:gd name="connsiteY2" fmla="*/ 2558784 h 2558784"/>
              <a:gd name="connsiteX3" fmla="*/ 0 w 1444600"/>
              <a:gd name="connsiteY3" fmla="*/ 2558784 h 2558784"/>
            </a:gdLst>
            <a:ahLst/>
            <a:cxnLst>
              <a:cxn ang="0">
                <a:pos x="connsiteX0" y="connsiteY0"/>
              </a:cxn>
              <a:cxn ang="0">
                <a:pos x="connsiteX1" y="connsiteY1"/>
              </a:cxn>
              <a:cxn ang="0">
                <a:pos x="connsiteX2" y="connsiteY2"/>
              </a:cxn>
              <a:cxn ang="0">
                <a:pos x="connsiteX3" y="connsiteY3"/>
              </a:cxn>
            </a:cxnLst>
            <a:rect l="l" t="t" r="r" b="b"/>
            <a:pathLst>
              <a:path w="1444600" h="2558784">
                <a:moveTo>
                  <a:pt x="0" y="0"/>
                </a:moveTo>
                <a:lnTo>
                  <a:pt x="1444600" y="0"/>
                </a:lnTo>
                <a:lnTo>
                  <a:pt x="1444600" y="2558784"/>
                </a:lnTo>
                <a:lnTo>
                  <a:pt x="0" y="25587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774515" y="2654836"/>
            <a:ext cx="1444600" cy="2558782"/>
          </a:xfrm>
          <a:custGeom>
            <a:avLst/>
            <a:gdLst>
              <a:gd name="connsiteX0" fmla="*/ 0 w 1444600"/>
              <a:gd name="connsiteY0" fmla="*/ 0 h 2558782"/>
              <a:gd name="connsiteX1" fmla="*/ 1444600 w 1444600"/>
              <a:gd name="connsiteY1" fmla="*/ 0 h 2558782"/>
              <a:gd name="connsiteX2" fmla="*/ 1444600 w 1444600"/>
              <a:gd name="connsiteY2" fmla="*/ 2558782 h 2558782"/>
              <a:gd name="connsiteX3" fmla="*/ 0 w 1444600"/>
              <a:gd name="connsiteY3" fmla="*/ 2558782 h 2558782"/>
            </a:gdLst>
            <a:ahLst/>
            <a:cxnLst>
              <a:cxn ang="0">
                <a:pos x="connsiteX0" y="connsiteY0"/>
              </a:cxn>
              <a:cxn ang="0">
                <a:pos x="connsiteX1" y="connsiteY1"/>
              </a:cxn>
              <a:cxn ang="0">
                <a:pos x="connsiteX2" y="connsiteY2"/>
              </a:cxn>
              <a:cxn ang="0">
                <a:pos x="connsiteX3" y="connsiteY3"/>
              </a:cxn>
            </a:cxnLst>
            <a:rect l="l" t="t" r="r" b="b"/>
            <a:pathLst>
              <a:path w="1444600" h="2558782">
                <a:moveTo>
                  <a:pt x="0" y="0"/>
                </a:moveTo>
                <a:lnTo>
                  <a:pt x="1444600" y="0"/>
                </a:lnTo>
                <a:lnTo>
                  <a:pt x="1444600" y="2558782"/>
                </a:lnTo>
                <a:lnTo>
                  <a:pt x="0" y="25587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8883260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5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1448620" y="2536538"/>
            <a:ext cx="4334256" cy="2713688"/>
          </a:xfrm>
          <a:custGeom>
            <a:avLst/>
            <a:gdLst>
              <a:gd name="connsiteX0" fmla="*/ 0 w 4334256"/>
              <a:gd name="connsiteY0" fmla="*/ 0 h 2713688"/>
              <a:gd name="connsiteX1" fmla="*/ 4334256 w 4334256"/>
              <a:gd name="connsiteY1" fmla="*/ 0 h 2713688"/>
              <a:gd name="connsiteX2" fmla="*/ 4334256 w 4334256"/>
              <a:gd name="connsiteY2" fmla="*/ 2713688 h 2713688"/>
              <a:gd name="connsiteX3" fmla="*/ 0 w 4334256"/>
              <a:gd name="connsiteY3" fmla="*/ 2713688 h 2713688"/>
            </a:gdLst>
            <a:ahLst/>
            <a:cxnLst>
              <a:cxn ang="0">
                <a:pos x="connsiteX0" y="connsiteY0"/>
              </a:cxn>
              <a:cxn ang="0">
                <a:pos x="connsiteX1" y="connsiteY1"/>
              </a:cxn>
              <a:cxn ang="0">
                <a:pos x="connsiteX2" y="connsiteY2"/>
              </a:cxn>
              <a:cxn ang="0">
                <a:pos x="connsiteX3" y="connsiteY3"/>
              </a:cxn>
            </a:cxnLst>
            <a:rect l="l" t="t" r="r" b="b"/>
            <a:pathLst>
              <a:path w="4334256" h="2713688">
                <a:moveTo>
                  <a:pt x="0" y="0"/>
                </a:moveTo>
                <a:lnTo>
                  <a:pt x="4334256" y="0"/>
                </a:lnTo>
                <a:lnTo>
                  <a:pt x="4334256" y="2713688"/>
                </a:lnTo>
                <a:lnTo>
                  <a:pt x="0" y="271368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5400539" y="3295054"/>
            <a:ext cx="1569642" cy="2092857"/>
          </a:xfrm>
          <a:custGeom>
            <a:avLst/>
            <a:gdLst>
              <a:gd name="connsiteX0" fmla="*/ 0 w 1569642"/>
              <a:gd name="connsiteY0" fmla="*/ 0 h 2092857"/>
              <a:gd name="connsiteX1" fmla="*/ 1569642 w 1569642"/>
              <a:gd name="connsiteY1" fmla="*/ 0 h 2092857"/>
              <a:gd name="connsiteX2" fmla="*/ 1569642 w 1569642"/>
              <a:gd name="connsiteY2" fmla="*/ 2092857 h 2092857"/>
              <a:gd name="connsiteX3" fmla="*/ 0 w 1569642"/>
              <a:gd name="connsiteY3" fmla="*/ 2092857 h 2092857"/>
            </a:gdLst>
            <a:ahLst/>
            <a:cxnLst>
              <a:cxn ang="0">
                <a:pos x="connsiteX0" y="connsiteY0"/>
              </a:cxn>
              <a:cxn ang="0">
                <a:pos x="connsiteX1" y="connsiteY1"/>
              </a:cxn>
              <a:cxn ang="0">
                <a:pos x="connsiteX2" y="connsiteY2"/>
              </a:cxn>
              <a:cxn ang="0">
                <a:pos x="connsiteX3" y="connsiteY3"/>
              </a:cxn>
            </a:cxnLst>
            <a:rect l="l" t="t" r="r" b="b"/>
            <a:pathLst>
              <a:path w="1569642" h="2092857">
                <a:moveTo>
                  <a:pt x="0" y="0"/>
                </a:moveTo>
                <a:lnTo>
                  <a:pt x="1569642" y="0"/>
                </a:lnTo>
                <a:lnTo>
                  <a:pt x="1569642" y="2092857"/>
                </a:lnTo>
                <a:lnTo>
                  <a:pt x="0" y="20928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2" hasCustomPrompt="1"/>
          </p:nvPr>
        </p:nvSpPr>
        <p:spPr>
          <a:xfrm>
            <a:off x="6696602" y="3874819"/>
            <a:ext cx="849511" cy="1502692"/>
          </a:xfrm>
          <a:custGeom>
            <a:avLst/>
            <a:gdLst>
              <a:gd name="connsiteX0" fmla="*/ 0 w 849511"/>
              <a:gd name="connsiteY0" fmla="*/ 0 h 1502692"/>
              <a:gd name="connsiteX1" fmla="*/ 849511 w 849511"/>
              <a:gd name="connsiteY1" fmla="*/ 0 h 1502692"/>
              <a:gd name="connsiteX2" fmla="*/ 849511 w 849511"/>
              <a:gd name="connsiteY2" fmla="*/ 1502692 h 1502692"/>
              <a:gd name="connsiteX3" fmla="*/ 0 w 849511"/>
              <a:gd name="connsiteY3" fmla="*/ 1502692 h 1502692"/>
            </a:gdLst>
            <a:ahLst/>
            <a:cxnLst>
              <a:cxn ang="0">
                <a:pos x="connsiteX0" y="connsiteY0"/>
              </a:cxn>
              <a:cxn ang="0">
                <a:pos x="connsiteX1" y="connsiteY1"/>
              </a:cxn>
              <a:cxn ang="0">
                <a:pos x="connsiteX2" y="connsiteY2"/>
              </a:cxn>
              <a:cxn ang="0">
                <a:pos x="connsiteX3" y="connsiteY3"/>
              </a:cxn>
            </a:cxnLst>
            <a:rect l="l" t="t" r="r" b="b"/>
            <a:pathLst>
              <a:path w="849511" h="1502692">
                <a:moveTo>
                  <a:pt x="0" y="0"/>
                </a:moveTo>
                <a:lnTo>
                  <a:pt x="849511" y="0"/>
                </a:lnTo>
                <a:lnTo>
                  <a:pt x="849511" y="1502692"/>
                </a:lnTo>
                <a:lnTo>
                  <a:pt x="0" y="150269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29946617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6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686700" y="1435291"/>
            <a:ext cx="1527048" cy="2698668"/>
          </a:xfrm>
          <a:custGeom>
            <a:avLst/>
            <a:gdLst>
              <a:gd name="connsiteX0" fmla="*/ 0 w 1527048"/>
              <a:gd name="connsiteY0" fmla="*/ 0 h 2698668"/>
              <a:gd name="connsiteX1" fmla="*/ 1527048 w 1527048"/>
              <a:gd name="connsiteY1" fmla="*/ 0 h 2698668"/>
              <a:gd name="connsiteX2" fmla="*/ 1527048 w 1527048"/>
              <a:gd name="connsiteY2" fmla="*/ 2698668 h 2698668"/>
              <a:gd name="connsiteX3" fmla="*/ 0 w 1527048"/>
              <a:gd name="connsiteY3" fmla="*/ 2698668 h 2698668"/>
            </a:gdLst>
            <a:ahLst/>
            <a:cxnLst>
              <a:cxn ang="0">
                <a:pos x="connsiteX0" y="connsiteY0"/>
              </a:cxn>
              <a:cxn ang="0">
                <a:pos x="connsiteX1" y="connsiteY1"/>
              </a:cxn>
              <a:cxn ang="0">
                <a:pos x="connsiteX2" y="connsiteY2"/>
              </a:cxn>
              <a:cxn ang="0">
                <a:pos x="connsiteX3" y="connsiteY3"/>
              </a:cxn>
            </a:cxnLst>
            <a:rect l="l" t="t" r="r" b="b"/>
            <a:pathLst>
              <a:path w="1527048" h="2698668">
                <a:moveTo>
                  <a:pt x="0" y="0"/>
                </a:moveTo>
                <a:lnTo>
                  <a:pt x="1527048" y="0"/>
                </a:lnTo>
                <a:lnTo>
                  <a:pt x="1527048" y="2698668"/>
                </a:lnTo>
                <a:lnTo>
                  <a:pt x="0" y="26986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18872578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7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rot="20340000">
            <a:off x="8620536" y="2498259"/>
            <a:ext cx="1664208" cy="2959282"/>
          </a:xfrm>
          <a:custGeom>
            <a:avLst/>
            <a:gdLst>
              <a:gd name="connsiteX0" fmla="*/ 0 w 1664208"/>
              <a:gd name="connsiteY0" fmla="*/ 0 h 2959282"/>
              <a:gd name="connsiteX1" fmla="*/ 1664208 w 1664208"/>
              <a:gd name="connsiteY1" fmla="*/ 0 h 2959282"/>
              <a:gd name="connsiteX2" fmla="*/ 1664208 w 1664208"/>
              <a:gd name="connsiteY2" fmla="*/ 2959282 h 2959282"/>
              <a:gd name="connsiteX3" fmla="*/ 0 w 1664208"/>
              <a:gd name="connsiteY3" fmla="*/ 2959282 h 2959282"/>
            </a:gdLst>
            <a:ahLst/>
            <a:cxnLst>
              <a:cxn ang="0">
                <a:pos x="connsiteX0" y="connsiteY0"/>
              </a:cxn>
              <a:cxn ang="0">
                <a:pos x="connsiteX1" y="connsiteY1"/>
              </a:cxn>
              <a:cxn ang="0">
                <a:pos x="connsiteX2" y="connsiteY2"/>
              </a:cxn>
              <a:cxn ang="0">
                <a:pos x="connsiteX3" y="connsiteY3"/>
              </a:cxn>
            </a:cxnLst>
            <a:rect l="l" t="t" r="r" b="b"/>
            <a:pathLst>
              <a:path w="1664208" h="2959282">
                <a:moveTo>
                  <a:pt x="0" y="0"/>
                </a:moveTo>
                <a:lnTo>
                  <a:pt x="1664208" y="0"/>
                </a:lnTo>
                <a:lnTo>
                  <a:pt x="1664208" y="2959282"/>
                </a:lnTo>
                <a:lnTo>
                  <a:pt x="0" y="29592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0070435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8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53772" y="2942195"/>
            <a:ext cx="2112264" cy="1693552"/>
          </a:xfrm>
          <a:custGeom>
            <a:avLst/>
            <a:gdLst>
              <a:gd name="connsiteX0" fmla="*/ 0 w 2112264"/>
              <a:gd name="connsiteY0" fmla="*/ 0 h 1693552"/>
              <a:gd name="connsiteX1" fmla="*/ 2112264 w 2112264"/>
              <a:gd name="connsiteY1" fmla="*/ 0 h 1693552"/>
              <a:gd name="connsiteX2" fmla="*/ 2112264 w 2112264"/>
              <a:gd name="connsiteY2" fmla="*/ 1693552 h 1693552"/>
              <a:gd name="connsiteX3" fmla="*/ 0 w 2112264"/>
              <a:gd name="connsiteY3" fmla="*/ 1693552 h 1693552"/>
            </a:gdLst>
            <a:ahLst/>
            <a:cxnLst>
              <a:cxn ang="0">
                <a:pos x="connsiteX0" y="connsiteY0"/>
              </a:cxn>
              <a:cxn ang="0">
                <a:pos x="connsiteX1" y="connsiteY1"/>
              </a:cxn>
              <a:cxn ang="0">
                <a:pos x="connsiteX2" y="connsiteY2"/>
              </a:cxn>
              <a:cxn ang="0">
                <a:pos x="connsiteX3" y="connsiteY3"/>
              </a:cxn>
            </a:cxnLst>
            <a:rect l="l" t="t" r="r" b="b"/>
            <a:pathLst>
              <a:path w="2112264" h="1693552">
                <a:moveTo>
                  <a:pt x="0" y="0"/>
                </a:moveTo>
                <a:lnTo>
                  <a:pt x="2112264" y="0"/>
                </a:lnTo>
                <a:lnTo>
                  <a:pt x="2112264" y="1693552"/>
                </a:lnTo>
                <a:lnTo>
                  <a:pt x="0" y="169355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23130151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385925" y="3076305"/>
            <a:ext cx="1407742" cy="1758325"/>
          </a:xfrm>
          <a:custGeom>
            <a:avLst/>
            <a:gdLst>
              <a:gd name="connsiteX0" fmla="*/ 0 w 1407742"/>
              <a:gd name="connsiteY0" fmla="*/ 0 h 1758325"/>
              <a:gd name="connsiteX1" fmla="*/ 1407742 w 1407742"/>
              <a:gd name="connsiteY1" fmla="*/ 0 h 1758325"/>
              <a:gd name="connsiteX2" fmla="*/ 1407742 w 1407742"/>
              <a:gd name="connsiteY2" fmla="*/ 1758325 h 1758325"/>
              <a:gd name="connsiteX3" fmla="*/ 0 w 1407742"/>
              <a:gd name="connsiteY3" fmla="*/ 1758325 h 1758325"/>
            </a:gdLst>
            <a:ahLst/>
            <a:cxnLst>
              <a:cxn ang="0">
                <a:pos x="connsiteX0" y="connsiteY0"/>
              </a:cxn>
              <a:cxn ang="0">
                <a:pos x="connsiteX1" y="connsiteY1"/>
              </a:cxn>
              <a:cxn ang="0">
                <a:pos x="connsiteX2" y="connsiteY2"/>
              </a:cxn>
              <a:cxn ang="0">
                <a:pos x="connsiteX3" y="connsiteY3"/>
              </a:cxn>
            </a:cxnLst>
            <a:rect l="l" t="t" r="r" b="b"/>
            <a:pathLst>
              <a:path w="1407742" h="1758325">
                <a:moveTo>
                  <a:pt x="0" y="0"/>
                </a:moveTo>
                <a:lnTo>
                  <a:pt x="1407742" y="0"/>
                </a:lnTo>
                <a:lnTo>
                  <a:pt x="1407742" y="1758325"/>
                </a:lnTo>
                <a:lnTo>
                  <a:pt x="0" y="175832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78680446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0_Custom Layout">
    <p:spTree>
      <p:nvGrpSpPr>
        <p:cNvPr id="1" name=""/>
        <p:cNvGrpSpPr/>
        <p:nvPr/>
      </p:nvGrpSpPr>
      <p:grpSpPr>
        <a:xfrm>
          <a:off x="0" y="0"/>
          <a:ext cx="0" cy="0"/>
          <a:chOff x="0" y="0"/>
          <a:chExt cx="0" cy="0"/>
        </a:xfrm>
      </p:grpSpPr>
      <p:sp>
        <p:nvSpPr>
          <p:cNvPr id="18" name="Picture Placeholder 17"/>
          <p:cNvSpPr>
            <a:spLocks noGrp="1"/>
          </p:cNvSpPr>
          <p:nvPr>
            <p:ph type="pic" sz="quarter" idx="10" hasCustomPrompt="1"/>
          </p:nvPr>
        </p:nvSpPr>
        <p:spPr>
          <a:xfrm>
            <a:off x="839466"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1" hasCustomPrompt="1"/>
          </p:nvPr>
        </p:nvSpPr>
        <p:spPr>
          <a:xfrm>
            <a:off x="2990276"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2" hasCustomPrompt="1"/>
          </p:nvPr>
        </p:nvSpPr>
        <p:spPr>
          <a:xfrm>
            <a:off x="5139821"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3" hasCustomPrompt="1"/>
          </p:nvPr>
        </p:nvSpPr>
        <p:spPr>
          <a:xfrm>
            <a:off x="7290631"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4" hasCustomPrompt="1"/>
          </p:nvPr>
        </p:nvSpPr>
        <p:spPr>
          <a:xfrm>
            <a:off x="9441440"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5" hasCustomPrompt="1"/>
          </p:nvPr>
        </p:nvSpPr>
        <p:spPr>
          <a:xfrm>
            <a:off x="839466"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5" name="Picture Placeholder 24"/>
          <p:cNvSpPr>
            <a:spLocks noGrp="1"/>
          </p:cNvSpPr>
          <p:nvPr>
            <p:ph type="pic" sz="quarter" idx="16" hasCustomPrompt="1"/>
          </p:nvPr>
        </p:nvSpPr>
        <p:spPr>
          <a:xfrm>
            <a:off x="2990276"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6" name="Picture Placeholder 25"/>
          <p:cNvSpPr>
            <a:spLocks noGrp="1"/>
          </p:cNvSpPr>
          <p:nvPr>
            <p:ph type="pic" sz="quarter" idx="17" hasCustomPrompt="1"/>
          </p:nvPr>
        </p:nvSpPr>
        <p:spPr>
          <a:xfrm>
            <a:off x="5139821"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7" name="Picture Placeholder 26"/>
          <p:cNvSpPr>
            <a:spLocks noGrp="1"/>
          </p:cNvSpPr>
          <p:nvPr>
            <p:ph type="pic" sz="quarter" idx="18" hasCustomPrompt="1"/>
          </p:nvPr>
        </p:nvSpPr>
        <p:spPr>
          <a:xfrm>
            <a:off x="7290631"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8" name="Picture Placeholder 27"/>
          <p:cNvSpPr>
            <a:spLocks noGrp="1"/>
          </p:cNvSpPr>
          <p:nvPr>
            <p:ph type="pic" sz="quarter" idx="19" hasCustomPrompt="1"/>
          </p:nvPr>
        </p:nvSpPr>
        <p:spPr>
          <a:xfrm>
            <a:off x="9441440"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Oval 13"/>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5" name="TextBox 14"/>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7" name="TextBox 16"/>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989634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1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1524"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062984"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2" hasCustomPrompt="1"/>
          </p:nvPr>
        </p:nvSpPr>
        <p:spPr>
          <a:xfrm>
            <a:off x="8125968"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3" hasCustomPrompt="1"/>
          </p:nvPr>
        </p:nvSpPr>
        <p:spPr>
          <a:xfrm>
            <a:off x="2034540"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4" hasCustomPrompt="1"/>
          </p:nvPr>
        </p:nvSpPr>
        <p:spPr>
          <a:xfrm>
            <a:off x="6099048"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5" hasCustomPrompt="1"/>
          </p:nvPr>
        </p:nvSpPr>
        <p:spPr>
          <a:xfrm>
            <a:off x="10162032"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748365792"/>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5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838201"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4585290"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2" hasCustomPrompt="1"/>
          </p:nvPr>
        </p:nvSpPr>
        <p:spPr>
          <a:xfrm>
            <a:off x="8332380"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78154122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6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838202"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4474634"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2" hasCustomPrompt="1"/>
          </p:nvPr>
        </p:nvSpPr>
        <p:spPr>
          <a:xfrm>
            <a:off x="8111067"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52374547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7_Custom Layout">
    <p:spTree>
      <p:nvGrpSpPr>
        <p:cNvPr id="1" name=""/>
        <p:cNvGrpSpPr/>
        <p:nvPr/>
      </p:nvGrpSpPr>
      <p:grpSpPr>
        <a:xfrm>
          <a:off x="0" y="0"/>
          <a:ext cx="0" cy="0"/>
          <a:chOff x="0" y="0"/>
          <a:chExt cx="0" cy="0"/>
        </a:xfrm>
      </p:grpSpPr>
      <p:sp>
        <p:nvSpPr>
          <p:cNvPr id="31" name="Picture Placeholder 30"/>
          <p:cNvSpPr>
            <a:spLocks noGrp="1"/>
          </p:cNvSpPr>
          <p:nvPr>
            <p:ph type="pic" sz="quarter" idx="11" hasCustomPrompt="1"/>
          </p:nvPr>
        </p:nvSpPr>
        <p:spPr>
          <a:xfrm>
            <a:off x="8412482" y="4718076"/>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30" name="Picture Placeholder 29"/>
          <p:cNvSpPr>
            <a:spLocks noGrp="1"/>
          </p:cNvSpPr>
          <p:nvPr>
            <p:ph type="pic" sz="quarter" idx="15" hasCustomPrompt="1"/>
          </p:nvPr>
        </p:nvSpPr>
        <p:spPr>
          <a:xfrm>
            <a:off x="6133256" y="3168040"/>
            <a:ext cx="2233505" cy="3067940"/>
          </a:xfrm>
          <a:custGeom>
            <a:avLst/>
            <a:gdLst>
              <a:gd name="connsiteX0" fmla="*/ 0 w 2233505"/>
              <a:gd name="connsiteY0" fmla="*/ 0 h 3067940"/>
              <a:gd name="connsiteX1" fmla="*/ 2233505 w 2233505"/>
              <a:gd name="connsiteY1" fmla="*/ 0 h 3067940"/>
              <a:gd name="connsiteX2" fmla="*/ 2233505 w 2233505"/>
              <a:gd name="connsiteY2" fmla="*/ 3067940 h 3067940"/>
              <a:gd name="connsiteX3" fmla="*/ 0 w 2233505"/>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2233505" h="3067940">
                <a:moveTo>
                  <a:pt x="0" y="0"/>
                </a:moveTo>
                <a:lnTo>
                  <a:pt x="2233505" y="0"/>
                </a:lnTo>
                <a:lnTo>
                  <a:pt x="2233505"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9" name="Picture Placeholder 28"/>
          <p:cNvSpPr>
            <a:spLocks noGrp="1"/>
          </p:cNvSpPr>
          <p:nvPr>
            <p:ph type="pic" sz="quarter" idx="16" hasCustomPrompt="1"/>
          </p:nvPr>
        </p:nvSpPr>
        <p:spPr>
          <a:xfrm>
            <a:off x="8412482" y="1604417"/>
            <a:ext cx="2233507" cy="3067940"/>
          </a:xfrm>
          <a:custGeom>
            <a:avLst/>
            <a:gdLst>
              <a:gd name="connsiteX0" fmla="*/ 0 w 2233507"/>
              <a:gd name="connsiteY0" fmla="*/ 0 h 3067940"/>
              <a:gd name="connsiteX1" fmla="*/ 2233507 w 2233507"/>
              <a:gd name="connsiteY1" fmla="*/ 0 h 3067940"/>
              <a:gd name="connsiteX2" fmla="*/ 2233507 w 2233507"/>
              <a:gd name="connsiteY2" fmla="*/ 3067940 h 3067940"/>
              <a:gd name="connsiteX3" fmla="*/ 0 w 2233507"/>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2233507" h="3067940">
                <a:moveTo>
                  <a:pt x="0" y="0"/>
                </a:moveTo>
                <a:lnTo>
                  <a:pt x="2233507" y="0"/>
                </a:lnTo>
                <a:lnTo>
                  <a:pt x="2233507"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2" hasCustomPrompt="1"/>
          </p:nvPr>
        </p:nvSpPr>
        <p:spPr>
          <a:xfrm>
            <a:off x="6133256" y="1604417"/>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3" hasCustomPrompt="1"/>
          </p:nvPr>
        </p:nvSpPr>
        <p:spPr>
          <a:xfrm>
            <a:off x="3854029" y="4718076"/>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4" hasCustomPrompt="1"/>
          </p:nvPr>
        </p:nvSpPr>
        <p:spPr>
          <a:xfrm>
            <a:off x="1574801" y="4718076"/>
            <a:ext cx="2233506" cy="1517904"/>
          </a:xfrm>
          <a:custGeom>
            <a:avLst/>
            <a:gdLst>
              <a:gd name="connsiteX0" fmla="*/ 0 w 2233506"/>
              <a:gd name="connsiteY0" fmla="*/ 0 h 1517904"/>
              <a:gd name="connsiteX1" fmla="*/ 2233506 w 2233506"/>
              <a:gd name="connsiteY1" fmla="*/ 0 h 1517904"/>
              <a:gd name="connsiteX2" fmla="*/ 2233506 w 2233506"/>
              <a:gd name="connsiteY2" fmla="*/ 1517904 h 1517904"/>
              <a:gd name="connsiteX3" fmla="*/ 0 w 2233506"/>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6" h="1517904">
                <a:moveTo>
                  <a:pt x="0" y="0"/>
                </a:moveTo>
                <a:lnTo>
                  <a:pt x="2233506" y="0"/>
                </a:lnTo>
                <a:lnTo>
                  <a:pt x="2233506"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0" hasCustomPrompt="1"/>
          </p:nvPr>
        </p:nvSpPr>
        <p:spPr>
          <a:xfrm>
            <a:off x="1574802" y="1604417"/>
            <a:ext cx="4512733" cy="3067940"/>
          </a:xfrm>
          <a:custGeom>
            <a:avLst/>
            <a:gdLst>
              <a:gd name="connsiteX0" fmla="*/ 0 w 4512733"/>
              <a:gd name="connsiteY0" fmla="*/ 0 h 3067940"/>
              <a:gd name="connsiteX1" fmla="*/ 4512733 w 4512733"/>
              <a:gd name="connsiteY1" fmla="*/ 0 h 3067940"/>
              <a:gd name="connsiteX2" fmla="*/ 4512733 w 4512733"/>
              <a:gd name="connsiteY2" fmla="*/ 3067940 h 3067940"/>
              <a:gd name="connsiteX3" fmla="*/ 0 w 4512733"/>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4512733" h="3067940">
                <a:moveTo>
                  <a:pt x="0" y="0"/>
                </a:moveTo>
                <a:lnTo>
                  <a:pt x="4512733" y="0"/>
                </a:lnTo>
                <a:lnTo>
                  <a:pt x="4512733"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1" name="Oval 10"/>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2" name="TextBox 11"/>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4" name="TextBox 13"/>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3813181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2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838199"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421052"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2" hasCustomPrompt="1"/>
          </p:nvPr>
        </p:nvSpPr>
        <p:spPr>
          <a:xfrm>
            <a:off x="7999362"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3" hasCustomPrompt="1"/>
          </p:nvPr>
        </p:nvSpPr>
        <p:spPr>
          <a:xfrm>
            <a:off x="838199"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4" hasCustomPrompt="1"/>
          </p:nvPr>
        </p:nvSpPr>
        <p:spPr>
          <a:xfrm>
            <a:off x="4421052"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5" hasCustomPrompt="1"/>
          </p:nvPr>
        </p:nvSpPr>
        <p:spPr>
          <a:xfrm>
            <a:off x="7999362"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2219569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3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906460"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466054"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8025649"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06460"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4" hasCustomPrompt="1"/>
          </p:nvPr>
        </p:nvSpPr>
        <p:spPr>
          <a:xfrm>
            <a:off x="4466054"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5" hasCustomPrompt="1"/>
          </p:nvPr>
        </p:nvSpPr>
        <p:spPr>
          <a:xfrm>
            <a:off x="8025649"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64409249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4_Custom Layout">
    <p:spTree>
      <p:nvGrpSpPr>
        <p:cNvPr id="1" name=""/>
        <p:cNvGrpSpPr/>
        <p:nvPr/>
      </p:nvGrpSpPr>
      <p:grpSpPr>
        <a:xfrm>
          <a:off x="0" y="0"/>
          <a:ext cx="0" cy="0"/>
          <a:chOff x="0" y="0"/>
          <a:chExt cx="0" cy="0"/>
        </a:xfrm>
      </p:grpSpPr>
      <p:sp>
        <p:nvSpPr>
          <p:cNvPr id="14" name="Picture Placeholder 13"/>
          <p:cNvSpPr>
            <a:spLocks noGrp="1"/>
          </p:cNvSpPr>
          <p:nvPr>
            <p:ph type="pic" sz="quarter" idx="11" hasCustomPrompt="1"/>
          </p:nvPr>
        </p:nvSpPr>
        <p:spPr>
          <a:xfrm>
            <a:off x="5160694" y="3967779"/>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0" hasCustomPrompt="1"/>
          </p:nvPr>
        </p:nvSpPr>
        <p:spPr>
          <a:xfrm>
            <a:off x="1208523" y="1992022"/>
            <a:ext cx="3905795" cy="3905795"/>
          </a:xfrm>
          <a:custGeom>
            <a:avLst/>
            <a:gdLst>
              <a:gd name="connsiteX0" fmla="*/ 0 w 3905795"/>
              <a:gd name="connsiteY0" fmla="*/ 0 h 3905795"/>
              <a:gd name="connsiteX1" fmla="*/ 3905795 w 3905795"/>
              <a:gd name="connsiteY1" fmla="*/ 0 h 3905795"/>
              <a:gd name="connsiteX2" fmla="*/ 3905795 w 3905795"/>
              <a:gd name="connsiteY2" fmla="*/ 3905795 h 3905795"/>
              <a:gd name="connsiteX3" fmla="*/ 0 w 3905795"/>
              <a:gd name="connsiteY3" fmla="*/ 3905795 h 3905795"/>
            </a:gdLst>
            <a:ahLst/>
            <a:cxnLst>
              <a:cxn ang="0">
                <a:pos x="connsiteX0" y="connsiteY0"/>
              </a:cxn>
              <a:cxn ang="0">
                <a:pos x="connsiteX1" y="connsiteY1"/>
              </a:cxn>
              <a:cxn ang="0">
                <a:pos x="connsiteX2" y="connsiteY2"/>
              </a:cxn>
              <a:cxn ang="0">
                <a:pos x="connsiteX3" y="connsiteY3"/>
              </a:cxn>
            </a:cxnLst>
            <a:rect l="l" t="t" r="r" b="b"/>
            <a:pathLst>
              <a:path w="3905795" h="3905795">
                <a:moveTo>
                  <a:pt x="0" y="0"/>
                </a:moveTo>
                <a:lnTo>
                  <a:pt x="3905795" y="0"/>
                </a:lnTo>
                <a:lnTo>
                  <a:pt x="3905795" y="3905795"/>
                </a:lnTo>
                <a:lnTo>
                  <a:pt x="0" y="39057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2" hasCustomPrompt="1"/>
          </p:nvPr>
        </p:nvSpPr>
        <p:spPr>
          <a:xfrm>
            <a:off x="7135796" y="1992675"/>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3" hasCustomPrompt="1"/>
          </p:nvPr>
        </p:nvSpPr>
        <p:spPr>
          <a:xfrm>
            <a:off x="9111554" y="3967779"/>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62509939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8_Custom Layout">
    <p:spTree>
      <p:nvGrpSpPr>
        <p:cNvPr id="1" name=""/>
        <p:cNvGrpSpPr/>
        <p:nvPr/>
      </p:nvGrpSpPr>
      <p:grpSpPr>
        <a:xfrm>
          <a:off x="0" y="0"/>
          <a:ext cx="0" cy="0"/>
          <a:chOff x="0" y="0"/>
          <a:chExt cx="0" cy="0"/>
        </a:xfrm>
      </p:grpSpPr>
      <p:sp>
        <p:nvSpPr>
          <p:cNvPr id="16" name="Picture Placeholder 15"/>
          <p:cNvSpPr>
            <a:spLocks noGrp="1"/>
          </p:cNvSpPr>
          <p:nvPr>
            <p:ph type="pic" sz="quarter" idx="10" hasCustomPrompt="1"/>
          </p:nvPr>
        </p:nvSpPr>
        <p:spPr>
          <a:xfrm>
            <a:off x="837438"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1" hasCustomPrompt="1"/>
          </p:nvPr>
        </p:nvSpPr>
        <p:spPr>
          <a:xfrm>
            <a:off x="3477006"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2" hasCustomPrompt="1"/>
          </p:nvPr>
        </p:nvSpPr>
        <p:spPr>
          <a:xfrm>
            <a:off x="6116574"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3" hasCustomPrompt="1"/>
          </p:nvPr>
        </p:nvSpPr>
        <p:spPr>
          <a:xfrm>
            <a:off x="8756142"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24659955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56431" y="2032514"/>
            <a:ext cx="5587469" cy="3726482"/>
          </a:xfrm>
          <a:custGeom>
            <a:avLst/>
            <a:gdLst>
              <a:gd name="connsiteX0" fmla="*/ 0 w 5587469"/>
              <a:gd name="connsiteY0" fmla="*/ 0 h 3726482"/>
              <a:gd name="connsiteX1" fmla="*/ 5587469 w 5587469"/>
              <a:gd name="connsiteY1" fmla="*/ 0 h 3726482"/>
              <a:gd name="connsiteX2" fmla="*/ 5587469 w 5587469"/>
              <a:gd name="connsiteY2" fmla="*/ 3726482 h 3726482"/>
              <a:gd name="connsiteX3" fmla="*/ 0 w 5587469"/>
              <a:gd name="connsiteY3" fmla="*/ 3726482 h 3726482"/>
            </a:gdLst>
            <a:ahLst/>
            <a:cxnLst>
              <a:cxn ang="0">
                <a:pos x="connsiteX0" y="connsiteY0"/>
              </a:cxn>
              <a:cxn ang="0">
                <a:pos x="connsiteX1" y="connsiteY1"/>
              </a:cxn>
              <a:cxn ang="0">
                <a:pos x="connsiteX2" y="connsiteY2"/>
              </a:cxn>
              <a:cxn ang="0">
                <a:pos x="connsiteX3" y="connsiteY3"/>
              </a:cxn>
            </a:cxnLst>
            <a:rect l="l" t="t" r="r" b="b"/>
            <a:pathLst>
              <a:path w="5587469" h="3726482">
                <a:moveTo>
                  <a:pt x="0" y="0"/>
                </a:moveTo>
                <a:lnTo>
                  <a:pt x="5587469" y="0"/>
                </a:lnTo>
                <a:lnTo>
                  <a:pt x="5587469" y="3726482"/>
                </a:lnTo>
                <a:lnTo>
                  <a:pt x="0" y="37264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1976518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1892993"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5602300"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9311607"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8" name="TextBox 7"/>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0" name="TextBox 9"/>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81992842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1070018" y="1978362"/>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839753" y="1978362"/>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1070018" y="4173531"/>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3" hasCustomPrompt="1"/>
          </p:nvPr>
        </p:nvSpPr>
        <p:spPr>
          <a:xfrm>
            <a:off x="6839753" y="4173531"/>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916399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2_Custom Layout">
    <p:spTree>
      <p:nvGrpSpPr>
        <p:cNvPr id="1" name=""/>
        <p:cNvGrpSpPr/>
        <p:nvPr/>
      </p:nvGrpSpPr>
      <p:grpSpPr>
        <a:xfrm>
          <a:off x="0" y="0"/>
          <a:ext cx="0" cy="0"/>
          <a:chOff x="0" y="0"/>
          <a:chExt cx="0" cy="0"/>
        </a:xfrm>
      </p:grpSpPr>
      <p:sp>
        <p:nvSpPr>
          <p:cNvPr id="18" name="Picture Placeholder 17"/>
          <p:cNvSpPr>
            <a:spLocks noGrp="1"/>
          </p:cNvSpPr>
          <p:nvPr>
            <p:ph type="pic" sz="quarter" idx="10" hasCustomPrompt="1"/>
          </p:nvPr>
        </p:nvSpPr>
        <p:spPr>
          <a:xfrm>
            <a:off x="838202"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1" hasCustomPrompt="1"/>
          </p:nvPr>
        </p:nvSpPr>
        <p:spPr>
          <a:xfrm>
            <a:off x="4809456"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2" hasCustomPrompt="1"/>
          </p:nvPr>
        </p:nvSpPr>
        <p:spPr>
          <a:xfrm>
            <a:off x="8780708"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3" hasCustomPrompt="1"/>
          </p:nvPr>
        </p:nvSpPr>
        <p:spPr>
          <a:xfrm>
            <a:off x="838202"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4" hasCustomPrompt="1"/>
          </p:nvPr>
        </p:nvSpPr>
        <p:spPr>
          <a:xfrm>
            <a:off x="4809456"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5" hasCustomPrompt="1"/>
          </p:nvPr>
        </p:nvSpPr>
        <p:spPr>
          <a:xfrm>
            <a:off x="8780708"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6" hasCustomPrompt="1"/>
          </p:nvPr>
        </p:nvSpPr>
        <p:spPr>
          <a:xfrm>
            <a:off x="838202"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5" name="Picture Placeholder 24"/>
          <p:cNvSpPr>
            <a:spLocks noGrp="1"/>
          </p:cNvSpPr>
          <p:nvPr>
            <p:ph type="pic" sz="quarter" idx="17" hasCustomPrompt="1"/>
          </p:nvPr>
        </p:nvSpPr>
        <p:spPr>
          <a:xfrm>
            <a:off x="4809456"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6" name="Picture Placeholder 25"/>
          <p:cNvSpPr>
            <a:spLocks noGrp="1"/>
          </p:cNvSpPr>
          <p:nvPr>
            <p:ph type="pic" sz="quarter" idx="18" hasCustomPrompt="1"/>
          </p:nvPr>
        </p:nvSpPr>
        <p:spPr>
          <a:xfrm>
            <a:off x="8780708"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Oval 12"/>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4" name="TextBox 13"/>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6" name="TextBox 15"/>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97634924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0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2" y="3429000"/>
            <a:ext cx="12191999" cy="3429000"/>
          </a:xfrm>
          <a:custGeom>
            <a:avLst/>
            <a:gdLst>
              <a:gd name="connsiteX0" fmla="*/ 0 w 12191999"/>
              <a:gd name="connsiteY0" fmla="*/ 0 h 3429000"/>
              <a:gd name="connsiteX1" fmla="*/ 12191999 w 12191999"/>
              <a:gd name="connsiteY1" fmla="*/ 0 h 3429000"/>
              <a:gd name="connsiteX2" fmla="*/ 12191999 w 12191999"/>
              <a:gd name="connsiteY2" fmla="*/ 3429000 h 3429000"/>
              <a:gd name="connsiteX3" fmla="*/ 0 w 12191999"/>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1999" h="3429000">
                <a:moveTo>
                  <a:pt x="0" y="0"/>
                </a:moveTo>
                <a:lnTo>
                  <a:pt x="12191999" y="0"/>
                </a:lnTo>
                <a:lnTo>
                  <a:pt x="12191999" y="3429000"/>
                </a:lnTo>
                <a:lnTo>
                  <a:pt x="0" y="342900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97530972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1_Custom Layout">
    <p:spTree>
      <p:nvGrpSpPr>
        <p:cNvPr id="1" name=""/>
        <p:cNvGrpSpPr/>
        <p:nvPr/>
      </p:nvGrpSpPr>
      <p:grpSpPr>
        <a:xfrm>
          <a:off x="0" y="0"/>
          <a:ext cx="0" cy="0"/>
          <a:chOff x="0" y="0"/>
          <a:chExt cx="0" cy="0"/>
        </a:xfrm>
      </p:grpSpPr>
      <p:sp>
        <p:nvSpPr>
          <p:cNvPr id="10" name="Picture Placeholder 7"/>
          <p:cNvSpPr>
            <a:spLocks noGrp="1"/>
          </p:cNvSpPr>
          <p:nvPr>
            <p:ph type="pic" sz="quarter" idx="10" hasCustomPrompt="1"/>
          </p:nvPr>
        </p:nvSpPr>
        <p:spPr>
          <a:xfrm>
            <a:off x="0" y="0"/>
            <a:ext cx="12192000" cy="6858000"/>
          </a:xfrm>
        </p:spPr>
        <p:txBody>
          <a:bodyPr tIns="137160">
            <a:normAutofit/>
          </a:bodyPr>
          <a:lstStyle>
            <a:lvl1pPr>
              <a:defRPr sz="1200" b="0" baseline="0">
                <a:solidFill>
                  <a:schemeClr val="accent2"/>
                </a:solidFill>
              </a:defRPr>
            </a:lvl1pPr>
          </a:lstStyle>
          <a:p>
            <a:r>
              <a:rPr lang="en-US" dirty="0"/>
              <a:t>Drag &amp; Drop Here</a:t>
            </a:r>
          </a:p>
        </p:txBody>
      </p:sp>
      <p:sp>
        <p:nvSpPr>
          <p:cNvPr id="4" name="TextBox 3"/>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0424330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TextBox 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635375254"/>
      </p:ext>
    </p:extLst>
  </p:cSld>
  <p:clrMapOvr>
    <a:masterClrMapping/>
  </p:clrMapOvr>
  <p:extLst>
    <p:ext uri="{DCECCB84-F9BA-43D5-87BE-67443E8EF086}">
      <p15:sldGuideLst xmlns:p15="http://schemas.microsoft.com/office/powerpoint/2012/main">
        <p15:guide id="1" pos="3840">
          <p15:clr>
            <a:srgbClr val="FBAE40"/>
          </p15:clr>
        </p15:guide>
        <p15:guide id="2" pos="7152">
          <p15:clr>
            <a:srgbClr val="FBAE40"/>
          </p15:clr>
        </p15:guide>
        <p15:guide id="3" pos="528">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Slide 1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50D48"/>
          </a:solidFill>
          <a:ln/>
        </p:spPr>
      </p:sp>
      <p:sp>
        <p:nvSpPr>
          <p:cNvPr id="3" name="Shape 1"/>
          <p:cNvSpPr/>
          <p:nvPr/>
        </p:nvSpPr>
        <p:spPr>
          <a:xfrm>
            <a:off x="0" y="0"/>
            <a:ext cx="12192000" cy="6858000"/>
          </a:xfrm>
          <a:prstGeom prst="rect">
            <a:avLst/>
          </a:prstGeom>
          <a:solidFill>
            <a:srgbClr val="0C0A33"/>
          </a:solidFill>
          <a:ln/>
        </p:spPr>
      </p:sp>
      <p:pic>
        <p:nvPicPr>
          <p:cNvPr id="4" name="Image 0" descr="preencoded.png">
            <a:hlinkClick r:id="rId2"/>
          </p:cNvPr>
          <p:cNvPicPr>
            <a:picLocks noChangeAspect="1"/>
          </p:cNvPicPr>
          <p:nvPr/>
        </p:nvPicPr>
        <p:blipFill>
          <a:blip r:embed="rId3"/>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411172715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9308078-9292-992F-0174-1C7D095767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6F586B19-5B1F-EB3C-8047-5C0AF6E4E57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9E557E86-52DD-4A7A-C1C8-DAFAB53A378A}"/>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D6281942-26AA-5F94-453D-10F3117126EA}"/>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CFF6D2B6-AA32-86B2-AAAF-A87B3DB8C1C2}"/>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177389776"/>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4E24885-5953-EC04-F0B2-885E8E9F500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A7F93121-DC7F-3535-3554-14F9679599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57C1B31-6D93-5343-E427-F05B053142E1}"/>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BF4ECEEE-B9FF-CB51-8C80-1B51537E59D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07A24953-4C2E-16E1-99D3-28DD04D57A20}"/>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192896558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6AF81FC-8EB0-DD5B-83A7-6217DF82974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9B3F2718-D68E-EDD8-01B2-5E3DB7E27C4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4D03294-B01C-2886-0D6B-E6F2883702BD}"/>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30D8D1A1-50F5-5533-4B72-0BE2E7B53F5D}"/>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1828DA5D-4C76-4541-0C3E-C7C8D40FB9ED}"/>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2013096"/>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8469373-C33B-9F13-6291-29BF63360A0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8EAAF4B-AFB4-7B59-EC57-FFDF8BD07A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A4B4137F-78DA-5B9C-39AF-B5FE70C5B31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B457C19A-7DF6-D36B-5C5B-9D3861A6F994}"/>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6" name="Footer Placeholder 5">
            <a:extLst>
              <a:ext uri="{FF2B5EF4-FFF2-40B4-BE49-F238E27FC236}">
                <a16:creationId xmlns:a16="http://schemas.microsoft.com/office/drawing/2014/main" xmlns="" id="{A06ACDAB-0401-EAB5-62A5-9B902931A786}"/>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0D97ABAD-2F3F-D258-6957-0E15C9E4803D}"/>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147335840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511399A8-AD75-2362-1533-C4E442B78FA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860A86F9-4C4E-CFFF-5627-F17B66FDE3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0EE5C1B1-2931-A4EC-86E9-C5D08DA53A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95360DA4-A5A1-201C-52A0-027ADB58F2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C89FE211-57B1-48C0-0748-0EAABE9A4A1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4DF5F98B-0DF6-E32C-0870-71BF67779F97}"/>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8" name="Footer Placeholder 7">
            <a:extLst>
              <a:ext uri="{FF2B5EF4-FFF2-40B4-BE49-F238E27FC236}">
                <a16:creationId xmlns:a16="http://schemas.microsoft.com/office/drawing/2014/main" xmlns="" id="{B31E7076-52B4-3ADB-4844-E43A9689BAE5}"/>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xmlns="" id="{5C096FF0-F689-5BCB-977F-0276012ADDCE}"/>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345752860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FF2DA42-9959-4707-29A5-7D9236FC052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3D6341E3-0E07-0339-CB03-4BB190DE4D64}"/>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4" name="Footer Placeholder 3">
            <a:extLst>
              <a:ext uri="{FF2B5EF4-FFF2-40B4-BE49-F238E27FC236}">
                <a16:creationId xmlns:a16="http://schemas.microsoft.com/office/drawing/2014/main" xmlns="" id="{34337A09-46A2-440B-EF40-46A0DF5B0E06}"/>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xmlns="" id="{532FD4A0-E21A-0072-2738-B090F0D0E462}"/>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1477466424"/>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760499D8-04D5-763A-BE77-407E78C6AD76}"/>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3" name="Footer Placeholder 2">
            <a:extLst>
              <a:ext uri="{FF2B5EF4-FFF2-40B4-BE49-F238E27FC236}">
                <a16:creationId xmlns:a16="http://schemas.microsoft.com/office/drawing/2014/main" xmlns="" id="{BC9BA353-1B94-AE4D-D69C-7554E12A80BD}"/>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xmlns="" id="{8446AA37-2F10-F7D3-AE15-9322FC78E7CF}"/>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353145254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E14E05C-3A02-92B2-54C1-61CC3EE5C4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5E5D3E34-0980-304A-BC03-D99B69E20B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088B0EA5-4E70-FE35-7BB3-AE43911F7A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9B86531-0F52-49F8-EAE8-E01E38FE30A5}"/>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6" name="Footer Placeholder 5">
            <a:extLst>
              <a:ext uri="{FF2B5EF4-FFF2-40B4-BE49-F238E27FC236}">
                <a16:creationId xmlns:a16="http://schemas.microsoft.com/office/drawing/2014/main" xmlns="" id="{612C5AB3-E381-17B2-7D42-D1809B816459}"/>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4F2083C9-FE2B-ED37-D81B-1605D47CBBF9}"/>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353699263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60F1A32-1BC3-9310-B0C4-3636FCE175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6EA1626A-656D-9B9F-75E1-251BCFE92D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xmlns="" id="{CE90478F-74AE-438C-2E60-146C082466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F6B943DD-6970-39B6-FC4E-03399626758E}"/>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6" name="Footer Placeholder 5">
            <a:extLst>
              <a:ext uri="{FF2B5EF4-FFF2-40B4-BE49-F238E27FC236}">
                <a16:creationId xmlns:a16="http://schemas.microsoft.com/office/drawing/2014/main" xmlns="" id="{7B81FCFC-EF14-6D1A-0B89-2CF9BC0F2768}"/>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xmlns="" id="{3C888106-89FA-410E-7DF2-A3FF9EED92A5}"/>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31350953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DE92B2-38A0-4296-E0CB-FA91B3895951}"/>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B88F3934-3578-F80B-4721-8103340298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50A86C9-58E1-0A6C-A246-CCB1F9D86F71}"/>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AB4739C4-DBF3-B38E-B380-77BEFF557601}"/>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152A9B67-754C-2F42-42A1-755A956722A4}"/>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256176821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F07C34B2-DBF6-AABB-C418-C0493CBEC0C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A778D4FF-D439-A8D9-1A00-75628D8CA6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C5E06E0-B2C6-ED77-9078-AFE615579153}"/>
              </a:ext>
            </a:extLst>
          </p:cNvPr>
          <p:cNvSpPr>
            <a:spLocks noGrp="1"/>
          </p:cNvSpPr>
          <p:nvPr>
            <p:ph type="dt" sz="half" idx="10"/>
          </p:nvPr>
        </p:nvSpPr>
        <p:spPr/>
        <p:txBody>
          <a:body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AE20E15C-9184-3BB7-174B-F3BD25CA88CE}"/>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xmlns="" id="{BC4E052C-B957-A206-E6D3-E10E126E6CD8}"/>
              </a:ext>
            </a:extLst>
          </p:cNvPr>
          <p:cNvSpPr>
            <a:spLocks noGrp="1"/>
          </p:cNvSpPr>
          <p:nvPr>
            <p:ph type="sldNum" sz="quarter" idx="12"/>
          </p:nvPr>
        </p:nvSpPr>
        <p:spPr/>
        <p:txBody>
          <a:bodyPr/>
          <a:lstStyle/>
          <a:p>
            <a:fld id="{1E5454C4-7B25-4EA9-8E88-AD7E397AD23E}" type="slidenum">
              <a:rPr lang="en-IN" smtClean="0"/>
              <a:t>‹#›</a:t>
            </a:fld>
            <a:endParaRPr lang="en-IN" dirty="0"/>
          </a:p>
        </p:txBody>
      </p:sp>
    </p:spTree>
    <p:extLst>
      <p:ext uri="{BB962C8B-B14F-4D97-AF65-F5344CB8AC3E}">
        <p14:creationId xmlns:p14="http://schemas.microsoft.com/office/powerpoint/2010/main" val="60115936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8_Custom Layout">
    <p:spTree>
      <p:nvGrpSpPr>
        <p:cNvPr id="1" name=""/>
        <p:cNvGrpSpPr/>
        <p:nvPr/>
      </p:nvGrpSpPr>
      <p:grpSpPr>
        <a:xfrm>
          <a:off x="0" y="0"/>
          <a:ext cx="0" cy="0"/>
          <a:chOff x="0" y="0"/>
          <a:chExt cx="0" cy="0"/>
        </a:xfrm>
      </p:grpSpPr>
      <p:sp>
        <p:nvSpPr>
          <p:cNvPr id="10" name="Picture Placeholder 7"/>
          <p:cNvSpPr>
            <a:spLocks noGrp="1"/>
          </p:cNvSpPr>
          <p:nvPr>
            <p:ph type="pic" sz="quarter" idx="10" hasCustomPrompt="1"/>
          </p:nvPr>
        </p:nvSpPr>
        <p:spPr>
          <a:xfrm>
            <a:off x="0" y="0"/>
            <a:ext cx="12192000" cy="6858000"/>
          </a:xfrm>
        </p:spPr>
        <p:txBody>
          <a:bodyPr tIns="137160">
            <a:normAutofit/>
          </a:bodyPr>
          <a:lstStyle>
            <a:lvl1pPr>
              <a:defRPr sz="1200" b="0" baseline="0">
                <a:solidFill>
                  <a:schemeClr val="accent2"/>
                </a:solidFill>
              </a:defRPr>
            </a:lvl1pPr>
          </a:lstStyle>
          <a:p>
            <a:r>
              <a:rPr lang="en-US" dirty="0"/>
              <a:t>Drag &amp; Drop Here</a:t>
            </a:r>
          </a:p>
        </p:txBody>
      </p:sp>
      <p:sp>
        <p:nvSpPr>
          <p:cNvPr id="3" name="TextBox 2"/>
          <p:cNvSpPr txBox="1"/>
          <p:nvPr userDrawn="1"/>
        </p:nvSpPr>
        <p:spPr>
          <a:xfrm>
            <a:off x="0" y="649170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345774762"/>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5" name="Picture Placeholder 14"/>
          <p:cNvSpPr>
            <a:spLocks noGrp="1"/>
          </p:cNvSpPr>
          <p:nvPr>
            <p:ph type="pic" sz="quarter" idx="10" hasCustomPrompt="1"/>
          </p:nvPr>
        </p:nvSpPr>
        <p:spPr>
          <a:xfrm>
            <a:off x="1195809"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1" hasCustomPrompt="1"/>
          </p:nvPr>
        </p:nvSpPr>
        <p:spPr>
          <a:xfrm>
            <a:off x="3843878"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6491948"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140017" y="1908403"/>
            <a:ext cx="1856174" cy="1856174"/>
          </a:xfrm>
          <a:custGeom>
            <a:avLst/>
            <a:gdLst>
              <a:gd name="connsiteX0" fmla="*/ 928087 w 1856174"/>
              <a:gd name="connsiteY0" fmla="*/ 0 h 1856174"/>
              <a:gd name="connsiteX1" fmla="*/ 1856174 w 1856174"/>
              <a:gd name="connsiteY1" fmla="*/ 928087 h 1856174"/>
              <a:gd name="connsiteX2" fmla="*/ 928087 w 1856174"/>
              <a:gd name="connsiteY2" fmla="*/ 1856174 h 1856174"/>
              <a:gd name="connsiteX3" fmla="*/ 0 w 1856174"/>
              <a:gd name="connsiteY3" fmla="*/ 928087 h 1856174"/>
              <a:gd name="connsiteX4" fmla="*/ 928087 w 1856174"/>
              <a:gd name="connsiteY4" fmla="*/ 0 h 18561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56174" h="1856174">
                <a:moveTo>
                  <a:pt x="928087" y="0"/>
                </a:moveTo>
                <a:cubicBezTo>
                  <a:pt x="1440655" y="0"/>
                  <a:pt x="1856174" y="415519"/>
                  <a:pt x="1856174" y="928087"/>
                </a:cubicBezTo>
                <a:cubicBezTo>
                  <a:pt x="1856174" y="1440655"/>
                  <a:pt x="1440655" y="1856174"/>
                  <a:pt x="928087" y="1856174"/>
                </a:cubicBezTo>
                <a:cubicBezTo>
                  <a:pt x="415519" y="1856174"/>
                  <a:pt x="0" y="1440655"/>
                  <a:pt x="0" y="928087"/>
                </a:cubicBezTo>
                <a:cubicBezTo>
                  <a:pt x="0" y="415519"/>
                  <a:pt x="415519" y="0"/>
                  <a:pt x="928087"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8" name="Oval 7"/>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9" name="TextBox 8"/>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0" name="TextBox 9"/>
          <p:cNvSpPr txBox="1"/>
          <p:nvPr userDrawn="1"/>
        </p:nvSpPr>
        <p:spPr>
          <a:xfrm>
            <a:off x="0" y="6501008"/>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7584871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15" name="Picture Placeholder 14"/>
          <p:cNvSpPr>
            <a:spLocks noGrp="1"/>
          </p:cNvSpPr>
          <p:nvPr>
            <p:ph type="pic" sz="quarter" idx="10" hasCustomPrompt="1"/>
          </p:nvPr>
        </p:nvSpPr>
        <p:spPr>
          <a:xfrm>
            <a:off x="838201"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1" hasCustomPrompt="1"/>
          </p:nvPr>
        </p:nvSpPr>
        <p:spPr>
          <a:xfrm>
            <a:off x="3646714"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6455228"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263743" y="1883927"/>
            <a:ext cx="2090057" cy="2090057"/>
          </a:xfrm>
          <a:custGeom>
            <a:avLst/>
            <a:gdLst>
              <a:gd name="connsiteX0" fmla="*/ 0 w 2090057"/>
              <a:gd name="connsiteY0" fmla="*/ 0 h 2090057"/>
              <a:gd name="connsiteX1" fmla="*/ 2090057 w 2090057"/>
              <a:gd name="connsiteY1" fmla="*/ 0 h 2090057"/>
              <a:gd name="connsiteX2" fmla="*/ 2090057 w 2090057"/>
              <a:gd name="connsiteY2" fmla="*/ 2090057 h 2090057"/>
              <a:gd name="connsiteX3" fmla="*/ 0 w 2090057"/>
              <a:gd name="connsiteY3" fmla="*/ 2090057 h 2090057"/>
            </a:gdLst>
            <a:ahLst/>
            <a:cxnLst>
              <a:cxn ang="0">
                <a:pos x="connsiteX0" y="connsiteY0"/>
              </a:cxn>
              <a:cxn ang="0">
                <a:pos x="connsiteX1" y="connsiteY1"/>
              </a:cxn>
              <a:cxn ang="0">
                <a:pos x="connsiteX2" y="connsiteY2"/>
              </a:cxn>
              <a:cxn ang="0">
                <a:pos x="connsiteX3" y="connsiteY3"/>
              </a:cxn>
            </a:cxnLst>
            <a:rect l="l" t="t" r="r" b="b"/>
            <a:pathLst>
              <a:path w="2090057" h="2090057">
                <a:moveTo>
                  <a:pt x="0" y="0"/>
                </a:moveTo>
                <a:lnTo>
                  <a:pt x="2090057" y="0"/>
                </a:lnTo>
                <a:lnTo>
                  <a:pt x="2090057" y="2090057"/>
                </a:lnTo>
                <a:lnTo>
                  <a:pt x="0" y="20900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290137248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19" name="Picture Placeholder 18"/>
          <p:cNvSpPr>
            <a:spLocks noGrp="1"/>
          </p:cNvSpPr>
          <p:nvPr>
            <p:ph type="pic" sz="quarter" idx="10" hasCustomPrompt="1"/>
          </p:nvPr>
        </p:nvSpPr>
        <p:spPr>
          <a:xfrm>
            <a:off x="4282333" y="1884937"/>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1" hasCustomPrompt="1"/>
          </p:nvPr>
        </p:nvSpPr>
        <p:spPr>
          <a:xfrm>
            <a:off x="6150990" y="1884937"/>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2" hasCustomPrompt="1"/>
          </p:nvPr>
        </p:nvSpPr>
        <p:spPr>
          <a:xfrm>
            <a:off x="4282333" y="4167134"/>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3" hasCustomPrompt="1"/>
          </p:nvPr>
        </p:nvSpPr>
        <p:spPr>
          <a:xfrm>
            <a:off x="6150990" y="4167134"/>
            <a:ext cx="1707485" cy="1707485"/>
          </a:xfrm>
          <a:custGeom>
            <a:avLst/>
            <a:gdLst>
              <a:gd name="connsiteX0" fmla="*/ 0 w 1707485"/>
              <a:gd name="connsiteY0" fmla="*/ 0 h 1707485"/>
              <a:gd name="connsiteX1" fmla="*/ 1707485 w 1707485"/>
              <a:gd name="connsiteY1" fmla="*/ 0 h 1707485"/>
              <a:gd name="connsiteX2" fmla="*/ 1707485 w 1707485"/>
              <a:gd name="connsiteY2" fmla="*/ 1707485 h 1707485"/>
              <a:gd name="connsiteX3" fmla="*/ 0 w 1707485"/>
              <a:gd name="connsiteY3" fmla="*/ 1707485 h 1707485"/>
            </a:gdLst>
            <a:ahLst/>
            <a:cxnLst>
              <a:cxn ang="0">
                <a:pos x="connsiteX0" y="connsiteY0"/>
              </a:cxn>
              <a:cxn ang="0">
                <a:pos x="connsiteX1" y="connsiteY1"/>
              </a:cxn>
              <a:cxn ang="0">
                <a:pos x="connsiteX2" y="connsiteY2"/>
              </a:cxn>
              <a:cxn ang="0">
                <a:pos x="connsiteX3" y="connsiteY3"/>
              </a:cxn>
            </a:cxnLst>
            <a:rect l="l" t="t" r="r" b="b"/>
            <a:pathLst>
              <a:path w="1707485" h="1707485">
                <a:moveTo>
                  <a:pt x="0" y="0"/>
                </a:moveTo>
                <a:lnTo>
                  <a:pt x="1707485" y="0"/>
                </a:lnTo>
                <a:lnTo>
                  <a:pt x="1707485" y="1707485"/>
                </a:lnTo>
                <a:lnTo>
                  <a:pt x="0" y="170748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07777"/>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endParaRPr lang="en-IN" sz="1400" b="1" dirty="0">
              <a:solidFill>
                <a:prstClr val="black"/>
              </a:solidFill>
              <a:latin typeface="Roboto" pitchFamily="2" charset="0"/>
              <a:ea typeface="Roboto" pitchFamily="2" charset="0"/>
            </a:endParaRPr>
          </a:p>
        </p:txBody>
      </p:sp>
    </p:spTree>
    <p:extLst>
      <p:ext uri="{BB962C8B-B14F-4D97-AF65-F5344CB8AC3E}">
        <p14:creationId xmlns:p14="http://schemas.microsoft.com/office/powerpoint/2010/main" val="1555674700"/>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3971192" y="186237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336742" y="186237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3971192" y="422792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3" hasCustomPrompt="1"/>
          </p:nvPr>
        </p:nvSpPr>
        <p:spPr>
          <a:xfrm>
            <a:off x="6336742" y="4227925"/>
            <a:ext cx="1884066" cy="1884066"/>
          </a:xfrm>
          <a:custGeom>
            <a:avLst/>
            <a:gdLst>
              <a:gd name="connsiteX0" fmla="*/ 942033 w 1884066"/>
              <a:gd name="connsiteY0" fmla="*/ 0 h 1884066"/>
              <a:gd name="connsiteX1" fmla="*/ 1884066 w 1884066"/>
              <a:gd name="connsiteY1" fmla="*/ 942033 h 1884066"/>
              <a:gd name="connsiteX2" fmla="*/ 942033 w 1884066"/>
              <a:gd name="connsiteY2" fmla="*/ 1884066 h 1884066"/>
              <a:gd name="connsiteX3" fmla="*/ 0 w 1884066"/>
              <a:gd name="connsiteY3" fmla="*/ 942033 h 1884066"/>
              <a:gd name="connsiteX4" fmla="*/ 942033 w 1884066"/>
              <a:gd name="connsiteY4" fmla="*/ 0 h 18840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84066" h="1884066">
                <a:moveTo>
                  <a:pt x="942033" y="0"/>
                </a:moveTo>
                <a:cubicBezTo>
                  <a:pt x="1462303" y="0"/>
                  <a:pt x="1884066" y="421763"/>
                  <a:pt x="1884066" y="942033"/>
                </a:cubicBezTo>
                <a:cubicBezTo>
                  <a:pt x="1884066" y="1462303"/>
                  <a:pt x="1462303" y="1884066"/>
                  <a:pt x="942033" y="1884066"/>
                </a:cubicBezTo>
                <a:cubicBezTo>
                  <a:pt x="421763" y="1884066"/>
                  <a:pt x="0" y="1462303"/>
                  <a:pt x="0" y="942033"/>
                </a:cubicBezTo>
                <a:cubicBezTo>
                  <a:pt x="0" y="421763"/>
                  <a:pt x="421763" y="0"/>
                  <a:pt x="942033"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6002424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4230343" y="2221757"/>
            <a:ext cx="2582562" cy="2582562"/>
          </a:xfrm>
          <a:custGeom>
            <a:avLst/>
            <a:gdLst>
              <a:gd name="connsiteX0" fmla="*/ 0 w 2582562"/>
              <a:gd name="connsiteY0" fmla="*/ 0 h 2582562"/>
              <a:gd name="connsiteX1" fmla="*/ 2582562 w 2582562"/>
              <a:gd name="connsiteY1" fmla="*/ 0 h 2582562"/>
              <a:gd name="connsiteX2" fmla="*/ 2582562 w 2582562"/>
              <a:gd name="connsiteY2" fmla="*/ 2582562 h 2582562"/>
              <a:gd name="connsiteX3" fmla="*/ 0 w 2582562"/>
              <a:gd name="connsiteY3" fmla="*/ 2582562 h 2582562"/>
            </a:gdLst>
            <a:ahLst/>
            <a:cxnLst>
              <a:cxn ang="0">
                <a:pos x="connsiteX0" y="connsiteY0"/>
              </a:cxn>
              <a:cxn ang="0">
                <a:pos x="connsiteX1" y="connsiteY1"/>
              </a:cxn>
              <a:cxn ang="0">
                <a:pos x="connsiteX2" y="connsiteY2"/>
              </a:cxn>
              <a:cxn ang="0">
                <a:pos x="connsiteX3" y="connsiteY3"/>
              </a:cxn>
            </a:cxnLst>
            <a:rect l="l" t="t" r="r" b="b"/>
            <a:pathLst>
              <a:path w="2582562" h="2582562">
                <a:moveTo>
                  <a:pt x="0" y="0"/>
                </a:moveTo>
                <a:lnTo>
                  <a:pt x="2582562" y="0"/>
                </a:lnTo>
                <a:lnTo>
                  <a:pt x="2582562" y="2582562"/>
                </a:lnTo>
                <a:lnTo>
                  <a:pt x="0" y="258256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01050371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77119" y="2567756"/>
            <a:ext cx="2582562" cy="2582562"/>
          </a:xfrm>
          <a:custGeom>
            <a:avLst/>
            <a:gdLst>
              <a:gd name="connsiteX0" fmla="*/ 0 w 2582562"/>
              <a:gd name="connsiteY0" fmla="*/ 0 h 2582562"/>
              <a:gd name="connsiteX1" fmla="*/ 2582562 w 2582562"/>
              <a:gd name="connsiteY1" fmla="*/ 0 h 2582562"/>
              <a:gd name="connsiteX2" fmla="*/ 2582562 w 2582562"/>
              <a:gd name="connsiteY2" fmla="*/ 2582562 h 2582562"/>
              <a:gd name="connsiteX3" fmla="*/ 0 w 2582562"/>
              <a:gd name="connsiteY3" fmla="*/ 2582562 h 2582562"/>
            </a:gdLst>
            <a:ahLst/>
            <a:cxnLst>
              <a:cxn ang="0">
                <a:pos x="connsiteX0" y="connsiteY0"/>
              </a:cxn>
              <a:cxn ang="0">
                <a:pos x="connsiteX1" y="connsiteY1"/>
              </a:cxn>
              <a:cxn ang="0">
                <a:pos x="connsiteX2" y="connsiteY2"/>
              </a:cxn>
              <a:cxn ang="0">
                <a:pos x="connsiteX3" y="connsiteY3"/>
              </a:cxn>
            </a:cxnLst>
            <a:rect l="l" t="t" r="r" b="b"/>
            <a:pathLst>
              <a:path w="2582562" h="2582562">
                <a:moveTo>
                  <a:pt x="0" y="0"/>
                </a:moveTo>
                <a:lnTo>
                  <a:pt x="2582562" y="0"/>
                </a:lnTo>
                <a:lnTo>
                  <a:pt x="2582562" y="2582562"/>
                </a:lnTo>
                <a:lnTo>
                  <a:pt x="0" y="258256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78347626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0" y="2608098"/>
            <a:ext cx="12192000" cy="1900747"/>
          </a:xfrm>
          <a:custGeom>
            <a:avLst/>
            <a:gdLst>
              <a:gd name="connsiteX0" fmla="*/ 0 w 12192000"/>
              <a:gd name="connsiteY0" fmla="*/ 0 h 1900747"/>
              <a:gd name="connsiteX1" fmla="*/ 12192000 w 12192000"/>
              <a:gd name="connsiteY1" fmla="*/ 0 h 1900747"/>
              <a:gd name="connsiteX2" fmla="*/ 12192000 w 12192000"/>
              <a:gd name="connsiteY2" fmla="*/ 1900747 h 1900747"/>
              <a:gd name="connsiteX3" fmla="*/ 0 w 12192000"/>
              <a:gd name="connsiteY3" fmla="*/ 1900747 h 1900747"/>
            </a:gdLst>
            <a:ahLst/>
            <a:cxnLst>
              <a:cxn ang="0">
                <a:pos x="connsiteX0" y="connsiteY0"/>
              </a:cxn>
              <a:cxn ang="0">
                <a:pos x="connsiteX1" y="connsiteY1"/>
              </a:cxn>
              <a:cxn ang="0">
                <a:pos x="connsiteX2" y="connsiteY2"/>
              </a:cxn>
              <a:cxn ang="0">
                <a:pos x="connsiteX3" y="connsiteY3"/>
              </a:cxn>
            </a:cxnLst>
            <a:rect l="l" t="t" r="r" b="b"/>
            <a:pathLst>
              <a:path w="12192000" h="1900747">
                <a:moveTo>
                  <a:pt x="0" y="0"/>
                </a:moveTo>
                <a:lnTo>
                  <a:pt x="12192000" y="0"/>
                </a:lnTo>
                <a:lnTo>
                  <a:pt x="12192000" y="1900747"/>
                </a:lnTo>
                <a:lnTo>
                  <a:pt x="0" y="190074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6" name="TextBox 5"/>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8" name="TextBox 7"/>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410353632"/>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10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0" y="2667006"/>
            <a:ext cx="6095998" cy="2936949"/>
          </a:xfrm>
          <a:custGeom>
            <a:avLst/>
            <a:gdLst>
              <a:gd name="connsiteX0" fmla="*/ 0 w 6095998"/>
              <a:gd name="connsiteY0" fmla="*/ 0 h 2936949"/>
              <a:gd name="connsiteX1" fmla="*/ 6095998 w 6095998"/>
              <a:gd name="connsiteY1" fmla="*/ 0 h 2936949"/>
              <a:gd name="connsiteX2" fmla="*/ 6095998 w 6095998"/>
              <a:gd name="connsiteY2" fmla="*/ 2936949 h 2936949"/>
              <a:gd name="connsiteX3" fmla="*/ 0 w 6095998"/>
              <a:gd name="connsiteY3" fmla="*/ 2936949 h 2936949"/>
            </a:gdLst>
            <a:ahLst/>
            <a:cxnLst>
              <a:cxn ang="0">
                <a:pos x="connsiteX0" y="connsiteY0"/>
              </a:cxn>
              <a:cxn ang="0">
                <a:pos x="connsiteX1" y="connsiteY1"/>
              </a:cxn>
              <a:cxn ang="0">
                <a:pos x="connsiteX2" y="connsiteY2"/>
              </a:cxn>
              <a:cxn ang="0">
                <a:pos x="connsiteX3" y="connsiteY3"/>
              </a:cxn>
            </a:cxnLst>
            <a:rect l="l" t="t" r="r" b="b"/>
            <a:pathLst>
              <a:path w="6095998" h="2936949">
                <a:moveTo>
                  <a:pt x="0" y="0"/>
                </a:moveTo>
                <a:lnTo>
                  <a:pt x="6095998" y="0"/>
                </a:lnTo>
                <a:lnTo>
                  <a:pt x="6095998" y="2936949"/>
                </a:lnTo>
                <a:lnTo>
                  <a:pt x="0" y="2936949"/>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6" name="TextBox 5"/>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8" name="TextBox 7"/>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4599708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539102" y="2872080"/>
            <a:ext cx="4554414" cy="3024046"/>
          </a:xfrm>
          <a:custGeom>
            <a:avLst/>
            <a:gdLst>
              <a:gd name="connsiteX0" fmla="*/ 0 w 4554414"/>
              <a:gd name="connsiteY0" fmla="*/ 0 h 3024046"/>
              <a:gd name="connsiteX1" fmla="*/ 4554414 w 4554414"/>
              <a:gd name="connsiteY1" fmla="*/ 0 h 3024046"/>
              <a:gd name="connsiteX2" fmla="*/ 4554414 w 4554414"/>
              <a:gd name="connsiteY2" fmla="*/ 3024046 h 3024046"/>
              <a:gd name="connsiteX3" fmla="*/ 0 w 4554414"/>
              <a:gd name="connsiteY3" fmla="*/ 3024046 h 3024046"/>
            </a:gdLst>
            <a:ahLst/>
            <a:cxnLst>
              <a:cxn ang="0">
                <a:pos x="connsiteX0" y="connsiteY0"/>
              </a:cxn>
              <a:cxn ang="0">
                <a:pos x="connsiteX1" y="connsiteY1"/>
              </a:cxn>
              <a:cxn ang="0">
                <a:pos x="connsiteX2" y="connsiteY2"/>
              </a:cxn>
              <a:cxn ang="0">
                <a:pos x="connsiteX3" y="connsiteY3"/>
              </a:cxn>
            </a:cxnLst>
            <a:rect l="l" t="t" r="r" b="b"/>
            <a:pathLst>
              <a:path w="4554414" h="3024046">
                <a:moveTo>
                  <a:pt x="0" y="0"/>
                </a:moveTo>
                <a:lnTo>
                  <a:pt x="4554414" y="0"/>
                </a:lnTo>
                <a:lnTo>
                  <a:pt x="4554414" y="3024046"/>
                </a:lnTo>
                <a:lnTo>
                  <a:pt x="0" y="302404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2"/>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893510047"/>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2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760959" y="1720634"/>
            <a:ext cx="3348319" cy="4464425"/>
          </a:xfrm>
          <a:custGeom>
            <a:avLst/>
            <a:gdLst>
              <a:gd name="connsiteX0" fmla="*/ 0 w 3348319"/>
              <a:gd name="connsiteY0" fmla="*/ 0 h 4464425"/>
              <a:gd name="connsiteX1" fmla="*/ 3348319 w 3348319"/>
              <a:gd name="connsiteY1" fmla="*/ 0 h 4464425"/>
              <a:gd name="connsiteX2" fmla="*/ 3348319 w 3348319"/>
              <a:gd name="connsiteY2" fmla="*/ 4464425 h 4464425"/>
              <a:gd name="connsiteX3" fmla="*/ 0 w 3348319"/>
              <a:gd name="connsiteY3" fmla="*/ 4464425 h 4464425"/>
            </a:gdLst>
            <a:ahLst/>
            <a:cxnLst>
              <a:cxn ang="0">
                <a:pos x="connsiteX0" y="connsiteY0"/>
              </a:cxn>
              <a:cxn ang="0">
                <a:pos x="connsiteX1" y="connsiteY1"/>
              </a:cxn>
              <a:cxn ang="0">
                <a:pos x="connsiteX2" y="connsiteY2"/>
              </a:cxn>
              <a:cxn ang="0">
                <a:pos x="connsiteX3" y="connsiteY3"/>
              </a:cxn>
            </a:cxnLst>
            <a:rect l="l" t="t" r="r" b="b"/>
            <a:pathLst>
              <a:path w="3348319" h="4464425">
                <a:moveTo>
                  <a:pt x="0" y="0"/>
                </a:moveTo>
                <a:lnTo>
                  <a:pt x="3348319" y="0"/>
                </a:lnTo>
                <a:lnTo>
                  <a:pt x="3348319" y="4464425"/>
                </a:lnTo>
                <a:lnTo>
                  <a:pt x="0" y="446442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99816018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3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4403746" y="1579448"/>
            <a:ext cx="3125459" cy="5278553"/>
          </a:xfrm>
          <a:custGeom>
            <a:avLst/>
            <a:gdLst>
              <a:gd name="connsiteX0" fmla="*/ 0 w 3125459"/>
              <a:gd name="connsiteY0" fmla="*/ 0 h 5278553"/>
              <a:gd name="connsiteX1" fmla="*/ 3125459 w 3125459"/>
              <a:gd name="connsiteY1" fmla="*/ 0 h 5278553"/>
              <a:gd name="connsiteX2" fmla="*/ 3125459 w 3125459"/>
              <a:gd name="connsiteY2" fmla="*/ 5278553 h 5278553"/>
              <a:gd name="connsiteX3" fmla="*/ 0 w 3125459"/>
              <a:gd name="connsiteY3" fmla="*/ 5278553 h 5278553"/>
            </a:gdLst>
            <a:ahLst/>
            <a:cxnLst>
              <a:cxn ang="0">
                <a:pos x="connsiteX0" y="connsiteY0"/>
              </a:cxn>
              <a:cxn ang="0">
                <a:pos x="connsiteX1" y="connsiteY1"/>
              </a:cxn>
              <a:cxn ang="0">
                <a:pos x="connsiteX2" y="connsiteY2"/>
              </a:cxn>
              <a:cxn ang="0">
                <a:pos x="connsiteX3" y="connsiteY3"/>
              </a:cxn>
            </a:cxnLst>
            <a:rect l="l" t="t" r="r" b="b"/>
            <a:pathLst>
              <a:path w="3125459" h="5278553">
                <a:moveTo>
                  <a:pt x="0" y="0"/>
                </a:moveTo>
                <a:lnTo>
                  <a:pt x="3125459" y="0"/>
                </a:lnTo>
                <a:lnTo>
                  <a:pt x="3125459" y="5278553"/>
                </a:lnTo>
                <a:lnTo>
                  <a:pt x="0" y="5278553"/>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42376728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4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087465" y="1541074"/>
            <a:ext cx="3474127" cy="5316926"/>
          </a:xfrm>
          <a:custGeom>
            <a:avLst/>
            <a:gdLst>
              <a:gd name="connsiteX0" fmla="*/ 0 w 3474127"/>
              <a:gd name="connsiteY0" fmla="*/ 0 h 5316926"/>
              <a:gd name="connsiteX1" fmla="*/ 3474127 w 3474127"/>
              <a:gd name="connsiteY1" fmla="*/ 0 h 5316926"/>
              <a:gd name="connsiteX2" fmla="*/ 3474127 w 3474127"/>
              <a:gd name="connsiteY2" fmla="*/ 5316926 h 5316926"/>
              <a:gd name="connsiteX3" fmla="*/ 0 w 3474127"/>
              <a:gd name="connsiteY3" fmla="*/ 5316926 h 5316926"/>
            </a:gdLst>
            <a:ahLst/>
            <a:cxnLst>
              <a:cxn ang="0">
                <a:pos x="connsiteX0" y="connsiteY0"/>
              </a:cxn>
              <a:cxn ang="0">
                <a:pos x="connsiteX1" y="connsiteY1"/>
              </a:cxn>
              <a:cxn ang="0">
                <a:pos x="connsiteX2" y="connsiteY2"/>
              </a:cxn>
              <a:cxn ang="0">
                <a:pos x="connsiteX3" y="connsiteY3"/>
              </a:cxn>
            </a:cxnLst>
            <a:rect l="l" t="t" r="r" b="b"/>
            <a:pathLst>
              <a:path w="3474127" h="5316926">
                <a:moveTo>
                  <a:pt x="0" y="0"/>
                </a:moveTo>
                <a:lnTo>
                  <a:pt x="3474127" y="0"/>
                </a:lnTo>
                <a:lnTo>
                  <a:pt x="3474127" y="5316926"/>
                </a:lnTo>
                <a:lnTo>
                  <a:pt x="0" y="531692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301762744"/>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5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45592" y="1324006"/>
            <a:ext cx="3898392" cy="5533995"/>
          </a:xfrm>
          <a:custGeom>
            <a:avLst/>
            <a:gdLst>
              <a:gd name="connsiteX0" fmla="*/ 0 w 3898392"/>
              <a:gd name="connsiteY0" fmla="*/ 0 h 5533995"/>
              <a:gd name="connsiteX1" fmla="*/ 3898392 w 3898392"/>
              <a:gd name="connsiteY1" fmla="*/ 0 h 5533995"/>
              <a:gd name="connsiteX2" fmla="*/ 3898392 w 3898392"/>
              <a:gd name="connsiteY2" fmla="*/ 5533995 h 5533995"/>
              <a:gd name="connsiteX3" fmla="*/ 0 w 3898392"/>
              <a:gd name="connsiteY3" fmla="*/ 5533995 h 5533995"/>
            </a:gdLst>
            <a:ahLst/>
            <a:cxnLst>
              <a:cxn ang="0">
                <a:pos x="connsiteX0" y="connsiteY0"/>
              </a:cxn>
              <a:cxn ang="0">
                <a:pos x="connsiteX1" y="connsiteY1"/>
              </a:cxn>
              <a:cxn ang="0">
                <a:pos x="connsiteX2" y="connsiteY2"/>
              </a:cxn>
              <a:cxn ang="0">
                <a:pos x="connsiteX3" y="connsiteY3"/>
              </a:cxn>
            </a:cxnLst>
            <a:rect l="l" t="t" r="r" b="b"/>
            <a:pathLst>
              <a:path w="3898392" h="5533995">
                <a:moveTo>
                  <a:pt x="0" y="0"/>
                </a:moveTo>
                <a:lnTo>
                  <a:pt x="3898392" y="0"/>
                </a:lnTo>
                <a:lnTo>
                  <a:pt x="3898392" y="5533995"/>
                </a:lnTo>
                <a:lnTo>
                  <a:pt x="0" y="55339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00240832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16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6110097" y="1033456"/>
            <a:ext cx="5896233" cy="5824545"/>
          </a:xfrm>
          <a:custGeom>
            <a:avLst/>
            <a:gdLst>
              <a:gd name="connsiteX0" fmla="*/ 0 w 5896233"/>
              <a:gd name="connsiteY0" fmla="*/ 0 h 5824545"/>
              <a:gd name="connsiteX1" fmla="*/ 5896233 w 5896233"/>
              <a:gd name="connsiteY1" fmla="*/ 0 h 5824545"/>
              <a:gd name="connsiteX2" fmla="*/ 5896233 w 5896233"/>
              <a:gd name="connsiteY2" fmla="*/ 5824545 h 5824545"/>
              <a:gd name="connsiteX3" fmla="*/ 0 w 5896233"/>
              <a:gd name="connsiteY3" fmla="*/ 5824545 h 5824545"/>
            </a:gdLst>
            <a:ahLst/>
            <a:cxnLst>
              <a:cxn ang="0">
                <a:pos x="connsiteX0" y="connsiteY0"/>
              </a:cxn>
              <a:cxn ang="0">
                <a:pos x="connsiteX1" y="connsiteY1"/>
              </a:cxn>
              <a:cxn ang="0">
                <a:pos x="connsiteX2" y="connsiteY2"/>
              </a:cxn>
              <a:cxn ang="0">
                <a:pos x="connsiteX3" y="connsiteY3"/>
              </a:cxn>
            </a:cxnLst>
            <a:rect l="l" t="t" r="r" b="b"/>
            <a:pathLst>
              <a:path w="5896233" h="5824545">
                <a:moveTo>
                  <a:pt x="0" y="0"/>
                </a:moveTo>
                <a:lnTo>
                  <a:pt x="5896233" y="0"/>
                </a:lnTo>
                <a:lnTo>
                  <a:pt x="5896233" y="5824545"/>
                </a:lnTo>
                <a:lnTo>
                  <a:pt x="0" y="582454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814276154"/>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17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247796" y="2531158"/>
            <a:ext cx="1719072" cy="3038022"/>
          </a:xfrm>
          <a:custGeom>
            <a:avLst/>
            <a:gdLst>
              <a:gd name="connsiteX0" fmla="*/ 0 w 1719072"/>
              <a:gd name="connsiteY0" fmla="*/ 0 h 3038022"/>
              <a:gd name="connsiteX1" fmla="*/ 1719072 w 1719072"/>
              <a:gd name="connsiteY1" fmla="*/ 0 h 3038022"/>
              <a:gd name="connsiteX2" fmla="*/ 1719072 w 1719072"/>
              <a:gd name="connsiteY2" fmla="*/ 3038022 h 3038022"/>
              <a:gd name="connsiteX3" fmla="*/ 0 w 1719072"/>
              <a:gd name="connsiteY3" fmla="*/ 3038022 h 3038022"/>
            </a:gdLst>
            <a:ahLst/>
            <a:cxnLst>
              <a:cxn ang="0">
                <a:pos x="connsiteX0" y="connsiteY0"/>
              </a:cxn>
              <a:cxn ang="0">
                <a:pos x="connsiteX1" y="connsiteY1"/>
              </a:cxn>
              <a:cxn ang="0">
                <a:pos x="connsiteX2" y="connsiteY2"/>
              </a:cxn>
              <a:cxn ang="0">
                <a:pos x="connsiteX3" y="connsiteY3"/>
              </a:cxn>
            </a:cxnLst>
            <a:rect l="l" t="t" r="r" b="b"/>
            <a:pathLst>
              <a:path w="1719072" h="3038022">
                <a:moveTo>
                  <a:pt x="0" y="0"/>
                </a:moveTo>
                <a:lnTo>
                  <a:pt x="1719072" y="0"/>
                </a:lnTo>
                <a:lnTo>
                  <a:pt x="1719072" y="3038022"/>
                </a:lnTo>
                <a:lnTo>
                  <a:pt x="0" y="303802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23151400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701627" y="1718605"/>
            <a:ext cx="2298805" cy="4071814"/>
          </a:xfrm>
          <a:custGeom>
            <a:avLst/>
            <a:gdLst>
              <a:gd name="connsiteX0" fmla="*/ 0 w 2298805"/>
              <a:gd name="connsiteY0" fmla="*/ 0 h 4071814"/>
              <a:gd name="connsiteX1" fmla="*/ 3661 w 2298805"/>
              <a:gd name="connsiteY1" fmla="*/ 0 h 4071814"/>
              <a:gd name="connsiteX2" fmla="*/ 2298805 w 2298805"/>
              <a:gd name="connsiteY2" fmla="*/ 0 h 4071814"/>
              <a:gd name="connsiteX3" fmla="*/ 2298805 w 2298805"/>
              <a:gd name="connsiteY3" fmla="*/ 4056082 h 4071814"/>
              <a:gd name="connsiteX4" fmla="*/ 2298805 w 2298805"/>
              <a:gd name="connsiteY4" fmla="*/ 4071814 h 4071814"/>
              <a:gd name="connsiteX5" fmla="*/ 0 w 2298805"/>
              <a:gd name="connsiteY5" fmla="*/ 4071814 h 40718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98805" h="4071814">
                <a:moveTo>
                  <a:pt x="0" y="0"/>
                </a:moveTo>
                <a:lnTo>
                  <a:pt x="3661" y="0"/>
                </a:lnTo>
                <a:lnTo>
                  <a:pt x="2298805" y="0"/>
                </a:lnTo>
                <a:lnTo>
                  <a:pt x="2298805" y="4056082"/>
                </a:lnTo>
                <a:lnTo>
                  <a:pt x="2298805" y="4071814"/>
                </a:lnTo>
                <a:lnTo>
                  <a:pt x="0" y="407181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963765210"/>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20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317991" y="2079948"/>
            <a:ext cx="2547117" cy="3367566"/>
          </a:xfrm>
          <a:custGeom>
            <a:avLst/>
            <a:gdLst>
              <a:gd name="connsiteX0" fmla="*/ 0 w 2547117"/>
              <a:gd name="connsiteY0" fmla="*/ 0 h 3367566"/>
              <a:gd name="connsiteX1" fmla="*/ 2547117 w 2547117"/>
              <a:gd name="connsiteY1" fmla="*/ 0 h 3367566"/>
              <a:gd name="connsiteX2" fmla="*/ 2547117 w 2547117"/>
              <a:gd name="connsiteY2" fmla="*/ 3367566 h 3367566"/>
              <a:gd name="connsiteX3" fmla="*/ 0 w 2547117"/>
              <a:gd name="connsiteY3" fmla="*/ 3367566 h 3367566"/>
            </a:gdLst>
            <a:ahLst/>
            <a:cxnLst>
              <a:cxn ang="0">
                <a:pos x="connsiteX0" y="connsiteY0"/>
              </a:cxn>
              <a:cxn ang="0">
                <a:pos x="connsiteX1" y="connsiteY1"/>
              </a:cxn>
              <a:cxn ang="0">
                <a:pos x="connsiteX2" y="connsiteY2"/>
              </a:cxn>
              <a:cxn ang="0">
                <a:pos x="connsiteX3" y="connsiteY3"/>
              </a:cxn>
            </a:cxnLst>
            <a:rect l="l" t="t" r="r" b="b"/>
            <a:pathLst>
              <a:path w="2547117" h="3367566">
                <a:moveTo>
                  <a:pt x="0" y="0"/>
                </a:moveTo>
                <a:lnTo>
                  <a:pt x="2547117" y="0"/>
                </a:lnTo>
                <a:lnTo>
                  <a:pt x="2547117" y="3367566"/>
                </a:lnTo>
                <a:lnTo>
                  <a:pt x="0" y="336756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68320843"/>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21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391262" y="2549419"/>
            <a:ext cx="4215161" cy="2639122"/>
          </a:xfrm>
          <a:custGeom>
            <a:avLst/>
            <a:gdLst>
              <a:gd name="connsiteX0" fmla="*/ 0 w 4215161"/>
              <a:gd name="connsiteY0" fmla="*/ 0 h 2639122"/>
              <a:gd name="connsiteX1" fmla="*/ 4215161 w 4215161"/>
              <a:gd name="connsiteY1" fmla="*/ 0 h 2639122"/>
              <a:gd name="connsiteX2" fmla="*/ 4215161 w 4215161"/>
              <a:gd name="connsiteY2" fmla="*/ 2639122 h 2639122"/>
              <a:gd name="connsiteX3" fmla="*/ 0 w 4215161"/>
              <a:gd name="connsiteY3" fmla="*/ 2639122 h 2639122"/>
            </a:gdLst>
            <a:ahLst/>
            <a:cxnLst>
              <a:cxn ang="0">
                <a:pos x="connsiteX0" y="connsiteY0"/>
              </a:cxn>
              <a:cxn ang="0">
                <a:pos x="connsiteX1" y="connsiteY1"/>
              </a:cxn>
              <a:cxn ang="0">
                <a:pos x="connsiteX2" y="connsiteY2"/>
              </a:cxn>
              <a:cxn ang="0">
                <a:pos x="connsiteX3" y="connsiteY3"/>
              </a:cxn>
            </a:cxnLst>
            <a:rect l="l" t="t" r="r" b="b"/>
            <a:pathLst>
              <a:path w="4215161" h="2639122">
                <a:moveTo>
                  <a:pt x="0" y="0"/>
                </a:moveTo>
                <a:lnTo>
                  <a:pt x="4215161" y="0"/>
                </a:lnTo>
                <a:lnTo>
                  <a:pt x="4215161" y="2639122"/>
                </a:lnTo>
                <a:lnTo>
                  <a:pt x="0" y="263912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051849101"/>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22_Custom Layout">
    <p:spTree>
      <p:nvGrpSpPr>
        <p:cNvPr id="1" name=""/>
        <p:cNvGrpSpPr/>
        <p:nvPr/>
      </p:nvGrpSpPr>
      <p:grpSpPr>
        <a:xfrm>
          <a:off x="0" y="0"/>
          <a:ext cx="0" cy="0"/>
          <a:chOff x="0" y="0"/>
          <a:chExt cx="0" cy="0"/>
        </a:xfrm>
      </p:grpSpPr>
      <p:sp>
        <p:nvSpPr>
          <p:cNvPr id="7" name="Picture Placeholder 6"/>
          <p:cNvSpPr>
            <a:spLocks noGrp="1"/>
          </p:cNvSpPr>
          <p:nvPr>
            <p:ph type="pic" sz="quarter" idx="10" hasCustomPrompt="1"/>
          </p:nvPr>
        </p:nvSpPr>
        <p:spPr>
          <a:xfrm>
            <a:off x="4037019" y="2342675"/>
            <a:ext cx="1779180" cy="3155542"/>
          </a:xfrm>
          <a:custGeom>
            <a:avLst/>
            <a:gdLst>
              <a:gd name="connsiteX0" fmla="*/ 0 w 1779180"/>
              <a:gd name="connsiteY0" fmla="*/ 0 h 3155542"/>
              <a:gd name="connsiteX1" fmla="*/ 1779180 w 1779180"/>
              <a:gd name="connsiteY1" fmla="*/ 0 h 3155542"/>
              <a:gd name="connsiteX2" fmla="*/ 1779180 w 1779180"/>
              <a:gd name="connsiteY2" fmla="*/ 3155542 h 3155542"/>
              <a:gd name="connsiteX3" fmla="*/ 0 w 1779180"/>
              <a:gd name="connsiteY3" fmla="*/ 3155542 h 3155542"/>
            </a:gdLst>
            <a:ahLst/>
            <a:cxnLst>
              <a:cxn ang="0">
                <a:pos x="connsiteX0" y="connsiteY0"/>
              </a:cxn>
              <a:cxn ang="0">
                <a:pos x="connsiteX1" y="connsiteY1"/>
              </a:cxn>
              <a:cxn ang="0">
                <a:pos x="connsiteX2" y="connsiteY2"/>
              </a:cxn>
              <a:cxn ang="0">
                <a:pos x="connsiteX3" y="connsiteY3"/>
              </a:cxn>
            </a:cxnLst>
            <a:rect l="l" t="t" r="r" b="b"/>
            <a:pathLst>
              <a:path w="1779180" h="3155542">
                <a:moveTo>
                  <a:pt x="0" y="0"/>
                </a:moveTo>
                <a:lnTo>
                  <a:pt x="1779180" y="0"/>
                </a:lnTo>
                <a:lnTo>
                  <a:pt x="1779180" y="3155542"/>
                </a:lnTo>
                <a:lnTo>
                  <a:pt x="0" y="315554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6375131" y="2337765"/>
            <a:ext cx="1780123" cy="3160452"/>
          </a:xfrm>
          <a:custGeom>
            <a:avLst/>
            <a:gdLst>
              <a:gd name="connsiteX0" fmla="*/ 0 w 1780123"/>
              <a:gd name="connsiteY0" fmla="*/ 0 h 3160452"/>
              <a:gd name="connsiteX1" fmla="*/ 1780123 w 1780123"/>
              <a:gd name="connsiteY1" fmla="*/ 0 h 3160452"/>
              <a:gd name="connsiteX2" fmla="*/ 1780123 w 1780123"/>
              <a:gd name="connsiteY2" fmla="*/ 3160452 h 3160452"/>
              <a:gd name="connsiteX3" fmla="*/ 0 w 1780123"/>
              <a:gd name="connsiteY3" fmla="*/ 3160452 h 3160452"/>
            </a:gdLst>
            <a:ahLst/>
            <a:cxnLst>
              <a:cxn ang="0">
                <a:pos x="connsiteX0" y="connsiteY0"/>
              </a:cxn>
              <a:cxn ang="0">
                <a:pos x="connsiteX1" y="connsiteY1"/>
              </a:cxn>
              <a:cxn ang="0">
                <a:pos x="connsiteX2" y="connsiteY2"/>
              </a:cxn>
              <a:cxn ang="0">
                <a:pos x="connsiteX3" y="connsiteY3"/>
              </a:cxn>
            </a:cxnLst>
            <a:rect l="l" t="t" r="r" b="b"/>
            <a:pathLst>
              <a:path w="1780123" h="3160452">
                <a:moveTo>
                  <a:pt x="0" y="0"/>
                </a:moveTo>
                <a:lnTo>
                  <a:pt x="1780123" y="0"/>
                </a:lnTo>
                <a:lnTo>
                  <a:pt x="1780123" y="3160452"/>
                </a:lnTo>
                <a:lnTo>
                  <a:pt x="0" y="316045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6" name="Oval 5"/>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0556293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23_Custom Layout">
    <p:spTree>
      <p:nvGrpSpPr>
        <p:cNvPr id="1" name=""/>
        <p:cNvGrpSpPr/>
        <p:nvPr/>
      </p:nvGrpSpPr>
      <p:grpSpPr>
        <a:xfrm>
          <a:off x="0" y="0"/>
          <a:ext cx="0" cy="0"/>
          <a:chOff x="0" y="0"/>
          <a:chExt cx="0" cy="0"/>
        </a:xfrm>
      </p:grpSpPr>
      <p:sp>
        <p:nvSpPr>
          <p:cNvPr id="7" name="Picture Placeholder 6"/>
          <p:cNvSpPr>
            <a:spLocks noGrp="1"/>
          </p:cNvSpPr>
          <p:nvPr>
            <p:ph type="pic" sz="quarter" idx="10" hasCustomPrompt="1"/>
          </p:nvPr>
        </p:nvSpPr>
        <p:spPr>
          <a:xfrm>
            <a:off x="3218935" y="2141119"/>
            <a:ext cx="2629014" cy="3494665"/>
          </a:xfrm>
          <a:custGeom>
            <a:avLst/>
            <a:gdLst>
              <a:gd name="connsiteX0" fmla="*/ 0 w 2629014"/>
              <a:gd name="connsiteY0" fmla="*/ 0 h 3494665"/>
              <a:gd name="connsiteX1" fmla="*/ 2629014 w 2629014"/>
              <a:gd name="connsiteY1" fmla="*/ 0 h 3494665"/>
              <a:gd name="connsiteX2" fmla="*/ 2629014 w 2629014"/>
              <a:gd name="connsiteY2" fmla="*/ 3494665 h 3494665"/>
              <a:gd name="connsiteX3" fmla="*/ 0 w 2629014"/>
              <a:gd name="connsiteY3" fmla="*/ 3494665 h 3494665"/>
            </a:gdLst>
            <a:ahLst/>
            <a:cxnLst>
              <a:cxn ang="0">
                <a:pos x="connsiteX0" y="connsiteY0"/>
              </a:cxn>
              <a:cxn ang="0">
                <a:pos x="connsiteX1" y="connsiteY1"/>
              </a:cxn>
              <a:cxn ang="0">
                <a:pos x="connsiteX2" y="connsiteY2"/>
              </a:cxn>
              <a:cxn ang="0">
                <a:pos x="connsiteX3" y="connsiteY3"/>
              </a:cxn>
            </a:cxnLst>
            <a:rect l="l" t="t" r="r" b="b"/>
            <a:pathLst>
              <a:path w="2629014" h="3494665">
                <a:moveTo>
                  <a:pt x="0" y="0"/>
                </a:moveTo>
                <a:lnTo>
                  <a:pt x="2629014" y="0"/>
                </a:lnTo>
                <a:lnTo>
                  <a:pt x="2629014" y="3494665"/>
                </a:lnTo>
                <a:lnTo>
                  <a:pt x="0" y="349466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6450120" y="2214400"/>
            <a:ext cx="2482450" cy="3306880"/>
          </a:xfrm>
          <a:custGeom>
            <a:avLst/>
            <a:gdLst>
              <a:gd name="connsiteX0" fmla="*/ 0 w 2482450"/>
              <a:gd name="connsiteY0" fmla="*/ 0 h 3306880"/>
              <a:gd name="connsiteX1" fmla="*/ 2482450 w 2482450"/>
              <a:gd name="connsiteY1" fmla="*/ 0 h 3306880"/>
              <a:gd name="connsiteX2" fmla="*/ 2482450 w 2482450"/>
              <a:gd name="connsiteY2" fmla="*/ 3306880 h 3306880"/>
              <a:gd name="connsiteX3" fmla="*/ 0 w 2482450"/>
              <a:gd name="connsiteY3" fmla="*/ 3306880 h 3306880"/>
            </a:gdLst>
            <a:ahLst/>
            <a:cxnLst>
              <a:cxn ang="0">
                <a:pos x="connsiteX0" y="connsiteY0"/>
              </a:cxn>
              <a:cxn ang="0">
                <a:pos x="connsiteX1" y="connsiteY1"/>
              </a:cxn>
              <a:cxn ang="0">
                <a:pos x="connsiteX2" y="connsiteY2"/>
              </a:cxn>
              <a:cxn ang="0">
                <a:pos x="connsiteX3" y="connsiteY3"/>
              </a:cxn>
            </a:cxnLst>
            <a:rect l="l" t="t" r="r" b="b"/>
            <a:pathLst>
              <a:path w="2482450" h="3306880">
                <a:moveTo>
                  <a:pt x="0" y="0"/>
                </a:moveTo>
                <a:lnTo>
                  <a:pt x="2482450" y="0"/>
                </a:lnTo>
                <a:lnTo>
                  <a:pt x="2482450" y="3306880"/>
                </a:lnTo>
                <a:lnTo>
                  <a:pt x="0" y="330688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6" name="Oval 5"/>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73647480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24_Custom Layout">
    <p:spTree>
      <p:nvGrpSpPr>
        <p:cNvPr id="1" name=""/>
        <p:cNvGrpSpPr/>
        <p:nvPr/>
      </p:nvGrpSpPr>
      <p:grpSpPr>
        <a:xfrm>
          <a:off x="0" y="0"/>
          <a:ext cx="0" cy="0"/>
          <a:chOff x="0" y="0"/>
          <a:chExt cx="0" cy="0"/>
        </a:xfrm>
      </p:grpSpPr>
      <p:sp>
        <p:nvSpPr>
          <p:cNvPr id="15" name="Picture Placeholder 14"/>
          <p:cNvSpPr>
            <a:spLocks noGrp="1"/>
          </p:cNvSpPr>
          <p:nvPr>
            <p:ph type="pic" sz="quarter" idx="12" hasCustomPrompt="1"/>
          </p:nvPr>
        </p:nvSpPr>
        <p:spPr>
          <a:xfrm>
            <a:off x="5204691" y="2355274"/>
            <a:ext cx="1792224" cy="3174521"/>
          </a:xfrm>
          <a:custGeom>
            <a:avLst/>
            <a:gdLst>
              <a:gd name="connsiteX0" fmla="*/ 0 w 1792224"/>
              <a:gd name="connsiteY0" fmla="*/ 0 h 3174521"/>
              <a:gd name="connsiteX1" fmla="*/ 2854 w 1792224"/>
              <a:gd name="connsiteY1" fmla="*/ 0 h 3174521"/>
              <a:gd name="connsiteX2" fmla="*/ 1792224 w 1792224"/>
              <a:gd name="connsiteY2" fmla="*/ 0 h 3174521"/>
              <a:gd name="connsiteX3" fmla="*/ 1792224 w 1792224"/>
              <a:gd name="connsiteY3" fmla="*/ 3162256 h 3174521"/>
              <a:gd name="connsiteX4" fmla="*/ 1792224 w 1792224"/>
              <a:gd name="connsiteY4" fmla="*/ 3174521 h 3174521"/>
              <a:gd name="connsiteX5" fmla="*/ 0 w 1792224"/>
              <a:gd name="connsiteY5" fmla="*/ 3174521 h 31745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92224" h="3174521">
                <a:moveTo>
                  <a:pt x="0" y="0"/>
                </a:moveTo>
                <a:lnTo>
                  <a:pt x="2854" y="0"/>
                </a:lnTo>
                <a:lnTo>
                  <a:pt x="1792224" y="0"/>
                </a:lnTo>
                <a:lnTo>
                  <a:pt x="1792224" y="3162256"/>
                </a:lnTo>
                <a:lnTo>
                  <a:pt x="1792224" y="3174521"/>
                </a:lnTo>
                <a:lnTo>
                  <a:pt x="0" y="3174521"/>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1" name="Picture Placeholder 10"/>
          <p:cNvSpPr>
            <a:spLocks noGrp="1"/>
          </p:cNvSpPr>
          <p:nvPr>
            <p:ph type="pic" sz="quarter" idx="10" hasCustomPrompt="1"/>
          </p:nvPr>
        </p:nvSpPr>
        <p:spPr>
          <a:xfrm>
            <a:off x="3972645" y="2654833"/>
            <a:ext cx="1444600" cy="2558784"/>
          </a:xfrm>
          <a:custGeom>
            <a:avLst/>
            <a:gdLst>
              <a:gd name="connsiteX0" fmla="*/ 0 w 1444600"/>
              <a:gd name="connsiteY0" fmla="*/ 0 h 2558784"/>
              <a:gd name="connsiteX1" fmla="*/ 1444600 w 1444600"/>
              <a:gd name="connsiteY1" fmla="*/ 0 h 2558784"/>
              <a:gd name="connsiteX2" fmla="*/ 1444600 w 1444600"/>
              <a:gd name="connsiteY2" fmla="*/ 2558784 h 2558784"/>
              <a:gd name="connsiteX3" fmla="*/ 0 w 1444600"/>
              <a:gd name="connsiteY3" fmla="*/ 2558784 h 2558784"/>
            </a:gdLst>
            <a:ahLst/>
            <a:cxnLst>
              <a:cxn ang="0">
                <a:pos x="connsiteX0" y="connsiteY0"/>
              </a:cxn>
              <a:cxn ang="0">
                <a:pos x="connsiteX1" y="connsiteY1"/>
              </a:cxn>
              <a:cxn ang="0">
                <a:pos x="connsiteX2" y="connsiteY2"/>
              </a:cxn>
              <a:cxn ang="0">
                <a:pos x="connsiteX3" y="connsiteY3"/>
              </a:cxn>
            </a:cxnLst>
            <a:rect l="l" t="t" r="r" b="b"/>
            <a:pathLst>
              <a:path w="1444600" h="2558784">
                <a:moveTo>
                  <a:pt x="0" y="0"/>
                </a:moveTo>
                <a:lnTo>
                  <a:pt x="1444600" y="0"/>
                </a:lnTo>
                <a:lnTo>
                  <a:pt x="1444600" y="2558784"/>
                </a:lnTo>
                <a:lnTo>
                  <a:pt x="0" y="25587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774515" y="2654836"/>
            <a:ext cx="1444600" cy="2558782"/>
          </a:xfrm>
          <a:custGeom>
            <a:avLst/>
            <a:gdLst>
              <a:gd name="connsiteX0" fmla="*/ 0 w 1444600"/>
              <a:gd name="connsiteY0" fmla="*/ 0 h 2558782"/>
              <a:gd name="connsiteX1" fmla="*/ 1444600 w 1444600"/>
              <a:gd name="connsiteY1" fmla="*/ 0 h 2558782"/>
              <a:gd name="connsiteX2" fmla="*/ 1444600 w 1444600"/>
              <a:gd name="connsiteY2" fmla="*/ 2558782 h 2558782"/>
              <a:gd name="connsiteX3" fmla="*/ 0 w 1444600"/>
              <a:gd name="connsiteY3" fmla="*/ 2558782 h 2558782"/>
            </a:gdLst>
            <a:ahLst/>
            <a:cxnLst>
              <a:cxn ang="0">
                <a:pos x="connsiteX0" y="connsiteY0"/>
              </a:cxn>
              <a:cxn ang="0">
                <a:pos x="connsiteX1" y="connsiteY1"/>
              </a:cxn>
              <a:cxn ang="0">
                <a:pos x="connsiteX2" y="connsiteY2"/>
              </a:cxn>
              <a:cxn ang="0">
                <a:pos x="connsiteX3" y="connsiteY3"/>
              </a:cxn>
            </a:cxnLst>
            <a:rect l="l" t="t" r="r" b="b"/>
            <a:pathLst>
              <a:path w="1444600" h="2558782">
                <a:moveTo>
                  <a:pt x="0" y="0"/>
                </a:moveTo>
                <a:lnTo>
                  <a:pt x="1444600" y="0"/>
                </a:lnTo>
                <a:lnTo>
                  <a:pt x="1444600" y="2558782"/>
                </a:lnTo>
                <a:lnTo>
                  <a:pt x="0" y="25587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40318209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25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1448620" y="2536538"/>
            <a:ext cx="4334256" cy="2713688"/>
          </a:xfrm>
          <a:custGeom>
            <a:avLst/>
            <a:gdLst>
              <a:gd name="connsiteX0" fmla="*/ 0 w 4334256"/>
              <a:gd name="connsiteY0" fmla="*/ 0 h 2713688"/>
              <a:gd name="connsiteX1" fmla="*/ 4334256 w 4334256"/>
              <a:gd name="connsiteY1" fmla="*/ 0 h 2713688"/>
              <a:gd name="connsiteX2" fmla="*/ 4334256 w 4334256"/>
              <a:gd name="connsiteY2" fmla="*/ 2713688 h 2713688"/>
              <a:gd name="connsiteX3" fmla="*/ 0 w 4334256"/>
              <a:gd name="connsiteY3" fmla="*/ 2713688 h 2713688"/>
            </a:gdLst>
            <a:ahLst/>
            <a:cxnLst>
              <a:cxn ang="0">
                <a:pos x="connsiteX0" y="connsiteY0"/>
              </a:cxn>
              <a:cxn ang="0">
                <a:pos x="connsiteX1" y="connsiteY1"/>
              </a:cxn>
              <a:cxn ang="0">
                <a:pos x="connsiteX2" y="connsiteY2"/>
              </a:cxn>
              <a:cxn ang="0">
                <a:pos x="connsiteX3" y="connsiteY3"/>
              </a:cxn>
            </a:cxnLst>
            <a:rect l="l" t="t" r="r" b="b"/>
            <a:pathLst>
              <a:path w="4334256" h="2713688">
                <a:moveTo>
                  <a:pt x="0" y="0"/>
                </a:moveTo>
                <a:lnTo>
                  <a:pt x="4334256" y="0"/>
                </a:lnTo>
                <a:lnTo>
                  <a:pt x="4334256" y="2713688"/>
                </a:lnTo>
                <a:lnTo>
                  <a:pt x="0" y="271368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5400539" y="3295054"/>
            <a:ext cx="1569642" cy="2092857"/>
          </a:xfrm>
          <a:custGeom>
            <a:avLst/>
            <a:gdLst>
              <a:gd name="connsiteX0" fmla="*/ 0 w 1569642"/>
              <a:gd name="connsiteY0" fmla="*/ 0 h 2092857"/>
              <a:gd name="connsiteX1" fmla="*/ 1569642 w 1569642"/>
              <a:gd name="connsiteY1" fmla="*/ 0 h 2092857"/>
              <a:gd name="connsiteX2" fmla="*/ 1569642 w 1569642"/>
              <a:gd name="connsiteY2" fmla="*/ 2092857 h 2092857"/>
              <a:gd name="connsiteX3" fmla="*/ 0 w 1569642"/>
              <a:gd name="connsiteY3" fmla="*/ 2092857 h 2092857"/>
            </a:gdLst>
            <a:ahLst/>
            <a:cxnLst>
              <a:cxn ang="0">
                <a:pos x="connsiteX0" y="connsiteY0"/>
              </a:cxn>
              <a:cxn ang="0">
                <a:pos x="connsiteX1" y="connsiteY1"/>
              </a:cxn>
              <a:cxn ang="0">
                <a:pos x="connsiteX2" y="connsiteY2"/>
              </a:cxn>
              <a:cxn ang="0">
                <a:pos x="connsiteX3" y="connsiteY3"/>
              </a:cxn>
            </a:cxnLst>
            <a:rect l="l" t="t" r="r" b="b"/>
            <a:pathLst>
              <a:path w="1569642" h="2092857">
                <a:moveTo>
                  <a:pt x="0" y="0"/>
                </a:moveTo>
                <a:lnTo>
                  <a:pt x="1569642" y="0"/>
                </a:lnTo>
                <a:lnTo>
                  <a:pt x="1569642" y="2092857"/>
                </a:lnTo>
                <a:lnTo>
                  <a:pt x="0" y="209285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2" hasCustomPrompt="1"/>
          </p:nvPr>
        </p:nvSpPr>
        <p:spPr>
          <a:xfrm>
            <a:off x="6696602" y="3874819"/>
            <a:ext cx="849511" cy="1502692"/>
          </a:xfrm>
          <a:custGeom>
            <a:avLst/>
            <a:gdLst>
              <a:gd name="connsiteX0" fmla="*/ 0 w 849511"/>
              <a:gd name="connsiteY0" fmla="*/ 0 h 1502692"/>
              <a:gd name="connsiteX1" fmla="*/ 849511 w 849511"/>
              <a:gd name="connsiteY1" fmla="*/ 0 h 1502692"/>
              <a:gd name="connsiteX2" fmla="*/ 849511 w 849511"/>
              <a:gd name="connsiteY2" fmla="*/ 1502692 h 1502692"/>
              <a:gd name="connsiteX3" fmla="*/ 0 w 849511"/>
              <a:gd name="connsiteY3" fmla="*/ 1502692 h 1502692"/>
            </a:gdLst>
            <a:ahLst/>
            <a:cxnLst>
              <a:cxn ang="0">
                <a:pos x="connsiteX0" y="connsiteY0"/>
              </a:cxn>
              <a:cxn ang="0">
                <a:pos x="connsiteX1" y="connsiteY1"/>
              </a:cxn>
              <a:cxn ang="0">
                <a:pos x="connsiteX2" y="connsiteY2"/>
              </a:cxn>
              <a:cxn ang="0">
                <a:pos x="connsiteX3" y="connsiteY3"/>
              </a:cxn>
            </a:cxnLst>
            <a:rect l="l" t="t" r="r" b="b"/>
            <a:pathLst>
              <a:path w="849511" h="1502692">
                <a:moveTo>
                  <a:pt x="0" y="0"/>
                </a:moveTo>
                <a:lnTo>
                  <a:pt x="849511" y="0"/>
                </a:lnTo>
                <a:lnTo>
                  <a:pt x="849511" y="1502692"/>
                </a:lnTo>
                <a:lnTo>
                  <a:pt x="0" y="150269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13567890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26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8686700" y="1435291"/>
            <a:ext cx="1527048" cy="2698668"/>
          </a:xfrm>
          <a:custGeom>
            <a:avLst/>
            <a:gdLst>
              <a:gd name="connsiteX0" fmla="*/ 0 w 1527048"/>
              <a:gd name="connsiteY0" fmla="*/ 0 h 2698668"/>
              <a:gd name="connsiteX1" fmla="*/ 1527048 w 1527048"/>
              <a:gd name="connsiteY1" fmla="*/ 0 h 2698668"/>
              <a:gd name="connsiteX2" fmla="*/ 1527048 w 1527048"/>
              <a:gd name="connsiteY2" fmla="*/ 2698668 h 2698668"/>
              <a:gd name="connsiteX3" fmla="*/ 0 w 1527048"/>
              <a:gd name="connsiteY3" fmla="*/ 2698668 h 2698668"/>
            </a:gdLst>
            <a:ahLst/>
            <a:cxnLst>
              <a:cxn ang="0">
                <a:pos x="connsiteX0" y="connsiteY0"/>
              </a:cxn>
              <a:cxn ang="0">
                <a:pos x="connsiteX1" y="connsiteY1"/>
              </a:cxn>
              <a:cxn ang="0">
                <a:pos x="connsiteX2" y="connsiteY2"/>
              </a:cxn>
              <a:cxn ang="0">
                <a:pos x="connsiteX3" y="connsiteY3"/>
              </a:cxn>
            </a:cxnLst>
            <a:rect l="l" t="t" r="r" b="b"/>
            <a:pathLst>
              <a:path w="1527048" h="2698668">
                <a:moveTo>
                  <a:pt x="0" y="0"/>
                </a:moveTo>
                <a:lnTo>
                  <a:pt x="1527048" y="0"/>
                </a:lnTo>
                <a:lnTo>
                  <a:pt x="1527048" y="2698668"/>
                </a:lnTo>
                <a:lnTo>
                  <a:pt x="0" y="26986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475956"/>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32211309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27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rot="20340000">
            <a:off x="8620536" y="2498259"/>
            <a:ext cx="1664208" cy="2959282"/>
          </a:xfrm>
          <a:custGeom>
            <a:avLst/>
            <a:gdLst>
              <a:gd name="connsiteX0" fmla="*/ 0 w 1664208"/>
              <a:gd name="connsiteY0" fmla="*/ 0 h 2959282"/>
              <a:gd name="connsiteX1" fmla="*/ 1664208 w 1664208"/>
              <a:gd name="connsiteY1" fmla="*/ 0 h 2959282"/>
              <a:gd name="connsiteX2" fmla="*/ 1664208 w 1664208"/>
              <a:gd name="connsiteY2" fmla="*/ 2959282 h 2959282"/>
              <a:gd name="connsiteX3" fmla="*/ 0 w 1664208"/>
              <a:gd name="connsiteY3" fmla="*/ 2959282 h 2959282"/>
            </a:gdLst>
            <a:ahLst/>
            <a:cxnLst>
              <a:cxn ang="0">
                <a:pos x="connsiteX0" y="connsiteY0"/>
              </a:cxn>
              <a:cxn ang="0">
                <a:pos x="connsiteX1" y="connsiteY1"/>
              </a:cxn>
              <a:cxn ang="0">
                <a:pos x="connsiteX2" y="connsiteY2"/>
              </a:cxn>
              <a:cxn ang="0">
                <a:pos x="connsiteX3" y="connsiteY3"/>
              </a:cxn>
            </a:cxnLst>
            <a:rect l="l" t="t" r="r" b="b"/>
            <a:pathLst>
              <a:path w="1664208" h="2959282">
                <a:moveTo>
                  <a:pt x="0" y="0"/>
                </a:moveTo>
                <a:lnTo>
                  <a:pt x="1664208" y="0"/>
                </a:lnTo>
                <a:lnTo>
                  <a:pt x="1664208" y="2959282"/>
                </a:lnTo>
                <a:lnTo>
                  <a:pt x="0" y="29592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22941814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28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53772" y="2942195"/>
            <a:ext cx="2112264" cy="1693552"/>
          </a:xfrm>
          <a:custGeom>
            <a:avLst/>
            <a:gdLst>
              <a:gd name="connsiteX0" fmla="*/ 0 w 2112264"/>
              <a:gd name="connsiteY0" fmla="*/ 0 h 1693552"/>
              <a:gd name="connsiteX1" fmla="*/ 2112264 w 2112264"/>
              <a:gd name="connsiteY1" fmla="*/ 0 h 1693552"/>
              <a:gd name="connsiteX2" fmla="*/ 2112264 w 2112264"/>
              <a:gd name="connsiteY2" fmla="*/ 1693552 h 1693552"/>
              <a:gd name="connsiteX3" fmla="*/ 0 w 2112264"/>
              <a:gd name="connsiteY3" fmla="*/ 1693552 h 1693552"/>
            </a:gdLst>
            <a:ahLst/>
            <a:cxnLst>
              <a:cxn ang="0">
                <a:pos x="connsiteX0" y="connsiteY0"/>
              </a:cxn>
              <a:cxn ang="0">
                <a:pos x="connsiteX1" y="connsiteY1"/>
              </a:cxn>
              <a:cxn ang="0">
                <a:pos x="connsiteX2" y="connsiteY2"/>
              </a:cxn>
              <a:cxn ang="0">
                <a:pos x="connsiteX3" y="connsiteY3"/>
              </a:cxn>
            </a:cxnLst>
            <a:rect l="l" t="t" r="r" b="b"/>
            <a:pathLst>
              <a:path w="2112264" h="1693552">
                <a:moveTo>
                  <a:pt x="0" y="0"/>
                </a:moveTo>
                <a:lnTo>
                  <a:pt x="2112264" y="0"/>
                </a:lnTo>
                <a:lnTo>
                  <a:pt x="2112264" y="1693552"/>
                </a:lnTo>
                <a:lnTo>
                  <a:pt x="0" y="169355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46086219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2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5385925" y="3076305"/>
            <a:ext cx="1407742" cy="1758325"/>
          </a:xfrm>
          <a:custGeom>
            <a:avLst/>
            <a:gdLst>
              <a:gd name="connsiteX0" fmla="*/ 0 w 1407742"/>
              <a:gd name="connsiteY0" fmla="*/ 0 h 1758325"/>
              <a:gd name="connsiteX1" fmla="*/ 1407742 w 1407742"/>
              <a:gd name="connsiteY1" fmla="*/ 0 h 1758325"/>
              <a:gd name="connsiteX2" fmla="*/ 1407742 w 1407742"/>
              <a:gd name="connsiteY2" fmla="*/ 1758325 h 1758325"/>
              <a:gd name="connsiteX3" fmla="*/ 0 w 1407742"/>
              <a:gd name="connsiteY3" fmla="*/ 1758325 h 1758325"/>
            </a:gdLst>
            <a:ahLst/>
            <a:cxnLst>
              <a:cxn ang="0">
                <a:pos x="connsiteX0" y="connsiteY0"/>
              </a:cxn>
              <a:cxn ang="0">
                <a:pos x="connsiteX1" y="connsiteY1"/>
              </a:cxn>
              <a:cxn ang="0">
                <a:pos x="connsiteX2" y="connsiteY2"/>
              </a:cxn>
              <a:cxn ang="0">
                <a:pos x="connsiteX3" y="connsiteY3"/>
              </a:cxn>
            </a:cxnLst>
            <a:rect l="l" t="t" r="r" b="b"/>
            <a:pathLst>
              <a:path w="1407742" h="1758325">
                <a:moveTo>
                  <a:pt x="0" y="0"/>
                </a:moveTo>
                <a:lnTo>
                  <a:pt x="1407742" y="0"/>
                </a:lnTo>
                <a:lnTo>
                  <a:pt x="1407742" y="1758325"/>
                </a:lnTo>
                <a:lnTo>
                  <a:pt x="0" y="175832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653286888"/>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30_Custom Layout">
    <p:spTree>
      <p:nvGrpSpPr>
        <p:cNvPr id="1" name=""/>
        <p:cNvGrpSpPr/>
        <p:nvPr/>
      </p:nvGrpSpPr>
      <p:grpSpPr>
        <a:xfrm>
          <a:off x="0" y="0"/>
          <a:ext cx="0" cy="0"/>
          <a:chOff x="0" y="0"/>
          <a:chExt cx="0" cy="0"/>
        </a:xfrm>
      </p:grpSpPr>
      <p:sp>
        <p:nvSpPr>
          <p:cNvPr id="18" name="Picture Placeholder 17"/>
          <p:cNvSpPr>
            <a:spLocks noGrp="1"/>
          </p:cNvSpPr>
          <p:nvPr>
            <p:ph type="pic" sz="quarter" idx="10" hasCustomPrompt="1"/>
          </p:nvPr>
        </p:nvSpPr>
        <p:spPr>
          <a:xfrm>
            <a:off x="839466"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1" hasCustomPrompt="1"/>
          </p:nvPr>
        </p:nvSpPr>
        <p:spPr>
          <a:xfrm>
            <a:off x="2990276"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2" hasCustomPrompt="1"/>
          </p:nvPr>
        </p:nvSpPr>
        <p:spPr>
          <a:xfrm>
            <a:off x="5139821"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3" hasCustomPrompt="1"/>
          </p:nvPr>
        </p:nvSpPr>
        <p:spPr>
          <a:xfrm>
            <a:off x="7290631"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4" hasCustomPrompt="1"/>
          </p:nvPr>
        </p:nvSpPr>
        <p:spPr>
          <a:xfrm>
            <a:off x="9441440" y="196511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5" hasCustomPrompt="1"/>
          </p:nvPr>
        </p:nvSpPr>
        <p:spPr>
          <a:xfrm>
            <a:off x="839466"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5" name="Picture Placeholder 24"/>
          <p:cNvSpPr>
            <a:spLocks noGrp="1"/>
          </p:cNvSpPr>
          <p:nvPr>
            <p:ph type="pic" sz="quarter" idx="16" hasCustomPrompt="1"/>
          </p:nvPr>
        </p:nvSpPr>
        <p:spPr>
          <a:xfrm>
            <a:off x="2990276"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6" name="Picture Placeholder 25"/>
          <p:cNvSpPr>
            <a:spLocks noGrp="1"/>
          </p:cNvSpPr>
          <p:nvPr>
            <p:ph type="pic" sz="quarter" idx="17" hasCustomPrompt="1"/>
          </p:nvPr>
        </p:nvSpPr>
        <p:spPr>
          <a:xfrm>
            <a:off x="5139821"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7" name="Picture Placeholder 26"/>
          <p:cNvSpPr>
            <a:spLocks noGrp="1"/>
          </p:cNvSpPr>
          <p:nvPr>
            <p:ph type="pic" sz="quarter" idx="18" hasCustomPrompt="1"/>
          </p:nvPr>
        </p:nvSpPr>
        <p:spPr>
          <a:xfrm>
            <a:off x="7290631"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8" name="Picture Placeholder 27"/>
          <p:cNvSpPr>
            <a:spLocks noGrp="1"/>
          </p:cNvSpPr>
          <p:nvPr>
            <p:ph type="pic" sz="quarter" idx="19" hasCustomPrompt="1"/>
          </p:nvPr>
        </p:nvSpPr>
        <p:spPr>
          <a:xfrm>
            <a:off x="9441440" y="4115927"/>
            <a:ext cx="1911096" cy="1911096"/>
          </a:xfrm>
          <a:custGeom>
            <a:avLst/>
            <a:gdLst>
              <a:gd name="connsiteX0" fmla="*/ 0 w 1911096"/>
              <a:gd name="connsiteY0" fmla="*/ 0 h 1911096"/>
              <a:gd name="connsiteX1" fmla="*/ 1911096 w 1911096"/>
              <a:gd name="connsiteY1" fmla="*/ 0 h 1911096"/>
              <a:gd name="connsiteX2" fmla="*/ 1911096 w 1911096"/>
              <a:gd name="connsiteY2" fmla="*/ 1911096 h 1911096"/>
              <a:gd name="connsiteX3" fmla="*/ 0 w 1911096"/>
              <a:gd name="connsiteY3" fmla="*/ 1911096 h 1911096"/>
            </a:gdLst>
            <a:ahLst/>
            <a:cxnLst>
              <a:cxn ang="0">
                <a:pos x="connsiteX0" y="connsiteY0"/>
              </a:cxn>
              <a:cxn ang="0">
                <a:pos x="connsiteX1" y="connsiteY1"/>
              </a:cxn>
              <a:cxn ang="0">
                <a:pos x="connsiteX2" y="connsiteY2"/>
              </a:cxn>
              <a:cxn ang="0">
                <a:pos x="connsiteX3" y="connsiteY3"/>
              </a:cxn>
            </a:cxnLst>
            <a:rect l="l" t="t" r="r" b="b"/>
            <a:pathLst>
              <a:path w="1911096" h="1911096">
                <a:moveTo>
                  <a:pt x="0" y="0"/>
                </a:moveTo>
                <a:lnTo>
                  <a:pt x="1911096" y="0"/>
                </a:lnTo>
                <a:lnTo>
                  <a:pt x="1911096" y="1911096"/>
                </a:lnTo>
                <a:lnTo>
                  <a:pt x="0" y="191109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Oval 13"/>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5" name="TextBox 14"/>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7" name="TextBox 16"/>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760485216"/>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31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1524"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062984"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2" hasCustomPrompt="1"/>
          </p:nvPr>
        </p:nvSpPr>
        <p:spPr>
          <a:xfrm>
            <a:off x="8125968" y="2796540"/>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3" hasCustomPrompt="1"/>
          </p:nvPr>
        </p:nvSpPr>
        <p:spPr>
          <a:xfrm>
            <a:off x="2034540"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4" hasCustomPrompt="1"/>
          </p:nvPr>
        </p:nvSpPr>
        <p:spPr>
          <a:xfrm>
            <a:off x="6099048"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5" hasCustomPrompt="1"/>
          </p:nvPr>
        </p:nvSpPr>
        <p:spPr>
          <a:xfrm>
            <a:off x="10162032" y="482650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0"/>
                </a:lnTo>
                <a:lnTo>
                  <a:pt x="2029968" y="2029968"/>
                </a:lnTo>
                <a:lnTo>
                  <a:pt x="0" y="202996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431954844"/>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35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838201"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4585290"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2" hasCustomPrompt="1"/>
          </p:nvPr>
        </p:nvSpPr>
        <p:spPr>
          <a:xfrm>
            <a:off x="8332380" y="1802895"/>
            <a:ext cx="3021481" cy="3017520"/>
          </a:xfrm>
          <a:custGeom>
            <a:avLst/>
            <a:gdLst>
              <a:gd name="connsiteX0" fmla="*/ 0 w 3021481"/>
              <a:gd name="connsiteY0" fmla="*/ 0 h 3017520"/>
              <a:gd name="connsiteX1" fmla="*/ 3021481 w 3021481"/>
              <a:gd name="connsiteY1" fmla="*/ 0 h 3017520"/>
              <a:gd name="connsiteX2" fmla="*/ 3021481 w 3021481"/>
              <a:gd name="connsiteY2" fmla="*/ 3017520 h 3017520"/>
              <a:gd name="connsiteX3" fmla="*/ 0 w 3021481"/>
              <a:gd name="connsiteY3" fmla="*/ 3017520 h 3017520"/>
            </a:gdLst>
            <a:ahLst/>
            <a:cxnLst>
              <a:cxn ang="0">
                <a:pos x="connsiteX0" y="connsiteY0"/>
              </a:cxn>
              <a:cxn ang="0">
                <a:pos x="connsiteX1" y="connsiteY1"/>
              </a:cxn>
              <a:cxn ang="0">
                <a:pos x="connsiteX2" y="connsiteY2"/>
              </a:cxn>
              <a:cxn ang="0">
                <a:pos x="connsiteX3" y="connsiteY3"/>
              </a:cxn>
            </a:cxnLst>
            <a:rect l="l" t="t" r="r" b="b"/>
            <a:pathLst>
              <a:path w="3021481" h="3017520">
                <a:moveTo>
                  <a:pt x="0" y="0"/>
                </a:moveTo>
                <a:lnTo>
                  <a:pt x="3021481" y="0"/>
                </a:lnTo>
                <a:lnTo>
                  <a:pt x="3021481" y="3017520"/>
                </a:lnTo>
                <a:lnTo>
                  <a:pt x="0" y="301752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52772035"/>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36_Custom Layout">
    <p:spTree>
      <p:nvGrpSpPr>
        <p:cNvPr id="1" name=""/>
        <p:cNvGrpSpPr/>
        <p:nvPr/>
      </p:nvGrpSpPr>
      <p:grpSpPr>
        <a:xfrm>
          <a:off x="0" y="0"/>
          <a:ext cx="0" cy="0"/>
          <a:chOff x="0" y="0"/>
          <a:chExt cx="0" cy="0"/>
        </a:xfrm>
      </p:grpSpPr>
      <p:sp>
        <p:nvSpPr>
          <p:cNvPr id="11" name="Picture Placeholder 10"/>
          <p:cNvSpPr>
            <a:spLocks noGrp="1"/>
          </p:cNvSpPr>
          <p:nvPr>
            <p:ph type="pic" sz="quarter" idx="10" hasCustomPrompt="1"/>
          </p:nvPr>
        </p:nvSpPr>
        <p:spPr>
          <a:xfrm>
            <a:off x="838202"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1" hasCustomPrompt="1"/>
          </p:nvPr>
        </p:nvSpPr>
        <p:spPr>
          <a:xfrm>
            <a:off x="4474634"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2" hasCustomPrompt="1"/>
          </p:nvPr>
        </p:nvSpPr>
        <p:spPr>
          <a:xfrm>
            <a:off x="8111067" y="1802895"/>
            <a:ext cx="3242733" cy="2157984"/>
          </a:xfrm>
          <a:custGeom>
            <a:avLst/>
            <a:gdLst>
              <a:gd name="connsiteX0" fmla="*/ 0 w 3242733"/>
              <a:gd name="connsiteY0" fmla="*/ 0 h 2157984"/>
              <a:gd name="connsiteX1" fmla="*/ 3242733 w 3242733"/>
              <a:gd name="connsiteY1" fmla="*/ 0 h 2157984"/>
              <a:gd name="connsiteX2" fmla="*/ 3242733 w 3242733"/>
              <a:gd name="connsiteY2" fmla="*/ 2157984 h 2157984"/>
              <a:gd name="connsiteX3" fmla="*/ 0 w 3242733"/>
              <a:gd name="connsiteY3" fmla="*/ 2157984 h 2157984"/>
            </a:gdLst>
            <a:ahLst/>
            <a:cxnLst>
              <a:cxn ang="0">
                <a:pos x="connsiteX0" y="connsiteY0"/>
              </a:cxn>
              <a:cxn ang="0">
                <a:pos x="connsiteX1" y="connsiteY1"/>
              </a:cxn>
              <a:cxn ang="0">
                <a:pos x="connsiteX2" y="connsiteY2"/>
              </a:cxn>
              <a:cxn ang="0">
                <a:pos x="connsiteX3" y="connsiteY3"/>
              </a:cxn>
            </a:cxnLst>
            <a:rect l="l" t="t" r="r" b="b"/>
            <a:pathLst>
              <a:path w="3242733" h="2157984">
                <a:moveTo>
                  <a:pt x="0" y="0"/>
                </a:moveTo>
                <a:lnTo>
                  <a:pt x="3242733" y="0"/>
                </a:lnTo>
                <a:lnTo>
                  <a:pt x="3242733" y="2157984"/>
                </a:lnTo>
                <a:lnTo>
                  <a:pt x="0" y="215798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0" name="TextBox 9"/>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266999530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37_Custom Layout">
    <p:spTree>
      <p:nvGrpSpPr>
        <p:cNvPr id="1" name=""/>
        <p:cNvGrpSpPr/>
        <p:nvPr/>
      </p:nvGrpSpPr>
      <p:grpSpPr>
        <a:xfrm>
          <a:off x="0" y="0"/>
          <a:ext cx="0" cy="0"/>
          <a:chOff x="0" y="0"/>
          <a:chExt cx="0" cy="0"/>
        </a:xfrm>
      </p:grpSpPr>
      <p:sp>
        <p:nvSpPr>
          <p:cNvPr id="31" name="Picture Placeholder 30"/>
          <p:cNvSpPr>
            <a:spLocks noGrp="1"/>
          </p:cNvSpPr>
          <p:nvPr>
            <p:ph type="pic" sz="quarter" idx="11" hasCustomPrompt="1"/>
          </p:nvPr>
        </p:nvSpPr>
        <p:spPr>
          <a:xfrm>
            <a:off x="8412482" y="4718076"/>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30" name="Picture Placeholder 29"/>
          <p:cNvSpPr>
            <a:spLocks noGrp="1"/>
          </p:cNvSpPr>
          <p:nvPr>
            <p:ph type="pic" sz="quarter" idx="15" hasCustomPrompt="1"/>
          </p:nvPr>
        </p:nvSpPr>
        <p:spPr>
          <a:xfrm>
            <a:off x="6133256" y="3168040"/>
            <a:ext cx="2233505" cy="3067940"/>
          </a:xfrm>
          <a:custGeom>
            <a:avLst/>
            <a:gdLst>
              <a:gd name="connsiteX0" fmla="*/ 0 w 2233505"/>
              <a:gd name="connsiteY0" fmla="*/ 0 h 3067940"/>
              <a:gd name="connsiteX1" fmla="*/ 2233505 w 2233505"/>
              <a:gd name="connsiteY1" fmla="*/ 0 h 3067940"/>
              <a:gd name="connsiteX2" fmla="*/ 2233505 w 2233505"/>
              <a:gd name="connsiteY2" fmla="*/ 3067940 h 3067940"/>
              <a:gd name="connsiteX3" fmla="*/ 0 w 2233505"/>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2233505" h="3067940">
                <a:moveTo>
                  <a:pt x="0" y="0"/>
                </a:moveTo>
                <a:lnTo>
                  <a:pt x="2233505" y="0"/>
                </a:lnTo>
                <a:lnTo>
                  <a:pt x="2233505"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9" name="Picture Placeholder 28"/>
          <p:cNvSpPr>
            <a:spLocks noGrp="1"/>
          </p:cNvSpPr>
          <p:nvPr>
            <p:ph type="pic" sz="quarter" idx="16" hasCustomPrompt="1"/>
          </p:nvPr>
        </p:nvSpPr>
        <p:spPr>
          <a:xfrm>
            <a:off x="8412482" y="1604417"/>
            <a:ext cx="2233507" cy="3067940"/>
          </a:xfrm>
          <a:custGeom>
            <a:avLst/>
            <a:gdLst>
              <a:gd name="connsiteX0" fmla="*/ 0 w 2233507"/>
              <a:gd name="connsiteY0" fmla="*/ 0 h 3067940"/>
              <a:gd name="connsiteX1" fmla="*/ 2233507 w 2233507"/>
              <a:gd name="connsiteY1" fmla="*/ 0 h 3067940"/>
              <a:gd name="connsiteX2" fmla="*/ 2233507 w 2233507"/>
              <a:gd name="connsiteY2" fmla="*/ 3067940 h 3067940"/>
              <a:gd name="connsiteX3" fmla="*/ 0 w 2233507"/>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2233507" h="3067940">
                <a:moveTo>
                  <a:pt x="0" y="0"/>
                </a:moveTo>
                <a:lnTo>
                  <a:pt x="2233507" y="0"/>
                </a:lnTo>
                <a:lnTo>
                  <a:pt x="2233507"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2" hasCustomPrompt="1"/>
          </p:nvPr>
        </p:nvSpPr>
        <p:spPr>
          <a:xfrm>
            <a:off x="6133256" y="1604417"/>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3" hasCustomPrompt="1"/>
          </p:nvPr>
        </p:nvSpPr>
        <p:spPr>
          <a:xfrm>
            <a:off x="3854029" y="4718076"/>
            <a:ext cx="2233507" cy="1517904"/>
          </a:xfrm>
          <a:custGeom>
            <a:avLst/>
            <a:gdLst>
              <a:gd name="connsiteX0" fmla="*/ 0 w 2233507"/>
              <a:gd name="connsiteY0" fmla="*/ 0 h 1517904"/>
              <a:gd name="connsiteX1" fmla="*/ 2233507 w 2233507"/>
              <a:gd name="connsiteY1" fmla="*/ 0 h 1517904"/>
              <a:gd name="connsiteX2" fmla="*/ 2233507 w 2233507"/>
              <a:gd name="connsiteY2" fmla="*/ 1517904 h 1517904"/>
              <a:gd name="connsiteX3" fmla="*/ 0 w 2233507"/>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7" h="1517904">
                <a:moveTo>
                  <a:pt x="0" y="0"/>
                </a:moveTo>
                <a:lnTo>
                  <a:pt x="2233507" y="0"/>
                </a:lnTo>
                <a:lnTo>
                  <a:pt x="2233507"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4" hasCustomPrompt="1"/>
          </p:nvPr>
        </p:nvSpPr>
        <p:spPr>
          <a:xfrm>
            <a:off x="1574801" y="4718076"/>
            <a:ext cx="2233506" cy="1517904"/>
          </a:xfrm>
          <a:custGeom>
            <a:avLst/>
            <a:gdLst>
              <a:gd name="connsiteX0" fmla="*/ 0 w 2233506"/>
              <a:gd name="connsiteY0" fmla="*/ 0 h 1517904"/>
              <a:gd name="connsiteX1" fmla="*/ 2233506 w 2233506"/>
              <a:gd name="connsiteY1" fmla="*/ 0 h 1517904"/>
              <a:gd name="connsiteX2" fmla="*/ 2233506 w 2233506"/>
              <a:gd name="connsiteY2" fmla="*/ 1517904 h 1517904"/>
              <a:gd name="connsiteX3" fmla="*/ 0 w 2233506"/>
              <a:gd name="connsiteY3" fmla="*/ 1517904 h 1517904"/>
            </a:gdLst>
            <a:ahLst/>
            <a:cxnLst>
              <a:cxn ang="0">
                <a:pos x="connsiteX0" y="connsiteY0"/>
              </a:cxn>
              <a:cxn ang="0">
                <a:pos x="connsiteX1" y="connsiteY1"/>
              </a:cxn>
              <a:cxn ang="0">
                <a:pos x="connsiteX2" y="connsiteY2"/>
              </a:cxn>
              <a:cxn ang="0">
                <a:pos x="connsiteX3" y="connsiteY3"/>
              </a:cxn>
            </a:cxnLst>
            <a:rect l="l" t="t" r="r" b="b"/>
            <a:pathLst>
              <a:path w="2233506" h="1517904">
                <a:moveTo>
                  <a:pt x="0" y="0"/>
                </a:moveTo>
                <a:lnTo>
                  <a:pt x="2233506" y="0"/>
                </a:lnTo>
                <a:lnTo>
                  <a:pt x="2233506" y="1517904"/>
                </a:lnTo>
                <a:lnTo>
                  <a:pt x="0" y="151790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0" hasCustomPrompt="1"/>
          </p:nvPr>
        </p:nvSpPr>
        <p:spPr>
          <a:xfrm>
            <a:off x="1574802" y="1604417"/>
            <a:ext cx="4512733" cy="3067940"/>
          </a:xfrm>
          <a:custGeom>
            <a:avLst/>
            <a:gdLst>
              <a:gd name="connsiteX0" fmla="*/ 0 w 4512733"/>
              <a:gd name="connsiteY0" fmla="*/ 0 h 3067940"/>
              <a:gd name="connsiteX1" fmla="*/ 4512733 w 4512733"/>
              <a:gd name="connsiteY1" fmla="*/ 0 h 3067940"/>
              <a:gd name="connsiteX2" fmla="*/ 4512733 w 4512733"/>
              <a:gd name="connsiteY2" fmla="*/ 3067940 h 3067940"/>
              <a:gd name="connsiteX3" fmla="*/ 0 w 4512733"/>
              <a:gd name="connsiteY3" fmla="*/ 3067940 h 3067940"/>
            </a:gdLst>
            <a:ahLst/>
            <a:cxnLst>
              <a:cxn ang="0">
                <a:pos x="connsiteX0" y="connsiteY0"/>
              </a:cxn>
              <a:cxn ang="0">
                <a:pos x="connsiteX1" y="connsiteY1"/>
              </a:cxn>
              <a:cxn ang="0">
                <a:pos x="connsiteX2" y="connsiteY2"/>
              </a:cxn>
              <a:cxn ang="0">
                <a:pos x="connsiteX3" y="connsiteY3"/>
              </a:cxn>
            </a:cxnLst>
            <a:rect l="l" t="t" r="r" b="b"/>
            <a:pathLst>
              <a:path w="4512733" h="3067940">
                <a:moveTo>
                  <a:pt x="0" y="0"/>
                </a:moveTo>
                <a:lnTo>
                  <a:pt x="4512733" y="0"/>
                </a:lnTo>
                <a:lnTo>
                  <a:pt x="4512733" y="3067940"/>
                </a:lnTo>
                <a:lnTo>
                  <a:pt x="0" y="306794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1" name="Oval 10"/>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2" name="TextBox 11"/>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4" name="TextBox 13"/>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59477588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32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838199"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421052"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2" hasCustomPrompt="1"/>
          </p:nvPr>
        </p:nvSpPr>
        <p:spPr>
          <a:xfrm>
            <a:off x="7999362" y="1690613"/>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3" hasCustomPrompt="1"/>
          </p:nvPr>
        </p:nvSpPr>
        <p:spPr>
          <a:xfrm>
            <a:off x="838199"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4" hasCustomPrompt="1"/>
          </p:nvPr>
        </p:nvSpPr>
        <p:spPr>
          <a:xfrm>
            <a:off x="4421052"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5" hasCustomPrompt="1"/>
          </p:nvPr>
        </p:nvSpPr>
        <p:spPr>
          <a:xfrm>
            <a:off x="7999362" y="4157735"/>
            <a:ext cx="3349896" cy="2231136"/>
          </a:xfrm>
          <a:custGeom>
            <a:avLst/>
            <a:gdLst>
              <a:gd name="connsiteX0" fmla="*/ 0 w 3349896"/>
              <a:gd name="connsiteY0" fmla="*/ 0 h 2231136"/>
              <a:gd name="connsiteX1" fmla="*/ 3349896 w 3349896"/>
              <a:gd name="connsiteY1" fmla="*/ 0 h 2231136"/>
              <a:gd name="connsiteX2" fmla="*/ 3349896 w 3349896"/>
              <a:gd name="connsiteY2" fmla="*/ 2231136 h 2231136"/>
              <a:gd name="connsiteX3" fmla="*/ 0 w 3349896"/>
              <a:gd name="connsiteY3" fmla="*/ 2231136 h 2231136"/>
            </a:gdLst>
            <a:ahLst/>
            <a:cxnLst>
              <a:cxn ang="0">
                <a:pos x="connsiteX0" y="connsiteY0"/>
              </a:cxn>
              <a:cxn ang="0">
                <a:pos x="connsiteX1" y="connsiteY1"/>
              </a:cxn>
              <a:cxn ang="0">
                <a:pos x="connsiteX2" y="connsiteY2"/>
              </a:cxn>
              <a:cxn ang="0">
                <a:pos x="connsiteX3" y="connsiteY3"/>
              </a:cxn>
            </a:cxnLst>
            <a:rect l="l" t="t" r="r" b="b"/>
            <a:pathLst>
              <a:path w="3349896" h="2231136">
                <a:moveTo>
                  <a:pt x="0" y="0"/>
                </a:moveTo>
                <a:lnTo>
                  <a:pt x="3349896" y="0"/>
                </a:lnTo>
                <a:lnTo>
                  <a:pt x="3349896" y="2231136"/>
                </a:lnTo>
                <a:lnTo>
                  <a:pt x="0" y="2231136"/>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94926804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33_Custom Layout">
    <p:spTree>
      <p:nvGrpSpPr>
        <p:cNvPr id="1" name=""/>
        <p:cNvGrpSpPr/>
        <p:nvPr/>
      </p:nvGrpSpPr>
      <p:grpSpPr>
        <a:xfrm>
          <a:off x="0" y="0"/>
          <a:ext cx="0" cy="0"/>
          <a:chOff x="0" y="0"/>
          <a:chExt cx="0" cy="0"/>
        </a:xfrm>
      </p:grpSpPr>
      <p:sp>
        <p:nvSpPr>
          <p:cNvPr id="14" name="Picture Placeholder 13"/>
          <p:cNvSpPr>
            <a:spLocks noGrp="1"/>
          </p:cNvSpPr>
          <p:nvPr>
            <p:ph type="pic" sz="quarter" idx="10" hasCustomPrompt="1"/>
          </p:nvPr>
        </p:nvSpPr>
        <p:spPr>
          <a:xfrm>
            <a:off x="906460"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1" hasCustomPrompt="1"/>
          </p:nvPr>
        </p:nvSpPr>
        <p:spPr>
          <a:xfrm>
            <a:off x="4466054"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2" hasCustomPrompt="1"/>
          </p:nvPr>
        </p:nvSpPr>
        <p:spPr>
          <a:xfrm>
            <a:off x="8025649" y="1829890"/>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3" hasCustomPrompt="1"/>
          </p:nvPr>
        </p:nvSpPr>
        <p:spPr>
          <a:xfrm>
            <a:off x="906460"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4" hasCustomPrompt="1"/>
          </p:nvPr>
        </p:nvSpPr>
        <p:spPr>
          <a:xfrm>
            <a:off x="4466054"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5" hasCustomPrompt="1"/>
          </p:nvPr>
        </p:nvSpPr>
        <p:spPr>
          <a:xfrm>
            <a:off x="8025649" y="4141427"/>
            <a:ext cx="3328152" cy="2080095"/>
          </a:xfrm>
          <a:custGeom>
            <a:avLst/>
            <a:gdLst>
              <a:gd name="connsiteX0" fmla="*/ 0 w 3328152"/>
              <a:gd name="connsiteY0" fmla="*/ 0 h 2080095"/>
              <a:gd name="connsiteX1" fmla="*/ 3328152 w 3328152"/>
              <a:gd name="connsiteY1" fmla="*/ 0 h 2080095"/>
              <a:gd name="connsiteX2" fmla="*/ 3328152 w 3328152"/>
              <a:gd name="connsiteY2" fmla="*/ 2080095 h 2080095"/>
              <a:gd name="connsiteX3" fmla="*/ 0 w 3328152"/>
              <a:gd name="connsiteY3" fmla="*/ 2080095 h 2080095"/>
            </a:gdLst>
            <a:ahLst/>
            <a:cxnLst>
              <a:cxn ang="0">
                <a:pos x="connsiteX0" y="connsiteY0"/>
              </a:cxn>
              <a:cxn ang="0">
                <a:pos x="connsiteX1" y="connsiteY1"/>
              </a:cxn>
              <a:cxn ang="0">
                <a:pos x="connsiteX2" y="connsiteY2"/>
              </a:cxn>
              <a:cxn ang="0">
                <a:pos x="connsiteX3" y="connsiteY3"/>
              </a:cxn>
            </a:cxnLst>
            <a:rect l="l" t="t" r="r" b="b"/>
            <a:pathLst>
              <a:path w="3328152" h="2080095">
                <a:moveTo>
                  <a:pt x="0" y="0"/>
                </a:moveTo>
                <a:lnTo>
                  <a:pt x="3328152" y="0"/>
                </a:lnTo>
                <a:lnTo>
                  <a:pt x="3328152" y="2080095"/>
                </a:lnTo>
                <a:lnTo>
                  <a:pt x="0" y="20800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3" name="TextBox 1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615709408"/>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34_Custom Layout">
    <p:spTree>
      <p:nvGrpSpPr>
        <p:cNvPr id="1" name=""/>
        <p:cNvGrpSpPr/>
        <p:nvPr/>
      </p:nvGrpSpPr>
      <p:grpSpPr>
        <a:xfrm>
          <a:off x="0" y="0"/>
          <a:ext cx="0" cy="0"/>
          <a:chOff x="0" y="0"/>
          <a:chExt cx="0" cy="0"/>
        </a:xfrm>
      </p:grpSpPr>
      <p:sp>
        <p:nvSpPr>
          <p:cNvPr id="14" name="Picture Placeholder 13"/>
          <p:cNvSpPr>
            <a:spLocks noGrp="1"/>
          </p:cNvSpPr>
          <p:nvPr>
            <p:ph type="pic" sz="quarter" idx="11" hasCustomPrompt="1"/>
          </p:nvPr>
        </p:nvSpPr>
        <p:spPr>
          <a:xfrm>
            <a:off x="5160694" y="3967779"/>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2" name="Picture Placeholder 11"/>
          <p:cNvSpPr>
            <a:spLocks noGrp="1"/>
          </p:cNvSpPr>
          <p:nvPr>
            <p:ph type="pic" sz="quarter" idx="10" hasCustomPrompt="1"/>
          </p:nvPr>
        </p:nvSpPr>
        <p:spPr>
          <a:xfrm>
            <a:off x="1208523" y="1992022"/>
            <a:ext cx="3905795" cy="3905795"/>
          </a:xfrm>
          <a:custGeom>
            <a:avLst/>
            <a:gdLst>
              <a:gd name="connsiteX0" fmla="*/ 0 w 3905795"/>
              <a:gd name="connsiteY0" fmla="*/ 0 h 3905795"/>
              <a:gd name="connsiteX1" fmla="*/ 3905795 w 3905795"/>
              <a:gd name="connsiteY1" fmla="*/ 0 h 3905795"/>
              <a:gd name="connsiteX2" fmla="*/ 3905795 w 3905795"/>
              <a:gd name="connsiteY2" fmla="*/ 3905795 h 3905795"/>
              <a:gd name="connsiteX3" fmla="*/ 0 w 3905795"/>
              <a:gd name="connsiteY3" fmla="*/ 3905795 h 3905795"/>
            </a:gdLst>
            <a:ahLst/>
            <a:cxnLst>
              <a:cxn ang="0">
                <a:pos x="connsiteX0" y="connsiteY0"/>
              </a:cxn>
              <a:cxn ang="0">
                <a:pos x="connsiteX1" y="connsiteY1"/>
              </a:cxn>
              <a:cxn ang="0">
                <a:pos x="connsiteX2" y="connsiteY2"/>
              </a:cxn>
              <a:cxn ang="0">
                <a:pos x="connsiteX3" y="connsiteY3"/>
              </a:cxn>
            </a:cxnLst>
            <a:rect l="l" t="t" r="r" b="b"/>
            <a:pathLst>
              <a:path w="3905795" h="3905795">
                <a:moveTo>
                  <a:pt x="0" y="0"/>
                </a:moveTo>
                <a:lnTo>
                  <a:pt x="3905795" y="0"/>
                </a:lnTo>
                <a:lnTo>
                  <a:pt x="3905795" y="3905795"/>
                </a:lnTo>
                <a:lnTo>
                  <a:pt x="0" y="3905795"/>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2" hasCustomPrompt="1"/>
          </p:nvPr>
        </p:nvSpPr>
        <p:spPr>
          <a:xfrm>
            <a:off x="7135796" y="1992675"/>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6" name="Picture Placeholder 15"/>
          <p:cNvSpPr>
            <a:spLocks noGrp="1"/>
          </p:cNvSpPr>
          <p:nvPr>
            <p:ph type="pic" sz="quarter" idx="13" hasCustomPrompt="1"/>
          </p:nvPr>
        </p:nvSpPr>
        <p:spPr>
          <a:xfrm>
            <a:off x="9111554" y="3967779"/>
            <a:ext cx="1929383" cy="1930038"/>
          </a:xfrm>
          <a:custGeom>
            <a:avLst/>
            <a:gdLst>
              <a:gd name="connsiteX0" fmla="*/ 0 w 1929383"/>
              <a:gd name="connsiteY0" fmla="*/ 0 h 1930038"/>
              <a:gd name="connsiteX1" fmla="*/ 1929383 w 1929383"/>
              <a:gd name="connsiteY1" fmla="*/ 0 h 1930038"/>
              <a:gd name="connsiteX2" fmla="*/ 1929383 w 1929383"/>
              <a:gd name="connsiteY2" fmla="*/ 1930038 h 1930038"/>
              <a:gd name="connsiteX3" fmla="*/ 0 w 1929383"/>
              <a:gd name="connsiteY3" fmla="*/ 1930038 h 1930038"/>
            </a:gdLst>
            <a:ahLst/>
            <a:cxnLst>
              <a:cxn ang="0">
                <a:pos x="connsiteX0" y="connsiteY0"/>
              </a:cxn>
              <a:cxn ang="0">
                <a:pos x="connsiteX1" y="connsiteY1"/>
              </a:cxn>
              <a:cxn ang="0">
                <a:pos x="connsiteX2" y="connsiteY2"/>
              </a:cxn>
              <a:cxn ang="0">
                <a:pos x="connsiteX3" y="connsiteY3"/>
              </a:cxn>
            </a:cxnLst>
            <a:rect l="l" t="t" r="r" b="b"/>
            <a:pathLst>
              <a:path w="1929383" h="1930038">
                <a:moveTo>
                  <a:pt x="0" y="0"/>
                </a:moveTo>
                <a:lnTo>
                  <a:pt x="1929383" y="0"/>
                </a:lnTo>
                <a:lnTo>
                  <a:pt x="1929383" y="1930038"/>
                </a:lnTo>
                <a:lnTo>
                  <a:pt x="0" y="1930038"/>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826044026"/>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38_Custom Layout">
    <p:spTree>
      <p:nvGrpSpPr>
        <p:cNvPr id="1" name=""/>
        <p:cNvGrpSpPr/>
        <p:nvPr/>
      </p:nvGrpSpPr>
      <p:grpSpPr>
        <a:xfrm>
          <a:off x="0" y="0"/>
          <a:ext cx="0" cy="0"/>
          <a:chOff x="0" y="0"/>
          <a:chExt cx="0" cy="0"/>
        </a:xfrm>
      </p:grpSpPr>
      <p:sp>
        <p:nvSpPr>
          <p:cNvPr id="16" name="Picture Placeholder 15"/>
          <p:cNvSpPr>
            <a:spLocks noGrp="1"/>
          </p:cNvSpPr>
          <p:nvPr>
            <p:ph type="pic" sz="quarter" idx="10" hasCustomPrompt="1"/>
          </p:nvPr>
        </p:nvSpPr>
        <p:spPr>
          <a:xfrm>
            <a:off x="837438"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7" name="Picture Placeholder 16"/>
          <p:cNvSpPr>
            <a:spLocks noGrp="1"/>
          </p:cNvSpPr>
          <p:nvPr>
            <p:ph type="pic" sz="quarter" idx="11" hasCustomPrompt="1"/>
          </p:nvPr>
        </p:nvSpPr>
        <p:spPr>
          <a:xfrm>
            <a:off x="3477006"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8" name="Picture Placeholder 17"/>
          <p:cNvSpPr>
            <a:spLocks noGrp="1"/>
          </p:cNvSpPr>
          <p:nvPr>
            <p:ph type="pic" sz="quarter" idx="12" hasCustomPrompt="1"/>
          </p:nvPr>
        </p:nvSpPr>
        <p:spPr>
          <a:xfrm>
            <a:off x="6116574"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3" hasCustomPrompt="1"/>
          </p:nvPr>
        </p:nvSpPr>
        <p:spPr>
          <a:xfrm>
            <a:off x="8756142" y="1750661"/>
            <a:ext cx="2596896" cy="3895344"/>
          </a:xfrm>
          <a:custGeom>
            <a:avLst/>
            <a:gdLst>
              <a:gd name="connsiteX0" fmla="*/ 0 w 2596896"/>
              <a:gd name="connsiteY0" fmla="*/ 0 h 3895344"/>
              <a:gd name="connsiteX1" fmla="*/ 2596896 w 2596896"/>
              <a:gd name="connsiteY1" fmla="*/ 0 h 3895344"/>
              <a:gd name="connsiteX2" fmla="*/ 2596896 w 2596896"/>
              <a:gd name="connsiteY2" fmla="*/ 3895344 h 3895344"/>
              <a:gd name="connsiteX3" fmla="*/ 0 w 2596896"/>
              <a:gd name="connsiteY3" fmla="*/ 3895344 h 3895344"/>
            </a:gdLst>
            <a:ahLst/>
            <a:cxnLst>
              <a:cxn ang="0">
                <a:pos x="connsiteX0" y="connsiteY0"/>
              </a:cxn>
              <a:cxn ang="0">
                <a:pos x="connsiteX1" y="connsiteY1"/>
              </a:cxn>
              <a:cxn ang="0">
                <a:pos x="connsiteX2" y="connsiteY2"/>
              </a:cxn>
              <a:cxn ang="0">
                <a:pos x="connsiteX3" y="connsiteY3"/>
              </a:cxn>
            </a:cxnLst>
            <a:rect l="l" t="t" r="r" b="b"/>
            <a:pathLst>
              <a:path w="2596896" h="3895344">
                <a:moveTo>
                  <a:pt x="0" y="0"/>
                </a:moveTo>
                <a:lnTo>
                  <a:pt x="2596896" y="0"/>
                </a:lnTo>
                <a:lnTo>
                  <a:pt x="2596896" y="3895344"/>
                </a:lnTo>
                <a:lnTo>
                  <a:pt x="0" y="3895344"/>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30582822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39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1256431" y="2032514"/>
            <a:ext cx="5587469" cy="3726482"/>
          </a:xfrm>
          <a:custGeom>
            <a:avLst/>
            <a:gdLst>
              <a:gd name="connsiteX0" fmla="*/ 0 w 5587469"/>
              <a:gd name="connsiteY0" fmla="*/ 0 h 3726482"/>
              <a:gd name="connsiteX1" fmla="*/ 5587469 w 5587469"/>
              <a:gd name="connsiteY1" fmla="*/ 0 h 3726482"/>
              <a:gd name="connsiteX2" fmla="*/ 5587469 w 5587469"/>
              <a:gd name="connsiteY2" fmla="*/ 3726482 h 3726482"/>
              <a:gd name="connsiteX3" fmla="*/ 0 w 5587469"/>
              <a:gd name="connsiteY3" fmla="*/ 3726482 h 3726482"/>
            </a:gdLst>
            <a:ahLst/>
            <a:cxnLst>
              <a:cxn ang="0">
                <a:pos x="connsiteX0" y="connsiteY0"/>
              </a:cxn>
              <a:cxn ang="0">
                <a:pos x="connsiteX1" y="connsiteY1"/>
              </a:cxn>
              <a:cxn ang="0">
                <a:pos x="connsiteX2" y="connsiteY2"/>
              </a:cxn>
              <a:cxn ang="0">
                <a:pos x="connsiteX3" y="connsiteY3"/>
              </a:cxn>
            </a:cxnLst>
            <a:rect l="l" t="t" r="r" b="b"/>
            <a:pathLst>
              <a:path w="5587469" h="3726482">
                <a:moveTo>
                  <a:pt x="0" y="0"/>
                </a:moveTo>
                <a:lnTo>
                  <a:pt x="5587469" y="0"/>
                </a:lnTo>
                <a:lnTo>
                  <a:pt x="5587469" y="3726482"/>
                </a:lnTo>
                <a:lnTo>
                  <a:pt x="0" y="3726482"/>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560664841"/>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1892993"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5602300"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9311607" y="4944505"/>
            <a:ext cx="987400" cy="987400"/>
          </a:xfrm>
          <a:custGeom>
            <a:avLst/>
            <a:gdLst>
              <a:gd name="connsiteX0" fmla="*/ 493700 w 987400"/>
              <a:gd name="connsiteY0" fmla="*/ 0 h 987400"/>
              <a:gd name="connsiteX1" fmla="*/ 987400 w 987400"/>
              <a:gd name="connsiteY1" fmla="*/ 493700 h 987400"/>
              <a:gd name="connsiteX2" fmla="*/ 493700 w 987400"/>
              <a:gd name="connsiteY2" fmla="*/ 987400 h 987400"/>
              <a:gd name="connsiteX3" fmla="*/ 0 w 987400"/>
              <a:gd name="connsiteY3" fmla="*/ 493700 h 987400"/>
              <a:gd name="connsiteX4" fmla="*/ 493700 w 987400"/>
              <a:gd name="connsiteY4" fmla="*/ 0 h 987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400" h="987400">
                <a:moveTo>
                  <a:pt x="493700" y="0"/>
                </a:moveTo>
                <a:cubicBezTo>
                  <a:pt x="766363" y="0"/>
                  <a:pt x="987400" y="221037"/>
                  <a:pt x="987400" y="493700"/>
                </a:cubicBezTo>
                <a:cubicBezTo>
                  <a:pt x="987400" y="766363"/>
                  <a:pt x="766363" y="987400"/>
                  <a:pt x="493700" y="987400"/>
                </a:cubicBezTo>
                <a:cubicBezTo>
                  <a:pt x="221037" y="987400"/>
                  <a:pt x="0" y="766363"/>
                  <a:pt x="0" y="493700"/>
                </a:cubicBezTo>
                <a:cubicBezTo>
                  <a:pt x="0" y="221037"/>
                  <a:pt x="221037" y="0"/>
                  <a:pt x="493700"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7" name="Oval 6"/>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8" name="TextBox 7"/>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0" name="TextBox 9"/>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135093830"/>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sp>
        <p:nvSpPr>
          <p:cNvPr id="12" name="Picture Placeholder 11"/>
          <p:cNvSpPr>
            <a:spLocks noGrp="1"/>
          </p:cNvSpPr>
          <p:nvPr>
            <p:ph type="pic" sz="quarter" idx="10" hasCustomPrompt="1"/>
          </p:nvPr>
        </p:nvSpPr>
        <p:spPr>
          <a:xfrm>
            <a:off x="1070018" y="1978362"/>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Picture Placeholder 12"/>
          <p:cNvSpPr>
            <a:spLocks noGrp="1"/>
          </p:cNvSpPr>
          <p:nvPr>
            <p:ph type="pic" sz="quarter" idx="11" hasCustomPrompt="1"/>
          </p:nvPr>
        </p:nvSpPr>
        <p:spPr>
          <a:xfrm>
            <a:off x="6839753" y="1978362"/>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4" name="Picture Placeholder 13"/>
          <p:cNvSpPr>
            <a:spLocks noGrp="1"/>
          </p:cNvSpPr>
          <p:nvPr>
            <p:ph type="pic" sz="quarter" idx="12" hasCustomPrompt="1"/>
          </p:nvPr>
        </p:nvSpPr>
        <p:spPr>
          <a:xfrm>
            <a:off x="1070018" y="4173531"/>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5" name="Picture Placeholder 14"/>
          <p:cNvSpPr>
            <a:spLocks noGrp="1"/>
          </p:cNvSpPr>
          <p:nvPr>
            <p:ph type="pic" sz="quarter" idx="13" hasCustomPrompt="1"/>
          </p:nvPr>
        </p:nvSpPr>
        <p:spPr>
          <a:xfrm>
            <a:off x="6839753" y="4173531"/>
            <a:ext cx="977722" cy="977722"/>
          </a:xfrm>
          <a:custGeom>
            <a:avLst/>
            <a:gdLst>
              <a:gd name="connsiteX0" fmla="*/ 488861 w 977722"/>
              <a:gd name="connsiteY0" fmla="*/ 0 h 977722"/>
              <a:gd name="connsiteX1" fmla="*/ 977722 w 977722"/>
              <a:gd name="connsiteY1" fmla="*/ 488861 h 977722"/>
              <a:gd name="connsiteX2" fmla="*/ 488861 w 977722"/>
              <a:gd name="connsiteY2" fmla="*/ 977722 h 977722"/>
              <a:gd name="connsiteX3" fmla="*/ 0 w 977722"/>
              <a:gd name="connsiteY3" fmla="*/ 488861 h 977722"/>
              <a:gd name="connsiteX4" fmla="*/ 488861 w 977722"/>
              <a:gd name="connsiteY4" fmla="*/ 0 h 9777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77722" h="977722">
                <a:moveTo>
                  <a:pt x="488861" y="0"/>
                </a:moveTo>
                <a:cubicBezTo>
                  <a:pt x="758852" y="0"/>
                  <a:pt x="977722" y="218871"/>
                  <a:pt x="977722" y="488861"/>
                </a:cubicBezTo>
                <a:cubicBezTo>
                  <a:pt x="977722" y="758852"/>
                  <a:pt x="758852" y="977722"/>
                  <a:pt x="488861" y="977722"/>
                </a:cubicBezTo>
                <a:cubicBezTo>
                  <a:pt x="218871" y="977722"/>
                  <a:pt x="0" y="758852"/>
                  <a:pt x="0" y="488861"/>
                </a:cubicBezTo>
                <a:cubicBezTo>
                  <a:pt x="0" y="218871"/>
                  <a:pt x="218871" y="0"/>
                  <a:pt x="488861" y="0"/>
                </a:cubicBez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0" name="Oval 9"/>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1" name="TextBox 10"/>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3621873963"/>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42_Custom Layout">
    <p:spTree>
      <p:nvGrpSpPr>
        <p:cNvPr id="1" name=""/>
        <p:cNvGrpSpPr/>
        <p:nvPr/>
      </p:nvGrpSpPr>
      <p:grpSpPr>
        <a:xfrm>
          <a:off x="0" y="0"/>
          <a:ext cx="0" cy="0"/>
          <a:chOff x="0" y="0"/>
          <a:chExt cx="0" cy="0"/>
        </a:xfrm>
      </p:grpSpPr>
      <p:sp>
        <p:nvSpPr>
          <p:cNvPr id="18" name="Picture Placeholder 17"/>
          <p:cNvSpPr>
            <a:spLocks noGrp="1"/>
          </p:cNvSpPr>
          <p:nvPr>
            <p:ph type="pic" sz="quarter" idx="10" hasCustomPrompt="1"/>
          </p:nvPr>
        </p:nvSpPr>
        <p:spPr>
          <a:xfrm>
            <a:off x="838202"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9" name="Picture Placeholder 18"/>
          <p:cNvSpPr>
            <a:spLocks noGrp="1"/>
          </p:cNvSpPr>
          <p:nvPr>
            <p:ph type="pic" sz="quarter" idx="11" hasCustomPrompt="1"/>
          </p:nvPr>
        </p:nvSpPr>
        <p:spPr>
          <a:xfrm>
            <a:off x="4809456"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0" name="Picture Placeholder 19"/>
          <p:cNvSpPr>
            <a:spLocks noGrp="1"/>
          </p:cNvSpPr>
          <p:nvPr>
            <p:ph type="pic" sz="quarter" idx="12" hasCustomPrompt="1"/>
          </p:nvPr>
        </p:nvSpPr>
        <p:spPr>
          <a:xfrm>
            <a:off x="8780708" y="1957149"/>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1" name="Picture Placeholder 20"/>
          <p:cNvSpPr>
            <a:spLocks noGrp="1"/>
          </p:cNvSpPr>
          <p:nvPr>
            <p:ph type="pic" sz="quarter" idx="13" hasCustomPrompt="1"/>
          </p:nvPr>
        </p:nvSpPr>
        <p:spPr>
          <a:xfrm>
            <a:off x="838202"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2" name="Picture Placeholder 21"/>
          <p:cNvSpPr>
            <a:spLocks noGrp="1"/>
          </p:cNvSpPr>
          <p:nvPr>
            <p:ph type="pic" sz="quarter" idx="14" hasCustomPrompt="1"/>
          </p:nvPr>
        </p:nvSpPr>
        <p:spPr>
          <a:xfrm>
            <a:off x="4809456"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3" name="Picture Placeholder 22"/>
          <p:cNvSpPr>
            <a:spLocks noGrp="1"/>
          </p:cNvSpPr>
          <p:nvPr>
            <p:ph type="pic" sz="quarter" idx="15" hasCustomPrompt="1"/>
          </p:nvPr>
        </p:nvSpPr>
        <p:spPr>
          <a:xfrm>
            <a:off x="8780708" y="3486541"/>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4" name="Picture Placeholder 23"/>
          <p:cNvSpPr>
            <a:spLocks noGrp="1"/>
          </p:cNvSpPr>
          <p:nvPr>
            <p:ph type="pic" sz="quarter" idx="16" hasCustomPrompt="1"/>
          </p:nvPr>
        </p:nvSpPr>
        <p:spPr>
          <a:xfrm>
            <a:off x="838202"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5" name="Picture Placeholder 24"/>
          <p:cNvSpPr>
            <a:spLocks noGrp="1"/>
          </p:cNvSpPr>
          <p:nvPr>
            <p:ph type="pic" sz="quarter" idx="17" hasCustomPrompt="1"/>
          </p:nvPr>
        </p:nvSpPr>
        <p:spPr>
          <a:xfrm>
            <a:off x="4809456"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26" name="Picture Placeholder 25"/>
          <p:cNvSpPr>
            <a:spLocks noGrp="1"/>
          </p:cNvSpPr>
          <p:nvPr>
            <p:ph type="pic" sz="quarter" idx="18" hasCustomPrompt="1"/>
          </p:nvPr>
        </p:nvSpPr>
        <p:spPr>
          <a:xfrm>
            <a:off x="8780708" y="5015934"/>
            <a:ext cx="2587599" cy="860697"/>
          </a:xfrm>
          <a:custGeom>
            <a:avLst/>
            <a:gdLst>
              <a:gd name="connsiteX0" fmla="*/ 0 w 2587599"/>
              <a:gd name="connsiteY0" fmla="*/ 0 h 860697"/>
              <a:gd name="connsiteX1" fmla="*/ 2587599 w 2587599"/>
              <a:gd name="connsiteY1" fmla="*/ 0 h 860697"/>
              <a:gd name="connsiteX2" fmla="*/ 2587599 w 2587599"/>
              <a:gd name="connsiteY2" fmla="*/ 860697 h 860697"/>
              <a:gd name="connsiteX3" fmla="*/ 0 w 2587599"/>
              <a:gd name="connsiteY3" fmla="*/ 860697 h 860697"/>
            </a:gdLst>
            <a:ahLst/>
            <a:cxnLst>
              <a:cxn ang="0">
                <a:pos x="connsiteX0" y="connsiteY0"/>
              </a:cxn>
              <a:cxn ang="0">
                <a:pos x="connsiteX1" y="connsiteY1"/>
              </a:cxn>
              <a:cxn ang="0">
                <a:pos x="connsiteX2" y="connsiteY2"/>
              </a:cxn>
              <a:cxn ang="0">
                <a:pos x="connsiteX3" y="connsiteY3"/>
              </a:cxn>
            </a:cxnLst>
            <a:rect l="l" t="t" r="r" b="b"/>
            <a:pathLst>
              <a:path w="2587599" h="860697">
                <a:moveTo>
                  <a:pt x="0" y="0"/>
                </a:moveTo>
                <a:lnTo>
                  <a:pt x="2587599" y="0"/>
                </a:lnTo>
                <a:lnTo>
                  <a:pt x="2587599" y="860697"/>
                </a:lnTo>
                <a:lnTo>
                  <a:pt x="0" y="860697"/>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13" name="Oval 12"/>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14" name="TextBox 13"/>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16" name="TextBox 15"/>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270196898"/>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40_Custom Layout">
    <p:spTree>
      <p:nvGrpSpPr>
        <p:cNvPr id="1" name=""/>
        <p:cNvGrpSpPr/>
        <p:nvPr/>
      </p:nvGrpSpPr>
      <p:grpSpPr>
        <a:xfrm>
          <a:off x="0" y="0"/>
          <a:ext cx="0" cy="0"/>
          <a:chOff x="0" y="0"/>
          <a:chExt cx="0" cy="0"/>
        </a:xfrm>
      </p:grpSpPr>
      <p:sp>
        <p:nvSpPr>
          <p:cNvPr id="6" name="Picture Placeholder 5"/>
          <p:cNvSpPr>
            <a:spLocks noGrp="1"/>
          </p:cNvSpPr>
          <p:nvPr>
            <p:ph type="pic" sz="quarter" idx="10" hasCustomPrompt="1"/>
          </p:nvPr>
        </p:nvSpPr>
        <p:spPr>
          <a:xfrm>
            <a:off x="2" y="3429000"/>
            <a:ext cx="12191999" cy="3429000"/>
          </a:xfrm>
          <a:custGeom>
            <a:avLst/>
            <a:gdLst>
              <a:gd name="connsiteX0" fmla="*/ 0 w 12191999"/>
              <a:gd name="connsiteY0" fmla="*/ 0 h 3429000"/>
              <a:gd name="connsiteX1" fmla="*/ 12191999 w 12191999"/>
              <a:gd name="connsiteY1" fmla="*/ 0 h 3429000"/>
              <a:gd name="connsiteX2" fmla="*/ 12191999 w 12191999"/>
              <a:gd name="connsiteY2" fmla="*/ 3429000 h 3429000"/>
              <a:gd name="connsiteX3" fmla="*/ 0 w 12191999"/>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1999" h="3429000">
                <a:moveTo>
                  <a:pt x="0" y="0"/>
                </a:moveTo>
                <a:lnTo>
                  <a:pt x="12191999" y="0"/>
                </a:lnTo>
                <a:lnTo>
                  <a:pt x="12191999" y="3429000"/>
                </a:lnTo>
                <a:lnTo>
                  <a:pt x="0" y="3429000"/>
                </a:lnTo>
                <a:close/>
              </a:path>
            </a:pathLst>
          </a:custGeom>
        </p:spPr>
        <p:txBody>
          <a:bodyPr wrap="square" tIns="137160">
            <a:noAutofit/>
          </a:bodyPr>
          <a:lstStyle>
            <a:lvl1pPr>
              <a:defRPr sz="1200" b="0" baseline="0">
                <a:solidFill>
                  <a:schemeClr val="accent2"/>
                </a:solidFill>
              </a:defRPr>
            </a:lvl1pPr>
          </a:lstStyle>
          <a:p>
            <a:r>
              <a:rPr lang="en-US" dirty="0"/>
              <a:t>Drag &amp; Drop Here</a:t>
            </a:r>
          </a:p>
        </p:txBody>
      </p:sp>
      <p:sp>
        <p:nvSpPr>
          <p:cNvPr id="5" name="Oval 4"/>
          <p:cNvSpPr/>
          <p:nvPr userDrawn="1"/>
        </p:nvSpPr>
        <p:spPr>
          <a:xfrm>
            <a:off x="11546331" y="260250"/>
            <a:ext cx="430920" cy="43092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dirty="0">
              <a:solidFill>
                <a:srgbClr val="444444"/>
              </a:solidFill>
            </a:endParaRPr>
          </a:p>
        </p:txBody>
      </p:sp>
      <p:sp>
        <p:nvSpPr>
          <p:cNvPr id="7" name="TextBox 6"/>
          <p:cNvSpPr txBox="1"/>
          <p:nvPr userDrawn="1"/>
        </p:nvSpPr>
        <p:spPr>
          <a:xfrm>
            <a:off x="11563661" y="321821"/>
            <a:ext cx="396263" cy="307777"/>
          </a:xfrm>
          <a:prstGeom prst="rect">
            <a:avLst/>
          </a:prstGeom>
          <a:noFill/>
        </p:spPr>
        <p:txBody>
          <a:bodyPr wrap="none" rtlCol="0">
            <a:spAutoFit/>
          </a:bodyPr>
          <a:lstStyle/>
          <a:p>
            <a:pPr algn="ctr"/>
            <a:fld id="{2FFD5520-3B3B-4A6C-9BAB-9937FD8E0F76}" type="slidenum">
              <a:rPr lang="en-US" sz="1400">
                <a:solidFill>
                  <a:prstClr val="white"/>
                </a:solidFill>
              </a:rPr>
              <a:pPr algn="ctr"/>
              <a:t>‹#›</a:t>
            </a:fld>
            <a:endParaRPr lang="en-US" sz="1400" dirty="0">
              <a:solidFill>
                <a:prstClr val="white"/>
              </a:solidFill>
            </a:endParaRPr>
          </a:p>
        </p:txBody>
      </p:sp>
      <p:sp>
        <p:nvSpPr>
          <p:cNvPr id="9" name="TextBox 8"/>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590034673"/>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41_Custom Layout">
    <p:spTree>
      <p:nvGrpSpPr>
        <p:cNvPr id="1" name=""/>
        <p:cNvGrpSpPr/>
        <p:nvPr/>
      </p:nvGrpSpPr>
      <p:grpSpPr>
        <a:xfrm>
          <a:off x="0" y="0"/>
          <a:ext cx="0" cy="0"/>
          <a:chOff x="0" y="0"/>
          <a:chExt cx="0" cy="0"/>
        </a:xfrm>
      </p:grpSpPr>
      <p:sp>
        <p:nvSpPr>
          <p:cNvPr id="10" name="Picture Placeholder 7"/>
          <p:cNvSpPr>
            <a:spLocks noGrp="1"/>
          </p:cNvSpPr>
          <p:nvPr>
            <p:ph type="pic" sz="quarter" idx="10" hasCustomPrompt="1"/>
          </p:nvPr>
        </p:nvSpPr>
        <p:spPr>
          <a:xfrm>
            <a:off x="0" y="0"/>
            <a:ext cx="12192000" cy="6858000"/>
          </a:xfrm>
        </p:spPr>
        <p:txBody>
          <a:bodyPr tIns="137160">
            <a:normAutofit/>
          </a:bodyPr>
          <a:lstStyle>
            <a:lvl1pPr>
              <a:defRPr sz="1200" b="0" baseline="0">
                <a:solidFill>
                  <a:schemeClr val="accent2"/>
                </a:solidFill>
              </a:defRPr>
            </a:lvl1pPr>
          </a:lstStyle>
          <a:p>
            <a:r>
              <a:rPr lang="en-US" dirty="0"/>
              <a:t>Drag &amp; Drop Here</a:t>
            </a:r>
          </a:p>
        </p:txBody>
      </p:sp>
      <p:sp>
        <p:nvSpPr>
          <p:cNvPr id="4" name="TextBox 3"/>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7385046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3" name="TextBox 2"/>
          <p:cNvSpPr txBox="1"/>
          <p:nvPr userDrawn="1"/>
        </p:nvSpPr>
        <p:spPr>
          <a:xfrm>
            <a:off x="0" y="6501008"/>
            <a:ext cx="12192000" cy="369332"/>
          </a:xfrm>
          <a:prstGeom prst="rect">
            <a:avLst/>
          </a:prstGeom>
          <a:solidFill>
            <a:schemeClr val="accent1">
              <a:lumMod val="60000"/>
              <a:lumOff val="40000"/>
            </a:schemeClr>
          </a:solidFill>
          <a:ln>
            <a:solidFill>
              <a:schemeClr val="accent1">
                <a:lumMod val="50000"/>
              </a:schemeClr>
            </a:solidFill>
          </a:ln>
        </p:spPr>
        <p:txBody>
          <a:bodyPr wrap="square" rtlCol="0">
            <a:spAutoFit/>
          </a:bodyPr>
          <a:lstStyle/>
          <a:p>
            <a:r>
              <a:rPr lang="en-IN" sz="1400" b="1" dirty="0">
                <a:solidFill>
                  <a:prstClr val="black"/>
                </a:solidFill>
                <a:latin typeface="Roboto" pitchFamily="2" charset="0"/>
                <a:ea typeface="Roboto" pitchFamily="2" charset="0"/>
              </a:rPr>
              <a:t>By: Tusharkumar Trambadiya                                                                     Chapter 2 Hadoop                                            Subject: Big Data Analytics</a:t>
            </a:r>
            <a:r>
              <a:rPr lang="en-IN" dirty="0">
                <a:solidFill>
                  <a:prstClr val="black"/>
                </a:solidFill>
              </a:rPr>
              <a:t> </a:t>
            </a:r>
            <a:r>
              <a:rPr lang="en-IN" sz="1400" b="1" dirty="0">
                <a:solidFill>
                  <a:prstClr val="black"/>
                </a:solidFill>
                <a:latin typeface="Roboto" pitchFamily="2" charset="0"/>
                <a:ea typeface="Roboto" pitchFamily="2" charset="0"/>
              </a:rPr>
              <a:t>3170722 </a:t>
            </a:r>
          </a:p>
        </p:txBody>
      </p:sp>
    </p:spTree>
    <p:extLst>
      <p:ext uri="{BB962C8B-B14F-4D97-AF65-F5344CB8AC3E}">
        <p14:creationId xmlns:p14="http://schemas.microsoft.com/office/powerpoint/2010/main" val="1999282401"/>
      </p:ext>
    </p:extLst>
  </p:cSld>
  <p:clrMapOvr>
    <a:masterClrMapping/>
  </p:clrMapOvr>
  <p:extLst>
    <p:ext uri="{DCECCB84-F9BA-43D5-87BE-67443E8EF086}">
      <p15:sldGuideLst xmlns:p15="http://schemas.microsoft.com/office/powerpoint/2012/main">
        <p15:guide id="1" pos="3840">
          <p15:clr>
            <a:srgbClr val="FBAE40"/>
          </p15:clr>
        </p15:guide>
        <p15:guide id="2" pos="7152">
          <p15:clr>
            <a:srgbClr val="FBAE40"/>
          </p15:clr>
        </p15:guide>
        <p15:guide id="3" pos="528">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Blank" type="obj">
  <p:cSld name="2_Blank">
    <p:spTree>
      <p:nvGrpSpPr>
        <p:cNvPr id="1" name="Shape 11"/>
        <p:cNvGrpSpPr/>
        <p:nvPr/>
      </p:nvGrpSpPr>
      <p:grpSpPr>
        <a:xfrm>
          <a:off x="0" y="0"/>
          <a:ext cx="0" cy="0"/>
          <a:chOff x="0" y="0"/>
          <a:chExt cx="0" cy="0"/>
        </a:xfrm>
      </p:grpSpPr>
      <p:sp>
        <p:nvSpPr>
          <p:cNvPr id="12" name="Google Shape;12;p20"/>
          <p:cNvSpPr txBox="1">
            <a:spLocks noGrp="1"/>
          </p:cNvSpPr>
          <p:nvPr>
            <p:ph type="ftr" idx="11"/>
          </p:nvPr>
        </p:nvSpPr>
        <p:spPr>
          <a:xfrm>
            <a:off x="4145280" y="6377939"/>
            <a:ext cx="3901440" cy="184666"/>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3" name="Google Shape;13;p20"/>
          <p:cNvSpPr txBox="1">
            <a:spLocks noGrp="1"/>
          </p:cNvSpPr>
          <p:nvPr>
            <p:ph type="dt" idx="10"/>
          </p:nvPr>
        </p:nvSpPr>
        <p:spPr>
          <a:xfrm>
            <a:off x="609600" y="6377939"/>
            <a:ext cx="2804160" cy="184666"/>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dirty="0"/>
          </a:p>
        </p:txBody>
      </p:sp>
      <p:sp>
        <p:nvSpPr>
          <p:cNvPr id="14" name="Google Shape;14;p20"/>
          <p:cNvSpPr txBox="1">
            <a:spLocks noGrp="1"/>
          </p:cNvSpPr>
          <p:nvPr>
            <p:ph type="sldNum" idx="12"/>
          </p:nvPr>
        </p:nvSpPr>
        <p:spPr>
          <a:xfrm>
            <a:off x="8778240" y="6377940"/>
            <a:ext cx="2804160" cy="184666"/>
          </a:xfrm>
          <a:prstGeom prst="rect">
            <a:avLst/>
          </a:prstGeom>
          <a:noFill/>
          <a:ln>
            <a:noFill/>
          </a:ln>
        </p:spPr>
        <p:txBody>
          <a:bodyPr spcFirstLastPara="1" wrap="square" lIns="0" tIns="0" rIns="0" bIns="0" anchor="t" anchorCtr="0">
            <a:sp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sz="1632" dirty="0">
              <a:ea typeface="Calibri"/>
              <a:cs typeface="Calibri"/>
              <a:sym typeface="Calibri"/>
            </a:endParaRPr>
          </a:p>
        </p:txBody>
      </p:sp>
    </p:spTree>
    <p:extLst>
      <p:ext uri="{BB962C8B-B14F-4D97-AF65-F5344CB8AC3E}">
        <p14:creationId xmlns:p14="http://schemas.microsoft.com/office/powerpoint/2010/main" val="2191280883"/>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cSld name="Slide 1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50D48"/>
          </a:solidFill>
          <a:ln/>
        </p:spPr>
      </p:sp>
      <p:sp>
        <p:nvSpPr>
          <p:cNvPr id="3" name="Shape 1"/>
          <p:cNvSpPr/>
          <p:nvPr/>
        </p:nvSpPr>
        <p:spPr>
          <a:xfrm>
            <a:off x="0" y="0"/>
            <a:ext cx="12192000" cy="6858000"/>
          </a:xfrm>
          <a:prstGeom prst="rect">
            <a:avLst/>
          </a:prstGeom>
          <a:solidFill>
            <a:srgbClr val="0C0A33"/>
          </a:solidFill>
          <a:ln/>
        </p:spPr>
      </p:sp>
      <p:pic>
        <p:nvPicPr>
          <p:cNvPr id="4" name="Image 0" descr="preencoded.png">
            <a:hlinkClick r:id="rId2"/>
          </p:cNvPr>
          <p:cNvPicPr>
            <a:picLocks noChangeAspect="1"/>
          </p:cNvPicPr>
          <p:nvPr/>
        </p:nvPicPr>
        <p:blipFill>
          <a:blip r:embed="rId3"/>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3812883578"/>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50D48"/>
          </a:solidFill>
          <a:ln/>
        </p:spPr>
      </p:sp>
      <p:sp>
        <p:nvSpPr>
          <p:cNvPr id="3" name="Shape 1"/>
          <p:cNvSpPr/>
          <p:nvPr/>
        </p:nvSpPr>
        <p:spPr>
          <a:xfrm>
            <a:off x="0" y="0"/>
            <a:ext cx="12192000" cy="6858000"/>
          </a:xfrm>
          <a:prstGeom prst="rect">
            <a:avLst/>
          </a:prstGeom>
          <a:solidFill>
            <a:srgbClr val="0C0A33"/>
          </a:solidFill>
          <a:ln/>
        </p:spPr>
      </p:sp>
      <p:pic>
        <p:nvPicPr>
          <p:cNvPr id="4" name="Image 0" descr="preencoded.png">
            <a:hlinkClick r:id="rId2"/>
          </p:cNvPr>
          <p:cNvPicPr>
            <a:picLocks noChangeAspect="1"/>
          </p:cNvPicPr>
          <p:nvPr/>
        </p:nvPicPr>
        <p:blipFill>
          <a:blip r:embed="rId3"/>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3797846111"/>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50D48"/>
          </a:solidFill>
          <a:ln/>
        </p:spPr>
      </p:sp>
      <p:sp>
        <p:nvSpPr>
          <p:cNvPr id="3" name="Shape 1"/>
          <p:cNvSpPr/>
          <p:nvPr/>
        </p:nvSpPr>
        <p:spPr>
          <a:xfrm>
            <a:off x="0" y="0"/>
            <a:ext cx="12192000" cy="6858000"/>
          </a:xfrm>
          <a:prstGeom prst="rect">
            <a:avLst/>
          </a:prstGeom>
          <a:solidFill>
            <a:srgbClr val="0C0A33"/>
          </a:solidFill>
          <a:ln/>
        </p:spPr>
      </p:sp>
      <p:pic>
        <p:nvPicPr>
          <p:cNvPr id="4" name="Image 0" descr="preencoded.png">
            <a:hlinkClick r:id="rId2"/>
          </p:cNvPr>
          <p:cNvPicPr>
            <a:picLocks noChangeAspect="1"/>
          </p:cNvPicPr>
          <p:nvPr/>
        </p:nvPicPr>
        <p:blipFill>
          <a:blip r:embed="rId3"/>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4199757204"/>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50D48"/>
          </a:solidFill>
          <a:ln/>
        </p:spPr>
      </p:sp>
      <p:sp>
        <p:nvSpPr>
          <p:cNvPr id="3" name="Shape 1"/>
          <p:cNvSpPr/>
          <p:nvPr/>
        </p:nvSpPr>
        <p:spPr>
          <a:xfrm>
            <a:off x="0" y="0"/>
            <a:ext cx="12192000" cy="6858000"/>
          </a:xfrm>
          <a:prstGeom prst="rect">
            <a:avLst/>
          </a:prstGeom>
          <a:solidFill>
            <a:srgbClr val="0C0A33"/>
          </a:solidFill>
          <a:ln/>
        </p:spPr>
      </p:sp>
      <p:pic>
        <p:nvPicPr>
          <p:cNvPr id="4" name="Image 0" descr="preencoded.png">
            <a:hlinkClick r:id="rId2"/>
          </p:cNvPr>
          <p:cNvPicPr>
            <a:picLocks noChangeAspect="1"/>
          </p:cNvPicPr>
          <p:nvPr/>
        </p:nvPicPr>
        <p:blipFill>
          <a:blip r:embed="rId3"/>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7183014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slideLayout" Target="../slideLayouts/slideLayout50.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42" Type="http://schemas.openxmlformats.org/officeDocument/2006/relationships/slideLayout" Target="../slideLayouts/slideLayout53.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46" Type="http://schemas.openxmlformats.org/officeDocument/2006/relationships/theme" Target="../theme/theme2.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slideLayout" Target="../slideLayouts/slideLayout40.xml"/><Relationship Id="rId41" Type="http://schemas.openxmlformats.org/officeDocument/2006/relationships/slideLayout" Target="../slideLayouts/slideLayout52.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slideLayout" Target="../slideLayouts/slideLayout56.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69.xml"/><Relationship Id="rId18" Type="http://schemas.openxmlformats.org/officeDocument/2006/relationships/slideLayout" Target="../slideLayouts/slideLayout74.xml"/><Relationship Id="rId26" Type="http://schemas.openxmlformats.org/officeDocument/2006/relationships/slideLayout" Target="../slideLayouts/slideLayout82.xml"/><Relationship Id="rId39" Type="http://schemas.openxmlformats.org/officeDocument/2006/relationships/slideLayout" Target="../slideLayouts/slideLayout95.xml"/><Relationship Id="rId21" Type="http://schemas.openxmlformats.org/officeDocument/2006/relationships/slideLayout" Target="../slideLayouts/slideLayout77.xml"/><Relationship Id="rId34" Type="http://schemas.openxmlformats.org/officeDocument/2006/relationships/slideLayout" Target="../slideLayouts/slideLayout90.xml"/><Relationship Id="rId42" Type="http://schemas.openxmlformats.org/officeDocument/2006/relationships/slideLayout" Target="../slideLayouts/slideLayout98.xml"/><Relationship Id="rId47" Type="http://schemas.openxmlformats.org/officeDocument/2006/relationships/slideLayout" Target="../slideLayouts/slideLayout103.xml"/><Relationship Id="rId50" Type="http://schemas.openxmlformats.org/officeDocument/2006/relationships/slideLayout" Target="../slideLayouts/slideLayout106.xml"/><Relationship Id="rId55" Type="http://schemas.openxmlformats.org/officeDocument/2006/relationships/slideLayout" Target="../slideLayouts/slideLayout111.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17" Type="http://schemas.openxmlformats.org/officeDocument/2006/relationships/slideLayout" Target="../slideLayouts/slideLayout73.xml"/><Relationship Id="rId25" Type="http://schemas.openxmlformats.org/officeDocument/2006/relationships/slideLayout" Target="../slideLayouts/slideLayout81.xml"/><Relationship Id="rId33" Type="http://schemas.openxmlformats.org/officeDocument/2006/relationships/slideLayout" Target="../slideLayouts/slideLayout89.xml"/><Relationship Id="rId38" Type="http://schemas.openxmlformats.org/officeDocument/2006/relationships/slideLayout" Target="../slideLayouts/slideLayout94.xml"/><Relationship Id="rId46" Type="http://schemas.openxmlformats.org/officeDocument/2006/relationships/slideLayout" Target="../slideLayouts/slideLayout102.xml"/><Relationship Id="rId59" Type="http://schemas.openxmlformats.org/officeDocument/2006/relationships/slideLayout" Target="../slideLayouts/slideLayout115.xml"/><Relationship Id="rId2" Type="http://schemas.openxmlformats.org/officeDocument/2006/relationships/slideLayout" Target="../slideLayouts/slideLayout58.xml"/><Relationship Id="rId16" Type="http://schemas.openxmlformats.org/officeDocument/2006/relationships/slideLayout" Target="../slideLayouts/slideLayout72.xml"/><Relationship Id="rId20" Type="http://schemas.openxmlformats.org/officeDocument/2006/relationships/slideLayout" Target="../slideLayouts/slideLayout76.xml"/><Relationship Id="rId29" Type="http://schemas.openxmlformats.org/officeDocument/2006/relationships/slideLayout" Target="../slideLayouts/slideLayout85.xml"/><Relationship Id="rId41" Type="http://schemas.openxmlformats.org/officeDocument/2006/relationships/slideLayout" Target="../slideLayouts/slideLayout97.xml"/><Relationship Id="rId54" Type="http://schemas.openxmlformats.org/officeDocument/2006/relationships/slideLayout" Target="../slideLayouts/slideLayout110.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24" Type="http://schemas.openxmlformats.org/officeDocument/2006/relationships/slideLayout" Target="../slideLayouts/slideLayout80.xml"/><Relationship Id="rId32" Type="http://schemas.openxmlformats.org/officeDocument/2006/relationships/slideLayout" Target="../slideLayouts/slideLayout88.xml"/><Relationship Id="rId37" Type="http://schemas.openxmlformats.org/officeDocument/2006/relationships/slideLayout" Target="../slideLayouts/slideLayout93.xml"/><Relationship Id="rId40" Type="http://schemas.openxmlformats.org/officeDocument/2006/relationships/slideLayout" Target="../slideLayouts/slideLayout96.xml"/><Relationship Id="rId45" Type="http://schemas.openxmlformats.org/officeDocument/2006/relationships/slideLayout" Target="../slideLayouts/slideLayout101.xml"/><Relationship Id="rId53" Type="http://schemas.openxmlformats.org/officeDocument/2006/relationships/slideLayout" Target="../slideLayouts/slideLayout109.xml"/><Relationship Id="rId58" Type="http://schemas.openxmlformats.org/officeDocument/2006/relationships/slideLayout" Target="../slideLayouts/slideLayout114.xml"/><Relationship Id="rId5" Type="http://schemas.openxmlformats.org/officeDocument/2006/relationships/slideLayout" Target="../slideLayouts/slideLayout61.xml"/><Relationship Id="rId15" Type="http://schemas.openxmlformats.org/officeDocument/2006/relationships/slideLayout" Target="../slideLayouts/slideLayout71.xml"/><Relationship Id="rId23" Type="http://schemas.openxmlformats.org/officeDocument/2006/relationships/slideLayout" Target="../slideLayouts/slideLayout79.xml"/><Relationship Id="rId28" Type="http://schemas.openxmlformats.org/officeDocument/2006/relationships/slideLayout" Target="../slideLayouts/slideLayout84.xml"/><Relationship Id="rId36" Type="http://schemas.openxmlformats.org/officeDocument/2006/relationships/slideLayout" Target="../slideLayouts/slideLayout92.xml"/><Relationship Id="rId49" Type="http://schemas.openxmlformats.org/officeDocument/2006/relationships/slideLayout" Target="../slideLayouts/slideLayout105.xml"/><Relationship Id="rId57" Type="http://schemas.openxmlformats.org/officeDocument/2006/relationships/slideLayout" Target="../slideLayouts/slideLayout113.xml"/><Relationship Id="rId10" Type="http://schemas.openxmlformats.org/officeDocument/2006/relationships/slideLayout" Target="../slideLayouts/slideLayout66.xml"/><Relationship Id="rId19" Type="http://schemas.openxmlformats.org/officeDocument/2006/relationships/slideLayout" Target="../slideLayouts/slideLayout75.xml"/><Relationship Id="rId31" Type="http://schemas.openxmlformats.org/officeDocument/2006/relationships/slideLayout" Target="../slideLayouts/slideLayout87.xml"/><Relationship Id="rId44" Type="http://schemas.openxmlformats.org/officeDocument/2006/relationships/slideLayout" Target="../slideLayouts/slideLayout100.xml"/><Relationship Id="rId52" Type="http://schemas.openxmlformats.org/officeDocument/2006/relationships/slideLayout" Target="../slideLayouts/slideLayout108.xml"/><Relationship Id="rId60" Type="http://schemas.openxmlformats.org/officeDocument/2006/relationships/theme" Target="../theme/theme3.xml"/><Relationship Id="rId4" Type="http://schemas.openxmlformats.org/officeDocument/2006/relationships/slideLayout" Target="../slideLayouts/slideLayout60.xml"/><Relationship Id="rId9" Type="http://schemas.openxmlformats.org/officeDocument/2006/relationships/slideLayout" Target="../slideLayouts/slideLayout65.xml"/><Relationship Id="rId14" Type="http://schemas.openxmlformats.org/officeDocument/2006/relationships/slideLayout" Target="../slideLayouts/slideLayout70.xml"/><Relationship Id="rId22" Type="http://schemas.openxmlformats.org/officeDocument/2006/relationships/slideLayout" Target="../slideLayouts/slideLayout78.xml"/><Relationship Id="rId27" Type="http://schemas.openxmlformats.org/officeDocument/2006/relationships/slideLayout" Target="../slideLayouts/slideLayout83.xml"/><Relationship Id="rId30" Type="http://schemas.openxmlformats.org/officeDocument/2006/relationships/slideLayout" Target="../slideLayouts/slideLayout86.xml"/><Relationship Id="rId35" Type="http://schemas.openxmlformats.org/officeDocument/2006/relationships/slideLayout" Target="../slideLayouts/slideLayout91.xml"/><Relationship Id="rId43" Type="http://schemas.openxmlformats.org/officeDocument/2006/relationships/slideLayout" Target="../slideLayouts/slideLayout99.xml"/><Relationship Id="rId48" Type="http://schemas.openxmlformats.org/officeDocument/2006/relationships/slideLayout" Target="../slideLayouts/slideLayout104.xml"/><Relationship Id="rId56" Type="http://schemas.openxmlformats.org/officeDocument/2006/relationships/slideLayout" Target="../slideLayouts/slideLayout112.xml"/><Relationship Id="rId8" Type="http://schemas.openxmlformats.org/officeDocument/2006/relationships/slideLayout" Target="../slideLayouts/slideLayout64.xml"/><Relationship Id="rId51" Type="http://schemas.openxmlformats.org/officeDocument/2006/relationships/slideLayout" Target="../slideLayouts/slideLayout107.xml"/><Relationship Id="rId3"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1900">
              <a:srgbClr val="C8DAE2"/>
            </a:gs>
            <a:gs pos="0">
              <a:srgbClr val="C1D5DE">
                <a:alpha val="100000"/>
              </a:srgbClr>
            </a:gs>
            <a:gs pos="100000">
              <a:srgbClr val="FFFFFF">
                <a:alpha val="100000"/>
              </a:srgbClr>
            </a:gs>
          </a:gsLst>
          <a:lin ang="0" scaled="0"/>
          <a:tileRect/>
        </a:gra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endParaRPr lang="en-IN" dirty="0"/>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dirty="0"/>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123D6071-15B7-4B00-A5A2-C31F3760CD0C}" type="slidenum">
              <a:rPr lang="en-IN" smtClean="0"/>
              <a:t>‹#›</a:t>
            </a:fld>
            <a:endParaRPr lang="en-IN" dirty="0"/>
          </a:p>
        </p:txBody>
      </p:sp>
    </p:spTree>
    <p:extLst>
      <p:ext uri="{BB962C8B-B14F-4D97-AF65-F5344CB8AC3E}">
        <p14:creationId xmlns:p14="http://schemas.microsoft.com/office/powerpoint/2010/main" val="273492703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1900">
              <a:srgbClr val="C8DAE2"/>
            </a:gs>
            <a:gs pos="0">
              <a:srgbClr val="C1D5DE">
                <a:alpha val="100000"/>
              </a:srgbClr>
            </a:gs>
            <a:gs pos="100000">
              <a:srgbClr val="FFFFFF">
                <a:alpha val="100000"/>
              </a:srgbClr>
            </a:gs>
          </a:gsLst>
          <a:lin ang="0" scaled="0"/>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
            <a:ext cx="12192000" cy="851770"/>
          </a:xfrm>
          <a:prstGeom prst="rect">
            <a:avLst/>
          </a:prstGeom>
          <a:solidFill>
            <a:schemeClr val="accent1">
              <a:lumMod val="75000"/>
            </a:schemeClr>
          </a:solid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13775" y="1064712"/>
            <a:ext cx="10985325" cy="511225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dirty="0">
              <a:solidFill>
                <a:prstClr val="black">
                  <a:tint val="75000"/>
                </a:prstClr>
              </a:solidFill>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solidFill>
                <a:prstClr val="black">
                  <a:tint val="75000"/>
                </a:prstClr>
              </a:solidFill>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49A517C-F1B1-BF40-82AE-31F321B16473}" type="slidenum">
              <a:rPr>
                <a:solidFill>
                  <a:prstClr val="black">
                    <a:tint val="75000"/>
                  </a:prstClr>
                </a:solidFill>
              </a:rPr>
              <a:pPr/>
              <a:t>‹#›</a:t>
            </a:fld>
            <a:endParaRPr lang="en-US" dirty="0">
              <a:solidFill>
                <a:prstClr val="black">
                  <a:tint val="75000"/>
                </a:prstClr>
              </a:solidFill>
            </a:endParaRPr>
          </a:p>
        </p:txBody>
      </p:sp>
    </p:spTree>
    <p:extLst>
      <p:ext uri="{BB962C8B-B14F-4D97-AF65-F5344CB8AC3E}">
        <p14:creationId xmlns:p14="http://schemas.microsoft.com/office/powerpoint/2010/main" val="410793849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 id="2147483697" r:id="rId13"/>
    <p:sldLayoutId id="2147483698" r:id="rId14"/>
    <p:sldLayoutId id="2147483699" r:id="rId15"/>
    <p:sldLayoutId id="2147483700" r:id="rId16"/>
    <p:sldLayoutId id="2147483701" r:id="rId17"/>
    <p:sldLayoutId id="2147483702" r:id="rId18"/>
    <p:sldLayoutId id="2147483703" r:id="rId19"/>
    <p:sldLayoutId id="2147483704" r:id="rId20"/>
    <p:sldLayoutId id="2147483705" r:id="rId21"/>
    <p:sldLayoutId id="2147483706" r:id="rId22"/>
    <p:sldLayoutId id="2147483707" r:id="rId23"/>
    <p:sldLayoutId id="2147483708" r:id="rId24"/>
    <p:sldLayoutId id="2147483709" r:id="rId25"/>
    <p:sldLayoutId id="2147483710" r:id="rId26"/>
    <p:sldLayoutId id="2147483711" r:id="rId27"/>
    <p:sldLayoutId id="2147483712" r:id="rId28"/>
    <p:sldLayoutId id="2147483713" r:id="rId29"/>
    <p:sldLayoutId id="2147483714" r:id="rId30"/>
    <p:sldLayoutId id="2147483715" r:id="rId31"/>
    <p:sldLayoutId id="2147483716" r:id="rId32"/>
    <p:sldLayoutId id="2147483717" r:id="rId33"/>
    <p:sldLayoutId id="2147483718" r:id="rId34"/>
    <p:sldLayoutId id="2147483719" r:id="rId35"/>
    <p:sldLayoutId id="2147483720" r:id="rId36"/>
    <p:sldLayoutId id="2147483721" r:id="rId37"/>
    <p:sldLayoutId id="2147483722" r:id="rId38"/>
    <p:sldLayoutId id="2147483723" r:id="rId39"/>
    <p:sldLayoutId id="2147483724" r:id="rId40"/>
    <p:sldLayoutId id="2147483725" r:id="rId41"/>
    <p:sldLayoutId id="2147483726" r:id="rId42"/>
    <p:sldLayoutId id="2147483727" r:id="rId43"/>
    <p:sldLayoutId id="2147483728" r:id="rId44"/>
    <p:sldLayoutId id="2147483785" r:id="rId45"/>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1900">
              <a:srgbClr val="C8DAE2"/>
            </a:gs>
            <a:gs pos="0">
              <a:srgbClr val="C1D5DE">
                <a:alpha val="100000"/>
              </a:srgbClr>
            </a:gs>
            <a:gs pos="100000">
              <a:srgbClr val="FFFFFF">
                <a:alpha val="100000"/>
              </a:srgbClr>
            </a:gs>
          </a:gsLst>
          <a:lin ang="0" scaled="0"/>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1A2AF1FA-1B28-CAC4-B2BC-A19513E03B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0A0496A9-6E8D-EB9F-F0B0-3D9EFA2176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5430799-3861-54D0-9C90-EF3886A3C4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35A9B1-E73E-43C5-B967-2A852AAF5896}" type="datetimeFigureOut">
              <a:rPr lang="en-IN" smtClean="0"/>
              <a:t>07-04-2025</a:t>
            </a:fld>
            <a:endParaRPr lang="en-IN" dirty="0"/>
          </a:p>
        </p:txBody>
      </p:sp>
      <p:sp>
        <p:nvSpPr>
          <p:cNvPr id="5" name="Footer Placeholder 4">
            <a:extLst>
              <a:ext uri="{FF2B5EF4-FFF2-40B4-BE49-F238E27FC236}">
                <a16:creationId xmlns:a16="http://schemas.microsoft.com/office/drawing/2014/main" xmlns="" id="{06F31E77-A977-83AE-71CD-D303309DF3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a:extLst>
              <a:ext uri="{FF2B5EF4-FFF2-40B4-BE49-F238E27FC236}">
                <a16:creationId xmlns:a16="http://schemas.microsoft.com/office/drawing/2014/main" xmlns="" id="{29D96208-07DD-75B1-FD19-0755449D2AB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E5454C4-7B25-4EA9-8E88-AD7E397AD23E}" type="slidenum">
              <a:rPr lang="en-IN" smtClean="0"/>
              <a:t>‹#›</a:t>
            </a:fld>
            <a:endParaRPr lang="en-IN" dirty="0"/>
          </a:p>
        </p:txBody>
      </p:sp>
    </p:spTree>
    <p:extLst>
      <p:ext uri="{BB962C8B-B14F-4D97-AF65-F5344CB8AC3E}">
        <p14:creationId xmlns:p14="http://schemas.microsoft.com/office/powerpoint/2010/main" val="3451274376"/>
      </p:ext>
    </p:extLst>
  </p:cSld>
  <p:clrMap bg1="lt1" tx1="dk1" bg2="lt2" tx2="dk2" accent1="accent1" accent2="accent2" accent3="accent3" accent4="accent4" accent5="accent5" accent6="accent6" hlink="hlink" folHlink="folHlink"/>
  <p:sldLayoutIdLst>
    <p:sldLayoutId id="2147483730" r:id="rId1"/>
    <p:sldLayoutId id="2147483731" r:id="rId2"/>
    <p:sldLayoutId id="2147483732" r:id="rId3"/>
    <p:sldLayoutId id="2147483733" r:id="rId4"/>
    <p:sldLayoutId id="2147483734" r:id="rId5"/>
    <p:sldLayoutId id="2147483735" r:id="rId6"/>
    <p:sldLayoutId id="2147483736" r:id="rId7"/>
    <p:sldLayoutId id="2147483737" r:id="rId8"/>
    <p:sldLayoutId id="2147483738" r:id="rId9"/>
    <p:sldLayoutId id="2147483739" r:id="rId10"/>
    <p:sldLayoutId id="2147483740" r:id="rId11"/>
    <p:sldLayoutId id="2147483741" r:id="rId12"/>
    <p:sldLayoutId id="2147483742" r:id="rId13"/>
    <p:sldLayoutId id="2147483743" r:id="rId14"/>
    <p:sldLayoutId id="2147483744" r:id="rId15"/>
    <p:sldLayoutId id="2147483745" r:id="rId16"/>
    <p:sldLayoutId id="2147483746" r:id="rId17"/>
    <p:sldLayoutId id="2147483747" r:id="rId18"/>
    <p:sldLayoutId id="2147483748" r:id="rId19"/>
    <p:sldLayoutId id="2147483749" r:id="rId20"/>
    <p:sldLayoutId id="2147483750" r:id="rId21"/>
    <p:sldLayoutId id="2147483751" r:id="rId22"/>
    <p:sldLayoutId id="2147483752" r:id="rId23"/>
    <p:sldLayoutId id="2147483753" r:id="rId24"/>
    <p:sldLayoutId id="2147483754" r:id="rId25"/>
    <p:sldLayoutId id="2147483755" r:id="rId26"/>
    <p:sldLayoutId id="2147483756" r:id="rId27"/>
    <p:sldLayoutId id="2147483757" r:id="rId28"/>
    <p:sldLayoutId id="2147483758" r:id="rId29"/>
    <p:sldLayoutId id="2147483759" r:id="rId30"/>
    <p:sldLayoutId id="2147483760" r:id="rId31"/>
    <p:sldLayoutId id="2147483761" r:id="rId32"/>
    <p:sldLayoutId id="2147483762" r:id="rId33"/>
    <p:sldLayoutId id="2147483763" r:id="rId34"/>
    <p:sldLayoutId id="2147483764" r:id="rId35"/>
    <p:sldLayoutId id="2147483765" r:id="rId36"/>
    <p:sldLayoutId id="2147483766" r:id="rId37"/>
    <p:sldLayoutId id="2147483767" r:id="rId38"/>
    <p:sldLayoutId id="2147483768" r:id="rId39"/>
    <p:sldLayoutId id="2147483769" r:id="rId40"/>
    <p:sldLayoutId id="2147483770" r:id="rId41"/>
    <p:sldLayoutId id="2147483771" r:id="rId42"/>
    <p:sldLayoutId id="2147483772" r:id="rId43"/>
    <p:sldLayoutId id="2147483773" r:id="rId44"/>
    <p:sldLayoutId id="2147483774" r:id="rId45"/>
    <p:sldLayoutId id="2147483775" r:id="rId46"/>
    <p:sldLayoutId id="2147483776" r:id="rId47"/>
    <p:sldLayoutId id="2147483777" r:id="rId48"/>
    <p:sldLayoutId id="2147483778" r:id="rId49"/>
    <p:sldLayoutId id="2147483779" r:id="rId50"/>
    <p:sldLayoutId id="2147483780" r:id="rId51"/>
    <p:sldLayoutId id="2147483781" r:id="rId52"/>
    <p:sldLayoutId id="2147483782" r:id="rId53"/>
    <p:sldLayoutId id="2147483783" r:id="rId54"/>
    <p:sldLayoutId id="2147483784" r:id="rId55"/>
    <p:sldLayoutId id="2147483786" r:id="rId56"/>
    <p:sldLayoutId id="2147483787" r:id="rId57"/>
    <p:sldLayoutId id="2147483788" r:id="rId58"/>
    <p:sldLayoutId id="2147483789" r:id="rId5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5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6.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13.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14.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1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1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3.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114.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1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3.xml"/></Relationships>
</file>

<file path=ppt/slides/_rels/slide1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114.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5.xml"/><Relationship Id="rId5" Type="http://schemas.openxmlformats.org/officeDocument/2006/relationships/image" Target="../media/image35.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3.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11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3.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7.xml"/><Relationship Id="rId1" Type="http://schemas.openxmlformats.org/officeDocument/2006/relationships/slideLayout" Target="../slideLayouts/slideLayout114.xml"/><Relationship Id="rId5" Type="http://schemas.openxmlformats.org/officeDocument/2006/relationships/image" Target="../media/image39.png"/><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8.xml"/><Relationship Id="rId1" Type="http://schemas.openxmlformats.org/officeDocument/2006/relationships/slideLayout" Target="../slideLayouts/slideLayout115.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28421" y="1450086"/>
            <a:ext cx="9035332" cy="2058989"/>
          </a:xfrm>
        </p:spPr>
        <p:txBody>
          <a:bodyPr>
            <a:normAutofit fontScale="90000"/>
          </a:bodyPr>
          <a:lstStyle/>
          <a:p>
            <a:pPr algn="ctr"/>
            <a:r>
              <a:rPr lang="en-US" sz="5400" dirty="0">
                <a:latin typeface="Roboto" pitchFamily="2" charset="0"/>
                <a:ea typeface="Roboto" pitchFamily="2" charset="0"/>
              </a:rPr>
              <a:t>A data preprocessing technique </a:t>
            </a:r>
            <a:r>
              <a:rPr lang="en-US" sz="5400" dirty="0" smtClean="0">
                <a:latin typeface="Roboto" pitchFamily="2" charset="0"/>
                <a:ea typeface="Roboto" pitchFamily="2" charset="0"/>
              </a:rPr>
              <a:t>to manage the batteries of the EV vehicles</a:t>
            </a:r>
            <a:endParaRPr lang="en-IN" sz="5400" dirty="0">
              <a:latin typeface="Roboto" pitchFamily="2" charset="0"/>
              <a:ea typeface="Roboto" pitchFamily="2" charset="0"/>
            </a:endParaRPr>
          </a:p>
        </p:txBody>
      </p:sp>
      <p:sp>
        <p:nvSpPr>
          <p:cNvPr id="3" name="Subtitle 2"/>
          <p:cNvSpPr>
            <a:spLocks noGrp="1"/>
          </p:cNvSpPr>
          <p:nvPr>
            <p:ph type="subTitle" idx="1"/>
          </p:nvPr>
        </p:nvSpPr>
        <p:spPr>
          <a:xfrm>
            <a:off x="980783" y="4773674"/>
            <a:ext cx="10058400" cy="1143000"/>
          </a:xfrm>
        </p:spPr>
        <p:txBody>
          <a:bodyPr>
            <a:normAutofit/>
          </a:bodyPr>
          <a:lstStyle/>
          <a:p>
            <a:r>
              <a:rPr lang="en-US" dirty="0">
                <a:solidFill>
                  <a:schemeClr val="tx1"/>
                </a:solidFill>
                <a:latin typeface="Roboto" pitchFamily="2" charset="0"/>
                <a:ea typeface="Roboto" pitchFamily="2" charset="0"/>
              </a:rPr>
              <a:t>Presented </a:t>
            </a:r>
            <a:r>
              <a:rPr lang="en-US" dirty="0" smtClean="0">
                <a:solidFill>
                  <a:schemeClr val="tx1"/>
                </a:solidFill>
                <a:latin typeface="Roboto" pitchFamily="2" charset="0"/>
                <a:ea typeface="Roboto" pitchFamily="2" charset="0"/>
              </a:rPr>
              <a:t>by:-  				proposed </a:t>
            </a:r>
            <a:endParaRPr lang="en-US" dirty="0">
              <a:solidFill>
                <a:schemeClr val="tx1"/>
              </a:solidFill>
              <a:latin typeface="Roboto" pitchFamily="2" charset="0"/>
              <a:ea typeface="Roboto" pitchFamily="2" charset="0"/>
            </a:endParaRPr>
          </a:p>
        </p:txBody>
      </p:sp>
      <p:sp>
        <p:nvSpPr>
          <p:cNvPr id="5" name="TextBox 4"/>
          <p:cNvSpPr txBox="1"/>
          <p:nvPr/>
        </p:nvSpPr>
        <p:spPr>
          <a:xfrm>
            <a:off x="3127510" y="375455"/>
            <a:ext cx="7222438" cy="523220"/>
          </a:xfrm>
          <a:prstGeom prst="rect">
            <a:avLst/>
          </a:prstGeom>
          <a:noFill/>
        </p:spPr>
        <p:txBody>
          <a:bodyPr wrap="square" rtlCol="0">
            <a:spAutoFit/>
          </a:bodyPr>
          <a:lstStyle/>
          <a:p>
            <a:r>
              <a:rPr lang="en-US" sz="2800" dirty="0">
                <a:latin typeface="Roboto" pitchFamily="2" charset="0"/>
                <a:ea typeface="Roboto" pitchFamily="2" charset="0"/>
              </a:rPr>
              <a:t>A Capstone Project Presentation on</a:t>
            </a:r>
            <a:endParaRPr lang="en-IN" sz="2800" dirty="0">
              <a:latin typeface="Roboto" pitchFamily="2" charset="0"/>
              <a:ea typeface="Roboto" pitchFamily="2" charset="0"/>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03290182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2000" cy="6858000"/>
          </a:xfrm>
          <a:prstGeom prst="rect">
            <a:avLst/>
          </a:prstGeom>
        </p:spPr>
      </p:pic>
      <p:sp>
        <p:nvSpPr>
          <p:cNvPr id="3" name="Text 0"/>
          <p:cNvSpPr/>
          <p:nvPr/>
        </p:nvSpPr>
        <p:spPr>
          <a:xfrm>
            <a:off x="5270104" y="1474292"/>
            <a:ext cx="6223794" cy="1760042"/>
          </a:xfrm>
          <a:prstGeom prst="rect">
            <a:avLst/>
          </a:prstGeom>
          <a:noFill/>
          <a:ln/>
        </p:spPr>
        <p:txBody>
          <a:bodyPr wrap="squar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Powering the Future: Batteries for Electric Vehicles</a:t>
            </a:r>
            <a:endParaRPr lang="en-US" sz="3667" dirty="0"/>
          </a:p>
        </p:txBody>
      </p:sp>
      <p:sp>
        <p:nvSpPr>
          <p:cNvPr id="4" name="Text 1"/>
          <p:cNvSpPr/>
          <p:nvPr/>
        </p:nvSpPr>
        <p:spPr>
          <a:xfrm>
            <a:off x="5270104" y="3533477"/>
            <a:ext cx="6223794" cy="1276747"/>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Electric vehicles are rapidly transforming the automotive landscape. Batteries play a crucial role in this transition. The global EV market is expected to grow at a rate of 40% annually through 2030. Meeting this demand will require massive investments in battery production.</a:t>
            </a:r>
            <a:endParaRPr lang="en-US" sz="1542" dirty="0"/>
          </a:p>
        </p:txBody>
      </p:sp>
    </p:spTree>
    <p:extLst>
      <p:ext uri="{BB962C8B-B14F-4D97-AF65-F5344CB8AC3E}">
        <p14:creationId xmlns:p14="http://schemas.microsoft.com/office/powerpoint/2010/main" val="3220255520"/>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752303"/>
            <a:ext cx="5463679"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Types of EV Batteries</a:t>
            </a:r>
            <a:endParaRPr lang="en-US" sz="3667" dirty="0"/>
          </a:p>
        </p:txBody>
      </p:sp>
      <p:sp>
        <p:nvSpPr>
          <p:cNvPr id="3" name="Text 1"/>
          <p:cNvSpPr/>
          <p:nvPr/>
        </p:nvSpPr>
        <p:spPr>
          <a:xfrm>
            <a:off x="698103" y="2837557"/>
            <a:ext cx="2431157"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Lithium-ion (Li-ion)</a:t>
            </a:r>
            <a:endParaRPr lang="en-US" sz="1833" dirty="0"/>
          </a:p>
        </p:txBody>
      </p:sp>
      <p:sp>
        <p:nvSpPr>
          <p:cNvPr id="4" name="Text 2"/>
          <p:cNvSpPr/>
          <p:nvPr/>
        </p:nvSpPr>
        <p:spPr>
          <a:xfrm>
            <a:off x="698103" y="3330278"/>
            <a:ext cx="3273822" cy="159593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The current industry standard. Boasts a high energy density of 250-700 Wh/L. Offers a long cycle life, typically 500-1000 cycles. Used by Tesla, GM, and Ford.</a:t>
            </a:r>
            <a:endParaRPr lang="en-US" sz="1542" dirty="0"/>
          </a:p>
        </p:txBody>
      </p:sp>
      <p:sp>
        <p:nvSpPr>
          <p:cNvPr id="5" name="Text 3"/>
          <p:cNvSpPr/>
          <p:nvPr/>
        </p:nvSpPr>
        <p:spPr>
          <a:xfrm>
            <a:off x="4464845" y="2837557"/>
            <a:ext cx="2654994"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Solid-State Batteries</a:t>
            </a:r>
            <a:endParaRPr lang="en-US" sz="1833" dirty="0"/>
          </a:p>
        </p:txBody>
      </p:sp>
      <p:sp>
        <p:nvSpPr>
          <p:cNvPr id="6" name="Text 4"/>
          <p:cNvSpPr/>
          <p:nvPr/>
        </p:nvSpPr>
        <p:spPr>
          <a:xfrm>
            <a:off x="4464844" y="3330278"/>
            <a:ext cx="3273822" cy="159593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The next-generation tech. Higher energy density (800+ Wh/L potential). Provides improved safety and faster charging. Expected commercially by 2025-2030.</a:t>
            </a:r>
            <a:endParaRPr lang="en-US" sz="1542" dirty="0"/>
          </a:p>
        </p:txBody>
      </p:sp>
      <p:sp>
        <p:nvSpPr>
          <p:cNvPr id="7" name="Text 5"/>
          <p:cNvSpPr/>
          <p:nvPr/>
        </p:nvSpPr>
        <p:spPr>
          <a:xfrm>
            <a:off x="8231584" y="2837557"/>
            <a:ext cx="3273822" cy="586582"/>
          </a:xfrm>
          <a:prstGeom prst="rect">
            <a:avLst/>
          </a:prstGeom>
          <a:noFill/>
          <a:ln/>
        </p:spPr>
        <p:txBody>
          <a:bodyPr wrap="squar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Lithium Iron Phosphate (LFP)</a:t>
            </a:r>
            <a:endParaRPr lang="en-US" sz="1833" dirty="0"/>
          </a:p>
        </p:txBody>
      </p:sp>
      <p:sp>
        <p:nvSpPr>
          <p:cNvPr id="8" name="Text 6"/>
          <p:cNvSpPr/>
          <p:nvPr/>
        </p:nvSpPr>
        <p:spPr>
          <a:xfrm>
            <a:off x="8231584" y="3623568"/>
            <a:ext cx="3273822"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Offers increased safety and thermal stability. Is cobalt-free, lowering cost and reliance on conflict minerals.</a:t>
            </a:r>
            <a:endParaRPr lang="en-US" sz="1542" dirty="0"/>
          </a:p>
        </p:txBody>
      </p:sp>
    </p:spTree>
    <p:extLst>
      <p:ext uri="{BB962C8B-B14F-4D97-AF65-F5344CB8AC3E}">
        <p14:creationId xmlns:p14="http://schemas.microsoft.com/office/powerpoint/2010/main" val="85746329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046957"/>
            <a:ext cx="10498336"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Factors Affecting Battery Life and Range</a:t>
            </a:r>
            <a:endParaRPr lang="en-US" sz="3667" dirty="0"/>
          </a:p>
        </p:txBody>
      </p:sp>
      <p:sp>
        <p:nvSpPr>
          <p:cNvPr id="3" name="Text 1"/>
          <p:cNvSpPr/>
          <p:nvPr/>
        </p:nvSpPr>
        <p:spPr>
          <a:xfrm>
            <a:off x="1859955" y="2303364"/>
            <a:ext cx="2346821" cy="293291"/>
          </a:xfrm>
          <a:prstGeom prst="rect">
            <a:avLst/>
          </a:prstGeom>
          <a:noFill/>
          <a:ln/>
        </p:spPr>
        <p:txBody>
          <a:bodyPr wrap="none" lIns="0" tIns="0" rIns="0" bIns="0" rtlCol="0" anchor="t"/>
          <a:lstStyle/>
          <a:p>
            <a:pPr algn="r">
              <a:lnSpc>
                <a:spcPts val="2292"/>
              </a:lnSpc>
            </a:pPr>
            <a:r>
              <a:rPr lang="en-US" sz="1833" b="1" dirty="0">
                <a:solidFill>
                  <a:srgbClr val="D9E1FF"/>
                </a:solidFill>
                <a:latin typeface="Syne Bold" pitchFamily="34" charset="0"/>
                <a:ea typeface="Syne Bold" pitchFamily="34" charset="-122"/>
                <a:cs typeface="Syne Bold" pitchFamily="34" charset="-120"/>
              </a:rPr>
              <a:t>Temperature</a:t>
            </a:r>
            <a:endParaRPr lang="en-US" sz="1833" dirty="0"/>
          </a:p>
        </p:txBody>
      </p:sp>
      <p:sp>
        <p:nvSpPr>
          <p:cNvPr id="4" name="Text 2"/>
          <p:cNvSpPr/>
          <p:nvPr/>
        </p:nvSpPr>
        <p:spPr>
          <a:xfrm>
            <a:off x="698104" y="2716312"/>
            <a:ext cx="3508673" cy="638373"/>
          </a:xfrm>
          <a:prstGeom prst="rect">
            <a:avLst/>
          </a:prstGeom>
          <a:noFill/>
          <a:ln/>
        </p:spPr>
        <p:txBody>
          <a:bodyPr wrap="square" lIns="0" tIns="0" rIns="0" bIns="0" rtlCol="0" anchor="t"/>
          <a:lstStyle/>
          <a:p>
            <a:pPr algn="r">
              <a:lnSpc>
                <a:spcPts val="2500"/>
              </a:lnSpc>
            </a:pPr>
            <a:r>
              <a:rPr lang="en-US" sz="1542" dirty="0">
                <a:solidFill>
                  <a:srgbClr val="D9E1FF"/>
                </a:solidFill>
                <a:latin typeface="Arimo" pitchFamily="34" charset="0"/>
                <a:ea typeface="Arimo" pitchFamily="34" charset="-122"/>
                <a:cs typeface="Arimo" pitchFamily="34" charset="-120"/>
              </a:rPr>
              <a:t>Extreme temps reduce performance. Optimal: 15-35°C (59-95°F).</a:t>
            </a:r>
            <a:endParaRPr lang="en-US" sz="1542" dirty="0"/>
          </a:p>
        </p:txBody>
      </p:sp>
      <p:pic>
        <p:nvPicPr>
          <p:cNvPr id="5" name="Image 0" descr="preencoded.png"/>
          <p:cNvPicPr>
            <a:picLocks noChangeAspect="1"/>
          </p:cNvPicPr>
          <p:nvPr/>
        </p:nvPicPr>
        <p:blipFill>
          <a:blip r:embed="rId3"/>
          <a:stretch>
            <a:fillRect/>
          </a:stretch>
        </p:blipFill>
        <p:spPr>
          <a:xfrm>
            <a:off x="4206776" y="2032595"/>
            <a:ext cx="3778448" cy="3778448"/>
          </a:xfrm>
          <a:prstGeom prst="rect">
            <a:avLst/>
          </a:prstGeom>
        </p:spPr>
      </p:pic>
      <p:sp>
        <p:nvSpPr>
          <p:cNvPr id="6" name="Text 3"/>
          <p:cNvSpPr/>
          <p:nvPr/>
        </p:nvSpPr>
        <p:spPr>
          <a:xfrm>
            <a:off x="5267722" y="3058518"/>
            <a:ext cx="280492" cy="350639"/>
          </a:xfrm>
          <a:prstGeom prst="rect">
            <a:avLst/>
          </a:prstGeom>
          <a:noFill/>
          <a:ln/>
        </p:spPr>
        <p:txBody>
          <a:bodyPr wrap="none" lIns="0" tIns="0" rIns="0" bIns="0" rtlCol="0" anchor="t"/>
          <a:lstStyle/>
          <a:p>
            <a:pPr>
              <a:lnSpc>
                <a:spcPts val="3500"/>
              </a:lnSpc>
            </a:pPr>
            <a:r>
              <a:rPr lang="en-US" sz="2208" b="1" dirty="0">
                <a:solidFill>
                  <a:srgbClr val="D9E1FF"/>
                </a:solidFill>
                <a:latin typeface="Syne Bold" pitchFamily="34" charset="0"/>
                <a:ea typeface="Syne Bold" pitchFamily="34" charset="-122"/>
                <a:cs typeface="Syne Bold" pitchFamily="34" charset="-120"/>
              </a:rPr>
              <a:t>1</a:t>
            </a:r>
            <a:endParaRPr lang="en-US" sz="2208" dirty="0"/>
          </a:p>
        </p:txBody>
      </p:sp>
      <p:sp>
        <p:nvSpPr>
          <p:cNvPr id="7" name="Text 4"/>
          <p:cNvSpPr/>
          <p:nvPr/>
        </p:nvSpPr>
        <p:spPr>
          <a:xfrm>
            <a:off x="7985225" y="2303364"/>
            <a:ext cx="2346821"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Driving Habits</a:t>
            </a:r>
            <a:endParaRPr lang="en-US" sz="1833" dirty="0"/>
          </a:p>
        </p:txBody>
      </p:sp>
      <p:sp>
        <p:nvSpPr>
          <p:cNvPr id="8" name="Text 5"/>
          <p:cNvSpPr/>
          <p:nvPr/>
        </p:nvSpPr>
        <p:spPr>
          <a:xfrm>
            <a:off x="7985224" y="2716312"/>
            <a:ext cx="350867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Aggressive driving reduces range. Smooth driving improves efficiency.</a:t>
            </a:r>
            <a:endParaRPr lang="en-US" sz="1542" dirty="0"/>
          </a:p>
        </p:txBody>
      </p:sp>
      <p:pic>
        <p:nvPicPr>
          <p:cNvPr id="9" name="Image 1" descr="preencoded.png"/>
          <p:cNvPicPr>
            <a:picLocks noChangeAspect="1"/>
          </p:cNvPicPr>
          <p:nvPr/>
        </p:nvPicPr>
        <p:blipFill>
          <a:blip r:embed="rId4"/>
          <a:stretch>
            <a:fillRect/>
          </a:stretch>
        </p:blipFill>
        <p:spPr>
          <a:xfrm>
            <a:off x="4206776" y="2032595"/>
            <a:ext cx="3778448" cy="3778448"/>
          </a:xfrm>
          <a:prstGeom prst="rect">
            <a:avLst/>
          </a:prstGeom>
        </p:spPr>
      </p:pic>
      <p:sp>
        <p:nvSpPr>
          <p:cNvPr id="10" name="Text 6"/>
          <p:cNvSpPr/>
          <p:nvPr/>
        </p:nvSpPr>
        <p:spPr>
          <a:xfrm>
            <a:off x="6643588" y="3058518"/>
            <a:ext cx="280492" cy="350639"/>
          </a:xfrm>
          <a:prstGeom prst="rect">
            <a:avLst/>
          </a:prstGeom>
          <a:noFill/>
          <a:ln/>
        </p:spPr>
        <p:txBody>
          <a:bodyPr wrap="none" lIns="0" tIns="0" rIns="0" bIns="0" rtlCol="0" anchor="t"/>
          <a:lstStyle/>
          <a:p>
            <a:pPr>
              <a:lnSpc>
                <a:spcPts val="3500"/>
              </a:lnSpc>
            </a:pPr>
            <a:r>
              <a:rPr lang="en-US" sz="2208" b="1" dirty="0">
                <a:solidFill>
                  <a:srgbClr val="D9E1FF"/>
                </a:solidFill>
                <a:latin typeface="Syne Bold" pitchFamily="34" charset="0"/>
                <a:ea typeface="Syne Bold" pitchFamily="34" charset="-122"/>
                <a:cs typeface="Syne Bold" pitchFamily="34" charset="-120"/>
              </a:rPr>
              <a:t>2</a:t>
            </a:r>
            <a:endParaRPr lang="en-US" sz="2208" dirty="0"/>
          </a:p>
        </p:txBody>
      </p:sp>
      <p:sp>
        <p:nvSpPr>
          <p:cNvPr id="11" name="Text 7"/>
          <p:cNvSpPr/>
          <p:nvPr/>
        </p:nvSpPr>
        <p:spPr>
          <a:xfrm>
            <a:off x="7985224" y="4342210"/>
            <a:ext cx="2767807"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State of Charge (SoC)</a:t>
            </a:r>
            <a:endParaRPr lang="en-US" sz="1833" dirty="0"/>
          </a:p>
        </p:txBody>
      </p:sp>
      <p:sp>
        <p:nvSpPr>
          <p:cNvPr id="12" name="Text 8"/>
          <p:cNvSpPr/>
          <p:nvPr/>
        </p:nvSpPr>
        <p:spPr>
          <a:xfrm>
            <a:off x="7985224" y="4755158"/>
            <a:ext cx="350867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Optimal SoC extends life. Avoid 100% or 0% regularly.</a:t>
            </a:r>
            <a:endParaRPr lang="en-US" sz="1542" dirty="0"/>
          </a:p>
        </p:txBody>
      </p:sp>
      <p:pic>
        <p:nvPicPr>
          <p:cNvPr id="13" name="Image 2" descr="preencoded.png"/>
          <p:cNvPicPr>
            <a:picLocks noChangeAspect="1"/>
          </p:cNvPicPr>
          <p:nvPr/>
        </p:nvPicPr>
        <p:blipFill>
          <a:blip r:embed="rId5"/>
          <a:stretch>
            <a:fillRect/>
          </a:stretch>
        </p:blipFill>
        <p:spPr>
          <a:xfrm>
            <a:off x="4206776" y="2032595"/>
            <a:ext cx="3778448" cy="3778448"/>
          </a:xfrm>
          <a:prstGeom prst="rect">
            <a:avLst/>
          </a:prstGeom>
        </p:spPr>
      </p:pic>
      <p:sp>
        <p:nvSpPr>
          <p:cNvPr id="14" name="Text 9"/>
          <p:cNvSpPr/>
          <p:nvPr/>
        </p:nvSpPr>
        <p:spPr>
          <a:xfrm>
            <a:off x="6643588" y="4434384"/>
            <a:ext cx="280492" cy="350639"/>
          </a:xfrm>
          <a:prstGeom prst="rect">
            <a:avLst/>
          </a:prstGeom>
          <a:noFill/>
          <a:ln/>
        </p:spPr>
        <p:txBody>
          <a:bodyPr wrap="none" lIns="0" tIns="0" rIns="0" bIns="0" rtlCol="0" anchor="t"/>
          <a:lstStyle/>
          <a:p>
            <a:pPr>
              <a:lnSpc>
                <a:spcPts val="3500"/>
              </a:lnSpc>
            </a:pPr>
            <a:r>
              <a:rPr lang="en-US" sz="2208" b="1" dirty="0">
                <a:solidFill>
                  <a:srgbClr val="D9E1FF"/>
                </a:solidFill>
                <a:latin typeface="Syne Bold" pitchFamily="34" charset="0"/>
                <a:ea typeface="Syne Bold" pitchFamily="34" charset="-122"/>
                <a:cs typeface="Syne Bold" pitchFamily="34" charset="-120"/>
              </a:rPr>
              <a:t>3</a:t>
            </a:r>
            <a:endParaRPr lang="en-US" sz="2208" dirty="0"/>
          </a:p>
        </p:txBody>
      </p:sp>
      <p:sp>
        <p:nvSpPr>
          <p:cNvPr id="15" name="Text 10"/>
          <p:cNvSpPr/>
          <p:nvPr/>
        </p:nvSpPr>
        <p:spPr>
          <a:xfrm>
            <a:off x="698104" y="4195564"/>
            <a:ext cx="3508673" cy="586582"/>
          </a:xfrm>
          <a:prstGeom prst="rect">
            <a:avLst/>
          </a:prstGeom>
          <a:noFill/>
          <a:ln/>
        </p:spPr>
        <p:txBody>
          <a:bodyPr wrap="square" lIns="0" tIns="0" rIns="0" bIns="0" rtlCol="0" anchor="t"/>
          <a:lstStyle/>
          <a:p>
            <a:pPr algn="r">
              <a:lnSpc>
                <a:spcPts val="2292"/>
              </a:lnSpc>
            </a:pPr>
            <a:r>
              <a:rPr lang="en-US" sz="1833" b="1" dirty="0">
                <a:solidFill>
                  <a:srgbClr val="D9E1FF"/>
                </a:solidFill>
                <a:latin typeface="Syne Bold" pitchFamily="34" charset="0"/>
                <a:ea typeface="Syne Bold" pitchFamily="34" charset="-122"/>
                <a:cs typeface="Syne Bold" pitchFamily="34" charset="-120"/>
              </a:rPr>
              <a:t>Battery Management System (BMS)</a:t>
            </a:r>
            <a:endParaRPr lang="en-US" sz="1833" dirty="0"/>
          </a:p>
        </p:txBody>
      </p:sp>
      <p:sp>
        <p:nvSpPr>
          <p:cNvPr id="16" name="Text 11"/>
          <p:cNvSpPr/>
          <p:nvPr/>
        </p:nvSpPr>
        <p:spPr>
          <a:xfrm>
            <a:off x="698104" y="4901804"/>
            <a:ext cx="3508673" cy="638373"/>
          </a:xfrm>
          <a:prstGeom prst="rect">
            <a:avLst/>
          </a:prstGeom>
          <a:noFill/>
          <a:ln/>
        </p:spPr>
        <p:txBody>
          <a:bodyPr wrap="square" lIns="0" tIns="0" rIns="0" bIns="0" rtlCol="0" anchor="t"/>
          <a:lstStyle/>
          <a:p>
            <a:pPr algn="r">
              <a:lnSpc>
                <a:spcPts val="2500"/>
              </a:lnSpc>
            </a:pPr>
            <a:r>
              <a:rPr lang="en-US" sz="1542" dirty="0">
                <a:solidFill>
                  <a:srgbClr val="D9E1FF"/>
                </a:solidFill>
                <a:latin typeface="Arimo" pitchFamily="34" charset="0"/>
                <a:ea typeface="Arimo" pitchFamily="34" charset="-122"/>
                <a:cs typeface="Arimo" pitchFamily="34" charset="-120"/>
              </a:rPr>
              <a:t>Monitors and optimizes battery performance to prevent issues.</a:t>
            </a:r>
            <a:endParaRPr lang="en-US" sz="1542" dirty="0"/>
          </a:p>
        </p:txBody>
      </p:sp>
      <p:pic>
        <p:nvPicPr>
          <p:cNvPr id="17" name="Image 3" descr="preencoded.png"/>
          <p:cNvPicPr>
            <a:picLocks noChangeAspect="1"/>
          </p:cNvPicPr>
          <p:nvPr/>
        </p:nvPicPr>
        <p:blipFill>
          <a:blip r:embed="rId6"/>
          <a:stretch>
            <a:fillRect/>
          </a:stretch>
        </p:blipFill>
        <p:spPr>
          <a:xfrm>
            <a:off x="4206776" y="2032595"/>
            <a:ext cx="3778448" cy="3778448"/>
          </a:xfrm>
          <a:prstGeom prst="rect">
            <a:avLst/>
          </a:prstGeom>
        </p:spPr>
      </p:pic>
      <p:sp>
        <p:nvSpPr>
          <p:cNvPr id="18" name="Text 12"/>
          <p:cNvSpPr/>
          <p:nvPr/>
        </p:nvSpPr>
        <p:spPr>
          <a:xfrm>
            <a:off x="5267722" y="4434384"/>
            <a:ext cx="280492" cy="350639"/>
          </a:xfrm>
          <a:prstGeom prst="rect">
            <a:avLst/>
          </a:prstGeom>
          <a:noFill/>
          <a:ln/>
        </p:spPr>
        <p:txBody>
          <a:bodyPr wrap="none" lIns="0" tIns="0" rIns="0" bIns="0" rtlCol="0" anchor="t"/>
          <a:lstStyle/>
          <a:p>
            <a:pPr>
              <a:lnSpc>
                <a:spcPts val="3500"/>
              </a:lnSpc>
            </a:pPr>
            <a:r>
              <a:rPr lang="en-US" sz="2208" b="1" dirty="0">
                <a:solidFill>
                  <a:srgbClr val="D9E1FF"/>
                </a:solidFill>
                <a:latin typeface="Syne Bold" pitchFamily="34" charset="0"/>
                <a:ea typeface="Syne Bold" pitchFamily="34" charset="-122"/>
                <a:cs typeface="Syne Bold" pitchFamily="34" charset="-120"/>
              </a:rPr>
              <a:t>4</a:t>
            </a:r>
            <a:endParaRPr lang="en-US" sz="2208" dirty="0"/>
          </a:p>
        </p:txBody>
      </p:sp>
    </p:spTree>
    <p:extLst>
      <p:ext uri="{BB962C8B-B14F-4D97-AF65-F5344CB8AC3E}">
        <p14:creationId xmlns:p14="http://schemas.microsoft.com/office/powerpoint/2010/main" val="387090333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1</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Paper Name:  </a:t>
            </a:r>
            <a:r>
              <a:rPr lang="en-US" sz="1600" dirty="0" smtClean="0">
                <a:solidFill>
                  <a:schemeClr val="bg1"/>
                </a:solidFill>
              </a:rPr>
              <a:t>Machine Learning Models for Predicting and Managing Electric Vehicle Load in Smart Grids</a:t>
            </a:r>
            <a:endParaRPr lang="en-US" sz="1542" dirty="0">
              <a:solidFill>
                <a:schemeClr val="bg1"/>
              </a:solidFill>
            </a:endParaRPr>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Author(s):  </a:t>
            </a:r>
            <a:r>
              <a:rPr lang="en-US" sz="1542" b="1" dirty="0" smtClean="0">
                <a:solidFill>
                  <a:srgbClr val="E5E0DF"/>
                </a:solidFill>
                <a:latin typeface="Overpass" pitchFamily="34" charset="0"/>
                <a:ea typeface="Overpass" pitchFamily="34" charset="-122"/>
                <a:cs typeface="Overpass" pitchFamily="34" charset="-120"/>
              </a:rPr>
              <a:t> </a:t>
            </a:r>
            <a:r>
              <a:rPr lang="en-US" sz="1600" dirty="0" smtClean="0">
                <a:solidFill>
                  <a:schemeClr val="bg1"/>
                </a:solidFill>
              </a:rPr>
              <a:t>Vasupalli Manoj, M.Ramasekhara Reddy, G.Nooka Raju, Ramakrishna Raghutu, P.A.Mohana rao, Aakula Swathi</a:t>
            </a:r>
            <a:endParaRPr lang="en-US" sz="1542" dirty="0">
              <a:solidFill>
                <a:schemeClr val="bg1"/>
              </a:solidFill>
            </a:endParaRPr>
          </a:p>
        </p:txBody>
      </p:sp>
      <p:sp>
        <p:nvSpPr>
          <p:cNvPr id="5" name="Text 3"/>
          <p:cNvSpPr/>
          <p:nvPr/>
        </p:nvSpPr>
        <p:spPr>
          <a:xfrm>
            <a:off x="698104" y="325313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2023</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Conference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pPr>
              <a:lnSpc>
                <a:spcPts val="2500"/>
              </a:lnSpc>
            </a:pPr>
            <a:r>
              <a:rPr lang="en-US" sz="1542" dirty="0">
                <a:solidFill>
                  <a:srgbClr val="D9E1FF"/>
                </a:solidFill>
                <a:latin typeface="Arimo" pitchFamily="34" charset="0"/>
                <a:ea typeface="Arimo" pitchFamily="34" charset="-122"/>
                <a:cs typeface="Arimo" pitchFamily="34" charset="-120"/>
              </a:rPr>
              <a:t>Electric Vehicles pose load management challenges to smart grids. Machine Learning offers powerful tools to address this. This presentation explores ML methodologies and research gaps. It will also examine key results in predicting and managing EV load. An investment of $290B is expected into modernizing power grids.</a:t>
            </a:r>
            <a:endParaRPr lang="en-US" sz="1542" dirty="0"/>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Parva Barbhaya</a:t>
            </a:r>
            <a:endParaRPr lang="en-US" sz="1542" dirty="0"/>
          </a:p>
        </p:txBody>
      </p:sp>
    </p:spTree>
    <p:extLst>
      <p:ext uri="{BB962C8B-B14F-4D97-AF65-F5344CB8AC3E}">
        <p14:creationId xmlns:p14="http://schemas.microsoft.com/office/powerpoint/2010/main" val="2509806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2282230"/>
          </a:xfrm>
          <a:prstGeom prst="rect">
            <a:avLst/>
          </a:prstGeom>
        </p:spPr>
      </p:pic>
      <p:sp>
        <p:nvSpPr>
          <p:cNvPr id="3" name="Text 0"/>
          <p:cNvSpPr/>
          <p:nvPr/>
        </p:nvSpPr>
        <p:spPr>
          <a:xfrm>
            <a:off x="638969" y="2784277"/>
            <a:ext cx="10914063" cy="1073944"/>
          </a:xfrm>
          <a:prstGeom prst="rect">
            <a:avLst/>
          </a:prstGeom>
          <a:noFill/>
          <a:ln/>
        </p:spPr>
        <p:txBody>
          <a:bodyPr wrap="square" lIns="0" tIns="0" rIns="0" bIns="0" rtlCol="0" anchor="t"/>
          <a:lstStyle/>
          <a:p>
            <a:pPr>
              <a:lnSpc>
                <a:spcPts val="4208"/>
              </a:lnSpc>
            </a:pPr>
            <a:r>
              <a:rPr lang="en-US" sz="3375" b="1" dirty="0">
                <a:solidFill>
                  <a:srgbClr val="FFFFFF"/>
                </a:solidFill>
                <a:latin typeface="Syne Bold" pitchFamily="34" charset="0"/>
                <a:ea typeface="Syne Bold" pitchFamily="34" charset="-122"/>
                <a:cs typeface="Syne Bold" pitchFamily="34" charset="-120"/>
              </a:rPr>
              <a:t>Methodology: ML Models for EV Load Prediction</a:t>
            </a:r>
            <a:endParaRPr lang="en-US" sz="3375" dirty="0"/>
          </a:p>
        </p:txBody>
      </p:sp>
      <p:sp>
        <p:nvSpPr>
          <p:cNvPr id="4" name="Shape 1"/>
          <p:cNvSpPr/>
          <p:nvPr/>
        </p:nvSpPr>
        <p:spPr>
          <a:xfrm>
            <a:off x="638970" y="4337447"/>
            <a:ext cx="410766" cy="410766"/>
          </a:xfrm>
          <a:prstGeom prst="roundRect">
            <a:avLst>
              <a:gd name="adj" fmla="val 6667"/>
            </a:avLst>
          </a:prstGeom>
          <a:solidFill>
            <a:srgbClr val="2B2952"/>
          </a:solidFill>
          <a:ln/>
        </p:spPr>
      </p:sp>
      <p:sp>
        <p:nvSpPr>
          <p:cNvPr id="5" name="Text 2"/>
          <p:cNvSpPr/>
          <p:nvPr/>
        </p:nvSpPr>
        <p:spPr>
          <a:xfrm>
            <a:off x="715516" y="4381749"/>
            <a:ext cx="257671" cy="322163"/>
          </a:xfrm>
          <a:prstGeom prst="rect">
            <a:avLst/>
          </a:prstGeom>
          <a:noFill/>
          <a:ln/>
        </p:spPr>
        <p:txBody>
          <a:bodyPr wrap="none" lIns="0" tIns="0" rIns="0" bIns="0" rtlCol="0" anchor="t"/>
          <a:lstStyle/>
          <a:p>
            <a:pPr algn="ctr">
              <a:lnSpc>
                <a:spcPts val="2000"/>
              </a:lnSpc>
            </a:pPr>
            <a:r>
              <a:rPr lang="en-US" sz="2000" b="1" dirty="0">
                <a:solidFill>
                  <a:srgbClr val="D9E1FF"/>
                </a:solidFill>
                <a:latin typeface="Syne Bold" pitchFamily="34" charset="0"/>
                <a:ea typeface="Syne Bold" pitchFamily="34" charset="-122"/>
                <a:cs typeface="Syne Bold" pitchFamily="34" charset="-120"/>
              </a:rPr>
              <a:t>1</a:t>
            </a:r>
            <a:endParaRPr lang="en-US" sz="2000" dirty="0"/>
          </a:p>
        </p:txBody>
      </p:sp>
      <p:sp>
        <p:nvSpPr>
          <p:cNvPr id="6" name="Text 3"/>
          <p:cNvSpPr/>
          <p:nvPr/>
        </p:nvSpPr>
        <p:spPr>
          <a:xfrm>
            <a:off x="1232297" y="4337447"/>
            <a:ext cx="2922984" cy="536972"/>
          </a:xfrm>
          <a:prstGeom prst="rect">
            <a:avLst/>
          </a:prstGeom>
          <a:noFill/>
          <a:ln/>
        </p:spPr>
        <p:txBody>
          <a:bodyPr wrap="squar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Data Acquisition &amp; Preprocessing</a:t>
            </a:r>
            <a:endParaRPr lang="en-US" sz="1667" dirty="0"/>
          </a:p>
        </p:txBody>
      </p:sp>
      <p:sp>
        <p:nvSpPr>
          <p:cNvPr id="7" name="Text 4"/>
          <p:cNvSpPr/>
          <p:nvPr/>
        </p:nvSpPr>
        <p:spPr>
          <a:xfrm>
            <a:off x="1232297" y="4983957"/>
            <a:ext cx="2922984" cy="876300"/>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Gather data from EV charging stations, weather, traffic, and grid load.</a:t>
            </a:r>
            <a:endParaRPr lang="en-US" sz="1417" dirty="0"/>
          </a:p>
        </p:txBody>
      </p:sp>
      <p:sp>
        <p:nvSpPr>
          <p:cNvPr id="8" name="Shape 5"/>
          <p:cNvSpPr/>
          <p:nvPr/>
        </p:nvSpPr>
        <p:spPr>
          <a:xfrm>
            <a:off x="4337845" y="4337447"/>
            <a:ext cx="410766" cy="410766"/>
          </a:xfrm>
          <a:prstGeom prst="roundRect">
            <a:avLst>
              <a:gd name="adj" fmla="val 6667"/>
            </a:avLst>
          </a:prstGeom>
          <a:solidFill>
            <a:srgbClr val="2B2952"/>
          </a:solidFill>
          <a:ln/>
        </p:spPr>
      </p:sp>
      <p:sp>
        <p:nvSpPr>
          <p:cNvPr id="9" name="Text 6"/>
          <p:cNvSpPr/>
          <p:nvPr/>
        </p:nvSpPr>
        <p:spPr>
          <a:xfrm>
            <a:off x="4414391" y="4381749"/>
            <a:ext cx="257671" cy="322163"/>
          </a:xfrm>
          <a:prstGeom prst="rect">
            <a:avLst/>
          </a:prstGeom>
          <a:noFill/>
          <a:ln/>
        </p:spPr>
        <p:txBody>
          <a:bodyPr wrap="none" lIns="0" tIns="0" rIns="0" bIns="0" rtlCol="0" anchor="t"/>
          <a:lstStyle/>
          <a:p>
            <a:pPr algn="ctr">
              <a:lnSpc>
                <a:spcPts val="2000"/>
              </a:lnSpc>
            </a:pPr>
            <a:r>
              <a:rPr lang="en-US" sz="2000" b="1" dirty="0">
                <a:solidFill>
                  <a:srgbClr val="D9E1FF"/>
                </a:solidFill>
                <a:latin typeface="Syne Bold" pitchFamily="34" charset="0"/>
                <a:ea typeface="Syne Bold" pitchFamily="34" charset="-122"/>
                <a:cs typeface="Syne Bold" pitchFamily="34" charset="-120"/>
              </a:rPr>
              <a:t>2</a:t>
            </a:r>
            <a:endParaRPr lang="en-US" sz="2000" dirty="0"/>
          </a:p>
        </p:txBody>
      </p:sp>
      <p:sp>
        <p:nvSpPr>
          <p:cNvPr id="10" name="Text 7"/>
          <p:cNvSpPr/>
          <p:nvPr/>
        </p:nvSpPr>
        <p:spPr>
          <a:xfrm>
            <a:off x="4931172" y="4337447"/>
            <a:ext cx="2922984" cy="536972"/>
          </a:xfrm>
          <a:prstGeom prst="rect">
            <a:avLst/>
          </a:prstGeom>
          <a:noFill/>
          <a:ln/>
        </p:spPr>
        <p:txBody>
          <a:bodyPr wrap="squar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ML Model Selection &amp; Training</a:t>
            </a:r>
            <a:endParaRPr lang="en-US" sz="1667" dirty="0"/>
          </a:p>
        </p:txBody>
      </p:sp>
      <p:sp>
        <p:nvSpPr>
          <p:cNvPr id="11" name="Text 8"/>
          <p:cNvSpPr/>
          <p:nvPr/>
        </p:nvSpPr>
        <p:spPr>
          <a:xfrm>
            <a:off x="4931172" y="4983957"/>
            <a:ext cx="2922984" cy="584200"/>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Use time series, regression, neural networks, and ensemble methods.</a:t>
            </a:r>
            <a:endParaRPr lang="en-US" sz="1417" dirty="0"/>
          </a:p>
        </p:txBody>
      </p:sp>
      <p:sp>
        <p:nvSpPr>
          <p:cNvPr id="12" name="Shape 9"/>
          <p:cNvSpPr/>
          <p:nvPr/>
        </p:nvSpPr>
        <p:spPr>
          <a:xfrm>
            <a:off x="8036720" y="4337447"/>
            <a:ext cx="410766" cy="410766"/>
          </a:xfrm>
          <a:prstGeom prst="roundRect">
            <a:avLst>
              <a:gd name="adj" fmla="val 6667"/>
            </a:avLst>
          </a:prstGeom>
          <a:solidFill>
            <a:srgbClr val="2B2952"/>
          </a:solidFill>
          <a:ln/>
        </p:spPr>
      </p:sp>
      <p:sp>
        <p:nvSpPr>
          <p:cNvPr id="13" name="Text 10"/>
          <p:cNvSpPr/>
          <p:nvPr/>
        </p:nvSpPr>
        <p:spPr>
          <a:xfrm>
            <a:off x="8113266" y="4381749"/>
            <a:ext cx="257671" cy="322163"/>
          </a:xfrm>
          <a:prstGeom prst="rect">
            <a:avLst/>
          </a:prstGeom>
          <a:noFill/>
          <a:ln/>
        </p:spPr>
        <p:txBody>
          <a:bodyPr wrap="none" lIns="0" tIns="0" rIns="0" bIns="0" rtlCol="0" anchor="t"/>
          <a:lstStyle/>
          <a:p>
            <a:pPr algn="ctr">
              <a:lnSpc>
                <a:spcPts val="2000"/>
              </a:lnSpc>
            </a:pPr>
            <a:r>
              <a:rPr lang="en-US" sz="2000" b="1" dirty="0">
                <a:solidFill>
                  <a:srgbClr val="D9E1FF"/>
                </a:solidFill>
                <a:latin typeface="Syne Bold" pitchFamily="34" charset="0"/>
                <a:ea typeface="Syne Bold" pitchFamily="34" charset="-122"/>
                <a:cs typeface="Syne Bold" pitchFamily="34" charset="-120"/>
              </a:rPr>
              <a:t>3</a:t>
            </a:r>
            <a:endParaRPr lang="en-US" sz="2000" dirty="0"/>
          </a:p>
        </p:txBody>
      </p:sp>
      <p:sp>
        <p:nvSpPr>
          <p:cNvPr id="14" name="Text 11"/>
          <p:cNvSpPr/>
          <p:nvPr/>
        </p:nvSpPr>
        <p:spPr>
          <a:xfrm>
            <a:off x="8630047" y="4337447"/>
            <a:ext cx="2147888" cy="268486"/>
          </a:xfrm>
          <a:prstGeom prst="rect">
            <a:avLst/>
          </a:prstGeom>
          <a:noFill/>
          <a:ln/>
        </p:spPr>
        <p:txBody>
          <a:bodyPr wrap="non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Model Evaluation</a:t>
            </a:r>
            <a:endParaRPr lang="en-US" sz="1667" dirty="0"/>
          </a:p>
        </p:txBody>
      </p:sp>
      <p:sp>
        <p:nvSpPr>
          <p:cNvPr id="15" name="Text 12"/>
          <p:cNvSpPr/>
          <p:nvPr/>
        </p:nvSpPr>
        <p:spPr>
          <a:xfrm>
            <a:off x="8630047" y="4715470"/>
            <a:ext cx="2922984" cy="584200"/>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Evaluate using MAE, RMSE, and MAPE metrics.</a:t>
            </a:r>
            <a:endParaRPr lang="en-US" sz="1417" dirty="0"/>
          </a:p>
        </p:txBody>
      </p:sp>
      <p:sp>
        <p:nvSpPr>
          <p:cNvPr id="16" name="Text 13"/>
          <p:cNvSpPr/>
          <p:nvPr/>
        </p:nvSpPr>
        <p:spPr>
          <a:xfrm>
            <a:off x="638969" y="6065639"/>
            <a:ext cx="10914063" cy="292100"/>
          </a:xfrm>
          <a:prstGeom prst="rect">
            <a:avLst/>
          </a:prstGeom>
          <a:noFill/>
          <a:ln/>
        </p:spPr>
        <p:txBody>
          <a:bodyPr wrap="none" lIns="0" tIns="0" rIns="0" bIns="0" rtlCol="0" anchor="t"/>
          <a:lstStyle/>
          <a:p>
            <a:pPr>
              <a:lnSpc>
                <a:spcPts val="2292"/>
              </a:lnSpc>
            </a:pPr>
            <a:endParaRPr lang="en-US" sz="1417" dirty="0"/>
          </a:p>
        </p:txBody>
      </p:sp>
    </p:spTree>
    <p:extLst>
      <p:ext uri="{BB962C8B-B14F-4D97-AF65-F5344CB8AC3E}">
        <p14:creationId xmlns:p14="http://schemas.microsoft.com/office/powerpoint/2010/main" val="336064755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2000" cy="6858000"/>
          </a:xfrm>
          <a:prstGeom prst="rect">
            <a:avLst/>
          </a:prstGeom>
        </p:spPr>
      </p:pic>
      <p:sp>
        <p:nvSpPr>
          <p:cNvPr id="3" name="Text 0"/>
          <p:cNvSpPr/>
          <p:nvPr/>
        </p:nvSpPr>
        <p:spPr>
          <a:xfrm>
            <a:off x="5217021" y="615554"/>
            <a:ext cx="6329958" cy="1084064"/>
          </a:xfrm>
          <a:prstGeom prst="rect">
            <a:avLst/>
          </a:prstGeom>
          <a:noFill/>
          <a:ln/>
        </p:spPr>
        <p:txBody>
          <a:bodyPr wrap="square" lIns="0" tIns="0" rIns="0" bIns="0" rtlCol="0" anchor="t"/>
          <a:lstStyle/>
          <a:p>
            <a:pPr>
              <a:lnSpc>
                <a:spcPts val="4250"/>
              </a:lnSpc>
            </a:pPr>
            <a:r>
              <a:rPr lang="en-US" sz="3375" b="1" dirty="0">
                <a:solidFill>
                  <a:srgbClr val="FFFFFF"/>
                </a:solidFill>
                <a:latin typeface="Syne Bold" pitchFamily="34" charset="0"/>
                <a:ea typeface="Syne Bold" pitchFamily="34" charset="-122"/>
                <a:cs typeface="Syne Bold" pitchFamily="34" charset="-120"/>
              </a:rPr>
              <a:t>Research Gaps &amp; Future Directions</a:t>
            </a:r>
            <a:endParaRPr lang="en-US" sz="3375" dirty="0"/>
          </a:p>
        </p:txBody>
      </p:sp>
      <p:pic>
        <p:nvPicPr>
          <p:cNvPr id="4" name="Image 1" descr="preencoded.png"/>
          <p:cNvPicPr>
            <a:picLocks noChangeAspect="1"/>
          </p:cNvPicPr>
          <p:nvPr/>
        </p:nvPicPr>
        <p:blipFill>
          <a:blip r:embed="rId4"/>
          <a:stretch>
            <a:fillRect/>
          </a:stretch>
        </p:blipFill>
        <p:spPr>
          <a:xfrm>
            <a:off x="5217021" y="1976041"/>
            <a:ext cx="460772" cy="460772"/>
          </a:xfrm>
          <a:prstGeom prst="rect">
            <a:avLst/>
          </a:prstGeom>
        </p:spPr>
      </p:pic>
      <p:sp>
        <p:nvSpPr>
          <p:cNvPr id="5" name="Text 1"/>
          <p:cNvSpPr/>
          <p:nvPr/>
        </p:nvSpPr>
        <p:spPr>
          <a:xfrm>
            <a:off x="5217021" y="2621062"/>
            <a:ext cx="1925638" cy="813197"/>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Data Availability &amp; Quality</a:t>
            </a:r>
            <a:endParaRPr lang="en-US" sz="1667" dirty="0"/>
          </a:p>
        </p:txBody>
      </p:sp>
      <p:pic>
        <p:nvPicPr>
          <p:cNvPr id="6" name="Image 2" descr="preencoded.png"/>
          <p:cNvPicPr>
            <a:picLocks noChangeAspect="1"/>
          </p:cNvPicPr>
          <p:nvPr/>
        </p:nvPicPr>
        <p:blipFill>
          <a:blip r:embed="rId5"/>
          <a:stretch>
            <a:fillRect/>
          </a:stretch>
        </p:blipFill>
        <p:spPr>
          <a:xfrm>
            <a:off x="7419082" y="1976041"/>
            <a:ext cx="460772" cy="460772"/>
          </a:xfrm>
          <a:prstGeom prst="rect">
            <a:avLst/>
          </a:prstGeom>
        </p:spPr>
      </p:pic>
      <p:sp>
        <p:nvSpPr>
          <p:cNvPr id="7" name="Text 2"/>
          <p:cNvSpPr/>
          <p:nvPr/>
        </p:nvSpPr>
        <p:spPr>
          <a:xfrm>
            <a:off x="7419082" y="2621062"/>
            <a:ext cx="1925737" cy="813197"/>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Model Complexity &amp; Interpretability</a:t>
            </a:r>
            <a:endParaRPr lang="en-US" sz="1667" dirty="0"/>
          </a:p>
        </p:txBody>
      </p:sp>
      <p:pic>
        <p:nvPicPr>
          <p:cNvPr id="8" name="Image 3" descr="preencoded.png"/>
          <p:cNvPicPr>
            <a:picLocks noChangeAspect="1"/>
          </p:cNvPicPr>
          <p:nvPr/>
        </p:nvPicPr>
        <p:blipFill>
          <a:blip r:embed="rId6"/>
          <a:stretch>
            <a:fillRect/>
          </a:stretch>
        </p:blipFill>
        <p:spPr>
          <a:xfrm>
            <a:off x="9621242" y="1976041"/>
            <a:ext cx="460772" cy="460772"/>
          </a:xfrm>
          <a:prstGeom prst="rect">
            <a:avLst/>
          </a:prstGeom>
        </p:spPr>
      </p:pic>
      <p:sp>
        <p:nvSpPr>
          <p:cNvPr id="9" name="Text 3"/>
          <p:cNvSpPr/>
          <p:nvPr/>
        </p:nvSpPr>
        <p:spPr>
          <a:xfrm>
            <a:off x="9621243" y="2621062"/>
            <a:ext cx="1925638" cy="542132"/>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Uncertainty Quantification</a:t>
            </a:r>
            <a:endParaRPr lang="en-US" sz="1667" dirty="0"/>
          </a:p>
        </p:txBody>
      </p:sp>
      <p:pic>
        <p:nvPicPr>
          <p:cNvPr id="10" name="Image 4" descr="preencoded.png"/>
          <p:cNvPicPr>
            <a:picLocks noChangeAspect="1"/>
          </p:cNvPicPr>
          <p:nvPr/>
        </p:nvPicPr>
        <p:blipFill>
          <a:blip r:embed="rId7"/>
          <a:stretch>
            <a:fillRect/>
          </a:stretch>
        </p:blipFill>
        <p:spPr>
          <a:xfrm>
            <a:off x="5217021" y="3987205"/>
            <a:ext cx="460772" cy="460772"/>
          </a:xfrm>
          <a:prstGeom prst="rect">
            <a:avLst/>
          </a:prstGeom>
        </p:spPr>
      </p:pic>
      <p:sp>
        <p:nvSpPr>
          <p:cNvPr id="11" name="Text 4"/>
          <p:cNvSpPr/>
          <p:nvPr/>
        </p:nvSpPr>
        <p:spPr>
          <a:xfrm>
            <a:off x="5217021" y="4632226"/>
            <a:ext cx="1925638" cy="813197"/>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Integration with Grid Management</a:t>
            </a:r>
            <a:endParaRPr lang="en-US" sz="1667" dirty="0"/>
          </a:p>
        </p:txBody>
      </p:sp>
      <p:sp>
        <p:nvSpPr>
          <p:cNvPr id="12" name="Text 5"/>
          <p:cNvSpPr/>
          <p:nvPr/>
        </p:nvSpPr>
        <p:spPr>
          <a:xfrm>
            <a:off x="5217021" y="5652691"/>
            <a:ext cx="6329958" cy="589756"/>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Limited high-resolution EV charging data is a key gap. Also, complex models lack interpretability. Integration with grid systems is also limited.</a:t>
            </a:r>
            <a:endParaRPr lang="en-US" sz="1417" dirty="0"/>
          </a:p>
        </p:txBody>
      </p:sp>
    </p:spTree>
    <p:extLst>
      <p:ext uri="{BB962C8B-B14F-4D97-AF65-F5344CB8AC3E}">
        <p14:creationId xmlns:p14="http://schemas.microsoft.com/office/powerpoint/2010/main" val="299525220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3" y="1812628"/>
            <a:ext cx="5657057"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Results &amp; Implications</a:t>
            </a:r>
            <a:endParaRPr lang="en-US" sz="3667" dirty="0"/>
          </a:p>
        </p:txBody>
      </p:sp>
      <p:sp>
        <p:nvSpPr>
          <p:cNvPr id="3" name="Text 1"/>
          <p:cNvSpPr/>
          <p:nvPr/>
        </p:nvSpPr>
        <p:spPr>
          <a:xfrm>
            <a:off x="698103" y="2897882"/>
            <a:ext cx="3273822" cy="586582"/>
          </a:xfrm>
          <a:prstGeom prst="rect">
            <a:avLst/>
          </a:prstGeom>
          <a:noFill/>
          <a:ln/>
        </p:spPr>
        <p:txBody>
          <a:bodyPr wrap="squar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Improved Prediction Accuracy</a:t>
            </a:r>
            <a:endParaRPr lang="en-US" sz="1833" dirty="0"/>
          </a:p>
        </p:txBody>
      </p:sp>
      <p:sp>
        <p:nvSpPr>
          <p:cNvPr id="4" name="Text 2"/>
          <p:cNvSpPr/>
          <p:nvPr/>
        </p:nvSpPr>
        <p:spPr>
          <a:xfrm>
            <a:off x="698103" y="3683894"/>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ML models show accuracy compared to traditional methods.</a:t>
            </a:r>
            <a:endParaRPr lang="en-US" sz="1542" dirty="0"/>
          </a:p>
        </p:txBody>
      </p:sp>
      <p:sp>
        <p:nvSpPr>
          <p:cNvPr id="5" name="Text 3"/>
          <p:cNvSpPr/>
          <p:nvPr/>
        </p:nvSpPr>
        <p:spPr>
          <a:xfrm>
            <a:off x="4464845" y="2897882"/>
            <a:ext cx="3039169"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Enhanced Grid Stability</a:t>
            </a:r>
            <a:endParaRPr lang="en-US" sz="1833" dirty="0"/>
          </a:p>
        </p:txBody>
      </p:sp>
      <p:sp>
        <p:nvSpPr>
          <p:cNvPr id="6" name="Text 4"/>
          <p:cNvSpPr/>
          <p:nvPr/>
        </p:nvSpPr>
        <p:spPr>
          <a:xfrm>
            <a:off x="4464844" y="3390603"/>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Accurate forecasts help grid operators manage congestion.</a:t>
            </a:r>
            <a:endParaRPr lang="en-US" sz="1542" dirty="0"/>
          </a:p>
        </p:txBody>
      </p:sp>
      <p:sp>
        <p:nvSpPr>
          <p:cNvPr id="7" name="Text 5"/>
          <p:cNvSpPr/>
          <p:nvPr/>
        </p:nvSpPr>
        <p:spPr>
          <a:xfrm>
            <a:off x="8231584" y="2897882"/>
            <a:ext cx="3273822" cy="586582"/>
          </a:xfrm>
          <a:prstGeom prst="rect">
            <a:avLst/>
          </a:prstGeom>
          <a:noFill/>
          <a:ln/>
        </p:spPr>
        <p:txBody>
          <a:bodyPr wrap="squar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Optimized Charging Strategies</a:t>
            </a:r>
            <a:endParaRPr lang="en-US" sz="1833" dirty="0"/>
          </a:p>
        </p:txBody>
      </p:sp>
      <p:sp>
        <p:nvSpPr>
          <p:cNvPr id="8" name="Text 6"/>
          <p:cNvSpPr/>
          <p:nvPr/>
        </p:nvSpPr>
        <p:spPr>
          <a:xfrm>
            <a:off x="8231584" y="3683894"/>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ML enables smart charging, reducing grid stress and costs.</a:t>
            </a:r>
            <a:endParaRPr lang="en-US" sz="1542" dirty="0"/>
          </a:p>
        </p:txBody>
      </p:sp>
      <p:sp>
        <p:nvSpPr>
          <p:cNvPr id="9" name="Text 7"/>
          <p:cNvSpPr/>
          <p:nvPr/>
        </p:nvSpPr>
        <p:spPr>
          <a:xfrm>
            <a:off x="698104" y="4726087"/>
            <a:ext cx="1079579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Smart charging programs can reduce peak demand by 10-15%. Further research is needed to unlock ML's full potential.</a:t>
            </a:r>
            <a:endParaRPr lang="en-US" sz="1542" dirty="0"/>
          </a:p>
        </p:txBody>
      </p:sp>
    </p:spTree>
    <p:extLst>
      <p:ext uri="{BB962C8B-B14F-4D97-AF65-F5344CB8AC3E}">
        <p14:creationId xmlns:p14="http://schemas.microsoft.com/office/powerpoint/2010/main" val="91658801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a:t>
            </a:r>
            <a:r>
              <a:rPr lang="en-US" sz="3667" b="1" kern="0" spc="-111" dirty="0" smtClean="0">
                <a:solidFill>
                  <a:srgbClr val="FFFFFF"/>
                </a:solidFill>
                <a:latin typeface="Overpass Bold" pitchFamily="34" charset="0"/>
                <a:ea typeface="Overpass Bold" pitchFamily="34" charset="-122"/>
              </a:rPr>
              <a:t>2</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Paper Name:  Battery Management System</a:t>
            </a:r>
            <a:endParaRPr lang="en-US" sz="1542" dirty="0"/>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Author(s):  </a:t>
            </a:r>
            <a:r>
              <a:rPr lang="en-US" sz="1542" b="1" dirty="0" smtClean="0">
                <a:solidFill>
                  <a:srgbClr val="E5E0DF"/>
                </a:solidFill>
                <a:latin typeface="Overpass" pitchFamily="34" charset="0"/>
                <a:ea typeface="Overpass" pitchFamily="34" charset="-122"/>
                <a:cs typeface="Overpass" pitchFamily="34" charset="-120"/>
              </a:rPr>
              <a:t> Sagar </a:t>
            </a:r>
            <a:r>
              <a:rPr lang="en-US" sz="1542" b="1" dirty="0">
                <a:solidFill>
                  <a:srgbClr val="E5E0DF"/>
                </a:solidFill>
                <a:latin typeface="Overpass" pitchFamily="34" charset="0"/>
                <a:ea typeface="Overpass" pitchFamily="34" charset="-122"/>
                <a:cs typeface="Overpass" pitchFamily="34" charset="-120"/>
              </a:rPr>
              <a:t>Sutar,  Ramkrushna Shinde,  Dhanashree Patil,  </a:t>
            </a:r>
          </a:p>
          <a:p>
            <a:pPr>
              <a:lnSpc>
                <a:spcPts val="2500"/>
              </a:lnSpc>
            </a:pPr>
            <a:r>
              <a:rPr lang="en-US" sz="1542" b="1" dirty="0">
                <a:solidFill>
                  <a:srgbClr val="E5E0DF"/>
                </a:solidFill>
                <a:latin typeface="Overpass" pitchFamily="34" charset="0"/>
                <a:ea typeface="Overpass" pitchFamily="34" charset="-122"/>
                <a:cs typeface="Overpass" pitchFamily="34" charset="-120"/>
              </a:rPr>
              <a:t>	    </a:t>
            </a:r>
            <a:r>
              <a:rPr lang="en-US" sz="1542" b="1" dirty="0" smtClean="0">
                <a:solidFill>
                  <a:srgbClr val="E5E0DF"/>
                </a:solidFill>
                <a:latin typeface="Overpass" pitchFamily="34" charset="0"/>
                <a:ea typeface="Overpass" pitchFamily="34" charset="-122"/>
                <a:cs typeface="Overpass" pitchFamily="34" charset="-120"/>
              </a:rPr>
              <a:t>Sayali </a:t>
            </a:r>
            <a:r>
              <a:rPr lang="en-US" sz="1542" b="1" dirty="0">
                <a:solidFill>
                  <a:srgbClr val="E5E0DF"/>
                </a:solidFill>
                <a:latin typeface="Overpass" pitchFamily="34" charset="0"/>
                <a:ea typeface="Overpass" pitchFamily="34" charset="-122"/>
                <a:cs typeface="Overpass" pitchFamily="34" charset="-120"/>
              </a:rPr>
              <a:t>Jamdade, Rutuja Chougule,  Prof. Sanjay Dhaygude, Rohan Doshi </a:t>
            </a:r>
            <a:endParaRPr lang="en-US" sz="1542" dirty="0"/>
          </a:p>
        </p:txBody>
      </p:sp>
      <p:sp>
        <p:nvSpPr>
          <p:cNvPr id="5" name="Text 3"/>
          <p:cNvSpPr/>
          <p:nvPr/>
        </p:nvSpPr>
        <p:spPr>
          <a:xfrm>
            <a:off x="698104" y="325313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2024</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Refereed international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pPr>
              <a:lnSpc>
                <a:spcPts val="2500"/>
              </a:lnSpc>
            </a:pPr>
            <a:r>
              <a:rPr lang="en-US" sz="1542" dirty="0" smtClean="0">
                <a:solidFill>
                  <a:srgbClr val="D9E1FF"/>
                </a:solidFill>
                <a:latin typeface="Arimo" pitchFamily="34" charset="0"/>
                <a:ea typeface="Arimo" pitchFamily="34" charset="-122"/>
                <a:cs typeface="Arimo" pitchFamily="34" charset="-120"/>
              </a:rPr>
              <a:t>This </a:t>
            </a:r>
            <a:r>
              <a:rPr lang="en-US" sz="1542" dirty="0">
                <a:solidFill>
                  <a:srgbClr val="D9E1FF"/>
                </a:solidFill>
                <a:latin typeface="Arimo" pitchFamily="34" charset="0"/>
                <a:ea typeface="Arimo" pitchFamily="34" charset="-122"/>
                <a:cs typeface="Arimo" pitchFamily="34" charset="-120"/>
              </a:rPr>
              <a:t>presentation provides an overview of Battery Management Systems (BMS). We will explore the importance of BMS in modern battery-powered applications like EVs and energy storage. The scope includes methodologies, risk assessment, gap analysis, and solution strategies.</a:t>
            </a:r>
            <a:endParaRPr lang="en-US" sz="1542" dirty="0"/>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Om Raval</a:t>
            </a:r>
            <a:endParaRPr lang="en-US" sz="1542" dirty="0"/>
          </a:p>
        </p:txBody>
      </p:sp>
    </p:spTree>
    <p:extLst>
      <p:ext uri="{BB962C8B-B14F-4D97-AF65-F5344CB8AC3E}">
        <p14:creationId xmlns:p14="http://schemas.microsoft.com/office/powerpoint/2010/main" val="18223856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980182"/>
            <a:ext cx="10795793" cy="1173361"/>
          </a:xfrm>
          <a:prstGeom prst="rect">
            <a:avLst/>
          </a:prstGeom>
          <a:noFill/>
          <a:ln/>
        </p:spPr>
        <p:txBody>
          <a:bodyPr wrap="squar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BMS Methodologies: A Comparative Analysis</a:t>
            </a:r>
            <a:endParaRPr lang="en-US" sz="3667" dirty="0"/>
          </a:p>
        </p:txBody>
      </p:sp>
      <p:sp>
        <p:nvSpPr>
          <p:cNvPr id="3" name="Text 1"/>
          <p:cNvSpPr/>
          <p:nvPr/>
        </p:nvSpPr>
        <p:spPr>
          <a:xfrm>
            <a:off x="698104" y="2652118"/>
            <a:ext cx="2414786"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Model-Based BMS</a:t>
            </a:r>
            <a:endParaRPr lang="en-US" sz="1833" dirty="0"/>
          </a:p>
        </p:txBody>
      </p:sp>
      <p:sp>
        <p:nvSpPr>
          <p:cNvPr id="4" name="Text 2"/>
          <p:cNvSpPr/>
          <p:nvPr/>
        </p:nvSpPr>
        <p:spPr>
          <a:xfrm>
            <a:off x="698103" y="3144838"/>
            <a:ext cx="3273822" cy="2553494"/>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Utilizes electrochemical models to estimate battery states like SoC, SoH, and SoP. Advantages include high accuracy and predictive capabilities. Disadvantages include computational complexity and reliance on accurate model parameters.</a:t>
            </a:r>
            <a:endParaRPr lang="en-US" sz="1542" dirty="0"/>
          </a:p>
        </p:txBody>
      </p:sp>
      <p:sp>
        <p:nvSpPr>
          <p:cNvPr id="5" name="Text 3"/>
          <p:cNvSpPr/>
          <p:nvPr/>
        </p:nvSpPr>
        <p:spPr>
          <a:xfrm>
            <a:off x="4464845" y="2652118"/>
            <a:ext cx="2346821"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Data-Driven BMS</a:t>
            </a:r>
            <a:endParaRPr lang="en-US" sz="1833" dirty="0"/>
          </a:p>
        </p:txBody>
      </p:sp>
      <p:sp>
        <p:nvSpPr>
          <p:cNvPr id="6" name="Text 4"/>
          <p:cNvSpPr/>
          <p:nvPr/>
        </p:nvSpPr>
        <p:spPr>
          <a:xfrm>
            <a:off x="4464844" y="3144837"/>
            <a:ext cx="3273822" cy="2234307"/>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Employs machine learning algorithms trained on battery data to predict behavior. Advantages include adaptability and no explicit model required. Disadvantages include large data requirements and limited interpretability.</a:t>
            </a:r>
            <a:endParaRPr lang="en-US" sz="1542" dirty="0"/>
          </a:p>
        </p:txBody>
      </p:sp>
      <p:sp>
        <p:nvSpPr>
          <p:cNvPr id="7" name="Text 5"/>
          <p:cNvSpPr/>
          <p:nvPr/>
        </p:nvSpPr>
        <p:spPr>
          <a:xfrm>
            <a:off x="8231585" y="2652118"/>
            <a:ext cx="2346821"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Rule-Based BMS</a:t>
            </a:r>
            <a:endParaRPr lang="en-US" sz="1833" dirty="0"/>
          </a:p>
        </p:txBody>
      </p:sp>
      <p:sp>
        <p:nvSpPr>
          <p:cNvPr id="8" name="Text 6"/>
          <p:cNvSpPr/>
          <p:nvPr/>
        </p:nvSpPr>
        <p:spPr>
          <a:xfrm>
            <a:off x="8231584" y="3144838"/>
            <a:ext cx="3273822" cy="159593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Relies on predefined rules based on battery specifications. Advantages include simplicity and low cost. Disadvantages include limited adaptability and lower accuracy.</a:t>
            </a:r>
            <a:endParaRPr lang="en-US" sz="1542" dirty="0"/>
          </a:p>
        </p:txBody>
      </p:sp>
    </p:spTree>
    <p:extLst>
      <p:ext uri="{BB962C8B-B14F-4D97-AF65-F5344CB8AC3E}">
        <p14:creationId xmlns:p14="http://schemas.microsoft.com/office/powerpoint/2010/main" val="309333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2493467"/>
          </a:xfrm>
          <a:prstGeom prst="rect">
            <a:avLst/>
          </a:prstGeom>
        </p:spPr>
      </p:pic>
      <p:sp>
        <p:nvSpPr>
          <p:cNvPr id="3" name="Text 0"/>
          <p:cNvSpPr/>
          <p:nvPr/>
        </p:nvSpPr>
        <p:spPr>
          <a:xfrm>
            <a:off x="698103" y="3176588"/>
            <a:ext cx="10773370"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Risk Assessment and Gap Analysis in BMS</a:t>
            </a:r>
            <a:endParaRPr lang="en-US" sz="3667" dirty="0"/>
          </a:p>
        </p:txBody>
      </p:sp>
      <p:sp>
        <p:nvSpPr>
          <p:cNvPr id="4" name="Shape 1"/>
          <p:cNvSpPr/>
          <p:nvPr/>
        </p:nvSpPr>
        <p:spPr>
          <a:xfrm>
            <a:off x="698103" y="4286746"/>
            <a:ext cx="448767" cy="448767"/>
          </a:xfrm>
          <a:prstGeom prst="roundRect">
            <a:avLst>
              <a:gd name="adj" fmla="val 6668"/>
            </a:avLst>
          </a:prstGeom>
          <a:solidFill>
            <a:srgbClr val="2B2952"/>
          </a:solidFill>
          <a:ln/>
        </p:spPr>
      </p:sp>
      <p:pic>
        <p:nvPicPr>
          <p:cNvPr id="5" name="Image 1" descr="preencoded.png"/>
          <p:cNvPicPr>
            <a:picLocks noChangeAspect="1"/>
          </p:cNvPicPr>
          <p:nvPr/>
        </p:nvPicPr>
        <p:blipFill>
          <a:blip r:embed="rId4"/>
          <a:stretch>
            <a:fillRect/>
          </a:stretch>
        </p:blipFill>
        <p:spPr>
          <a:xfrm>
            <a:off x="781645" y="4335066"/>
            <a:ext cx="281583" cy="352028"/>
          </a:xfrm>
          <a:prstGeom prst="rect">
            <a:avLst/>
          </a:prstGeom>
        </p:spPr>
      </p:pic>
      <p:sp>
        <p:nvSpPr>
          <p:cNvPr id="6" name="Text 2"/>
          <p:cNvSpPr/>
          <p:nvPr/>
        </p:nvSpPr>
        <p:spPr>
          <a:xfrm>
            <a:off x="1346300" y="4286746"/>
            <a:ext cx="2595166"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Over/Under-Voltage</a:t>
            </a:r>
            <a:endParaRPr lang="en-US" sz="1833" dirty="0"/>
          </a:p>
        </p:txBody>
      </p:sp>
      <p:sp>
        <p:nvSpPr>
          <p:cNvPr id="7" name="Text 3"/>
          <p:cNvSpPr/>
          <p:nvPr/>
        </p:nvSpPr>
        <p:spPr>
          <a:xfrm>
            <a:off x="1346300" y="4699694"/>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Potential for cell damage and thermal runaway.</a:t>
            </a:r>
            <a:endParaRPr lang="en-US" sz="1542" dirty="0"/>
          </a:p>
        </p:txBody>
      </p:sp>
      <p:sp>
        <p:nvSpPr>
          <p:cNvPr id="8" name="Shape 4"/>
          <p:cNvSpPr/>
          <p:nvPr/>
        </p:nvSpPr>
        <p:spPr>
          <a:xfrm>
            <a:off x="6195715" y="4286746"/>
            <a:ext cx="448767" cy="448767"/>
          </a:xfrm>
          <a:prstGeom prst="roundRect">
            <a:avLst>
              <a:gd name="adj" fmla="val 6668"/>
            </a:avLst>
          </a:prstGeom>
          <a:solidFill>
            <a:srgbClr val="2B2952"/>
          </a:solidFill>
          <a:ln/>
        </p:spPr>
      </p:sp>
      <p:pic>
        <p:nvPicPr>
          <p:cNvPr id="9" name="Image 2" descr="preencoded.png"/>
          <p:cNvPicPr>
            <a:picLocks noChangeAspect="1"/>
          </p:cNvPicPr>
          <p:nvPr/>
        </p:nvPicPr>
        <p:blipFill>
          <a:blip r:embed="rId5"/>
          <a:stretch>
            <a:fillRect/>
          </a:stretch>
        </p:blipFill>
        <p:spPr>
          <a:xfrm>
            <a:off x="6279257" y="4335066"/>
            <a:ext cx="281583" cy="352028"/>
          </a:xfrm>
          <a:prstGeom prst="rect">
            <a:avLst/>
          </a:prstGeom>
        </p:spPr>
      </p:pic>
      <p:sp>
        <p:nvSpPr>
          <p:cNvPr id="10" name="Text 5"/>
          <p:cNvSpPr/>
          <p:nvPr/>
        </p:nvSpPr>
        <p:spPr>
          <a:xfrm>
            <a:off x="6843911" y="4286746"/>
            <a:ext cx="2346821"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Over-Current</a:t>
            </a:r>
            <a:endParaRPr lang="en-US" sz="1833" dirty="0"/>
          </a:p>
        </p:txBody>
      </p:sp>
      <p:sp>
        <p:nvSpPr>
          <p:cNvPr id="11" name="Text 6"/>
          <p:cNvSpPr/>
          <p:nvPr/>
        </p:nvSpPr>
        <p:spPr>
          <a:xfrm>
            <a:off x="6843911" y="4699694"/>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Risk of overheating and accelerated degradation.</a:t>
            </a:r>
            <a:endParaRPr lang="en-US" sz="1542" dirty="0"/>
          </a:p>
        </p:txBody>
      </p:sp>
      <p:sp>
        <p:nvSpPr>
          <p:cNvPr id="12" name="Shape 7"/>
          <p:cNvSpPr/>
          <p:nvPr/>
        </p:nvSpPr>
        <p:spPr>
          <a:xfrm>
            <a:off x="698103" y="5442644"/>
            <a:ext cx="448767" cy="448767"/>
          </a:xfrm>
          <a:prstGeom prst="roundRect">
            <a:avLst>
              <a:gd name="adj" fmla="val 6668"/>
            </a:avLst>
          </a:prstGeom>
          <a:solidFill>
            <a:srgbClr val="2B2952"/>
          </a:solidFill>
          <a:ln/>
        </p:spPr>
      </p:sp>
      <p:pic>
        <p:nvPicPr>
          <p:cNvPr id="13" name="Image 3" descr="preencoded.png"/>
          <p:cNvPicPr>
            <a:picLocks noChangeAspect="1"/>
          </p:cNvPicPr>
          <p:nvPr/>
        </p:nvPicPr>
        <p:blipFill>
          <a:blip r:embed="rId6"/>
          <a:stretch>
            <a:fillRect/>
          </a:stretch>
        </p:blipFill>
        <p:spPr>
          <a:xfrm>
            <a:off x="781645" y="5490964"/>
            <a:ext cx="281583" cy="352028"/>
          </a:xfrm>
          <a:prstGeom prst="rect">
            <a:avLst/>
          </a:prstGeom>
        </p:spPr>
      </p:pic>
      <p:sp>
        <p:nvSpPr>
          <p:cNvPr id="14" name="Text 8"/>
          <p:cNvSpPr/>
          <p:nvPr/>
        </p:nvSpPr>
        <p:spPr>
          <a:xfrm>
            <a:off x="1346300" y="5442645"/>
            <a:ext cx="3305869"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Over/Under-Temperature</a:t>
            </a:r>
            <a:endParaRPr lang="en-US" sz="1833" dirty="0"/>
          </a:p>
        </p:txBody>
      </p:sp>
      <p:sp>
        <p:nvSpPr>
          <p:cNvPr id="15" name="Text 9"/>
          <p:cNvSpPr/>
          <p:nvPr/>
        </p:nvSpPr>
        <p:spPr>
          <a:xfrm>
            <a:off x="1346300" y="5855593"/>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Reduced performance and lifespan.</a:t>
            </a:r>
            <a:endParaRPr lang="en-US" sz="1542" dirty="0"/>
          </a:p>
        </p:txBody>
      </p:sp>
      <p:sp>
        <p:nvSpPr>
          <p:cNvPr id="16" name="Shape 10"/>
          <p:cNvSpPr/>
          <p:nvPr/>
        </p:nvSpPr>
        <p:spPr>
          <a:xfrm>
            <a:off x="6195715" y="5442644"/>
            <a:ext cx="448767" cy="448767"/>
          </a:xfrm>
          <a:prstGeom prst="roundRect">
            <a:avLst>
              <a:gd name="adj" fmla="val 6668"/>
            </a:avLst>
          </a:prstGeom>
          <a:solidFill>
            <a:srgbClr val="2B2952"/>
          </a:solidFill>
          <a:ln/>
        </p:spPr>
      </p:sp>
      <p:pic>
        <p:nvPicPr>
          <p:cNvPr id="17" name="Image 4" descr="preencoded.png"/>
          <p:cNvPicPr>
            <a:picLocks noChangeAspect="1"/>
          </p:cNvPicPr>
          <p:nvPr/>
        </p:nvPicPr>
        <p:blipFill>
          <a:blip r:embed="rId7"/>
          <a:stretch>
            <a:fillRect/>
          </a:stretch>
        </p:blipFill>
        <p:spPr>
          <a:xfrm>
            <a:off x="6279257" y="5490964"/>
            <a:ext cx="281583" cy="352028"/>
          </a:xfrm>
          <a:prstGeom prst="rect">
            <a:avLst/>
          </a:prstGeom>
        </p:spPr>
      </p:pic>
      <p:sp>
        <p:nvSpPr>
          <p:cNvPr id="18" name="Text 11"/>
          <p:cNvSpPr/>
          <p:nvPr/>
        </p:nvSpPr>
        <p:spPr>
          <a:xfrm>
            <a:off x="6843911" y="5442645"/>
            <a:ext cx="3176389"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Communication Failures</a:t>
            </a:r>
            <a:endParaRPr lang="en-US" sz="1833" dirty="0"/>
          </a:p>
        </p:txBody>
      </p:sp>
      <p:sp>
        <p:nvSpPr>
          <p:cNvPr id="19" name="Text 12"/>
          <p:cNvSpPr/>
          <p:nvPr/>
        </p:nvSpPr>
        <p:spPr>
          <a:xfrm>
            <a:off x="6843911" y="5855593"/>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Loss of critical data for control and protection.</a:t>
            </a:r>
            <a:endParaRPr lang="en-US" sz="1542" dirty="0"/>
          </a:p>
        </p:txBody>
      </p:sp>
    </p:spTree>
    <p:extLst>
      <p:ext uri="{BB962C8B-B14F-4D97-AF65-F5344CB8AC3E}">
        <p14:creationId xmlns:p14="http://schemas.microsoft.com/office/powerpoint/2010/main" val="3878598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1846263"/>
          </a:xfrm>
          <a:prstGeom prst="rect">
            <a:avLst/>
          </a:prstGeom>
        </p:spPr>
      </p:pic>
      <p:sp>
        <p:nvSpPr>
          <p:cNvPr id="3" name="Text 0"/>
          <p:cNvSpPr/>
          <p:nvPr/>
        </p:nvSpPr>
        <p:spPr>
          <a:xfrm>
            <a:off x="516930" y="2252365"/>
            <a:ext cx="7100491" cy="434380"/>
          </a:xfrm>
          <a:prstGeom prst="rect">
            <a:avLst/>
          </a:prstGeom>
          <a:noFill/>
          <a:ln/>
        </p:spPr>
        <p:txBody>
          <a:bodyPr wrap="none" lIns="0" tIns="0" rIns="0" bIns="0" rtlCol="0" anchor="t"/>
          <a:lstStyle/>
          <a:p>
            <a:pPr>
              <a:lnSpc>
                <a:spcPts val="3417"/>
              </a:lnSpc>
            </a:pPr>
            <a:r>
              <a:rPr lang="en-US" sz="2708" b="1" dirty="0">
                <a:solidFill>
                  <a:srgbClr val="FFFFFF"/>
                </a:solidFill>
                <a:latin typeface="Syne Bold" pitchFamily="34" charset="0"/>
                <a:ea typeface="Syne Bold" pitchFamily="34" charset="-122"/>
                <a:cs typeface="Syne Bold" pitchFamily="34" charset="-120"/>
              </a:rPr>
              <a:t>Solution Strategies and Future Trends</a:t>
            </a:r>
            <a:endParaRPr lang="en-US" sz="2708" dirty="0"/>
          </a:p>
        </p:txBody>
      </p:sp>
      <p:pic>
        <p:nvPicPr>
          <p:cNvPr id="4" name="Image 1" descr="preencoded.png"/>
          <p:cNvPicPr>
            <a:picLocks noChangeAspect="1"/>
          </p:cNvPicPr>
          <p:nvPr/>
        </p:nvPicPr>
        <p:blipFill>
          <a:blip r:embed="rId4"/>
          <a:stretch>
            <a:fillRect/>
          </a:stretch>
        </p:blipFill>
        <p:spPr>
          <a:xfrm>
            <a:off x="516930" y="2908300"/>
            <a:ext cx="738485" cy="886222"/>
          </a:xfrm>
          <a:prstGeom prst="rect">
            <a:avLst/>
          </a:prstGeom>
        </p:spPr>
      </p:pic>
      <p:sp>
        <p:nvSpPr>
          <p:cNvPr id="5" name="Text 1"/>
          <p:cNvSpPr/>
          <p:nvPr/>
        </p:nvSpPr>
        <p:spPr>
          <a:xfrm>
            <a:off x="1476970" y="3055938"/>
            <a:ext cx="2806403" cy="217091"/>
          </a:xfrm>
          <a:prstGeom prst="rect">
            <a:avLst/>
          </a:prstGeom>
          <a:noFill/>
          <a:ln/>
        </p:spPr>
        <p:txBody>
          <a:bodyPr wrap="none" lIns="0" tIns="0" rIns="0" bIns="0" rtlCol="0" anchor="t"/>
          <a:lstStyle/>
          <a:p>
            <a:pPr>
              <a:lnSpc>
                <a:spcPts val="1708"/>
              </a:lnSpc>
            </a:pPr>
            <a:r>
              <a:rPr lang="en-US" sz="1333" b="1" dirty="0">
                <a:solidFill>
                  <a:srgbClr val="D9E1FF"/>
                </a:solidFill>
                <a:latin typeface="Syne Bold" pitchFamily="34" charset="0"/>
                <a:ea typeface="Syne Bold" pitchFamily="34" charset="-122"/>
                <a:cs typeface="Syne Bold" pitchFamily="34" charset="-120"/>
              </a:rPr>
              <a:t>Advanced Control Algorithms</a:t>
            </a:r>
            <a:endParaRPr lang="en-US" sz="1333" dirty="0"/>
          </a:p>
        </p:txBody>
      </p:sp>
      <p:sp>
        <p:nvSpPr>
          <p:cNvPr id="6" name="Text 2"/>
          <p:cNvSpPr/>
          <p:nvPr/>
        </p:nvSpPr>
        <p:spPr>
          <a:xfrm>
            <a:off x="1476970" y="3361631"/>
            <a:ext cx="10198100" cy="236339"/>
          </a:xfrm>
          <a:prstGeom prst="rect">
            <a:avLst/>
          </a:prstGeom>
          <a:noFill/>
          <a:ln/>
        </p:spPr>
        <p:txBody>
          <a:bodyPr wrap="none" lIns="0" tIns="0" rIns="0" bIns="0" rtlCol="0" anchor="t"/>
          <a:lstStyle/>
          <a:p>
            <a:pPr>
              <a:lnSpc>
                <a:spcPts val="1833"/>
              </a:lnSpc>
            </a:pPr>
            <a:r>
              <a:rPr lang="en-US" sz="1125" dirty="0">
                <a:solidFill>
                  <a:srgbClr val="D9E1FF"/>
                </a:solidFill>
                <a:latin typeface="Arimo" pitchFamily="34" charset="0"/>
                <a:ea typeface="Arimo" pitchFamily="34" charset="-122"/>
                <a:cs typeface="Arimo" pitchFamily="34" charset="-120"/>
              </a:rPr>
              <a:t>Predictive control for optimal charging.</a:t>
            </a:r>
            <a:endParaRPr lang="en-US" sz="1125" dirty="0"/>
          </a:p>
        </p:txBody>
      </p:sp>
      <p:pic>
        <p:nvPicPr>
          <p:cNvPr id="7" name="Image 2" descr="preencoded.png"/>
          <p:cNvPicPr>
            <a:picLocks noChangeAspect="1"/>
          </p:cNvPicPr>
          <p:nvPr/>
        </p:nvPicPr>
        <p:blipFill>
          <a:blip r:embed="rId5"/>
          <a:stretch>
            <a:fillRect/>
          </a:stretch>
        </p:blipFill>
        <p:spPr>
          <a:xfrm>
            <a:off x="516930" y="3794522"/>
            <a:ext cx="738485" cy="886222"/>
          </a:xfrm>
          <a:prstGeom prst="rect">
            <a:avLst/>
          </a:prstGeom>
        </p:spPr>
      </p:pic>
      <p:sp>
        <p:nvSpPr>
          <p:cNvPr id="8" name="Text 3"/>
          <p:cNvSpPr/>
          <p:nvPr/>
        </p:nvSpPr>
        <p:spPr>
          <a:xfrm>
            <a:off x="1476971" y="3942160"/>
            <a:ext cx="3094434" cy="217091"/>
          </a:xfrm>
          <a:prstGeom prst="rect">
            <a:avLst/>
          </a:prstGeom>
          <a:noFill/>
          <a:ln/>
        </p:spPr>
        <p:txBody>
          <a:bodyPr wrap="none" lIns="0" tIns="0" rIns="0" bIns="0" rtlCol="0" anchor="t"/>
          <a:lstStyle/>
          <a:p>
            <a:pPr>
              <a:lnSpc>
                <a:spcPts val="1708"/>
              </a:lnSpc>
            </a:pPr>
            <a:r>
              <a:rPr lang="en-US" sz="1333" b="1" dirty="0">
                <a:solidFill>
                  <a:srgbClr val="D9E1FF"/>
                </a:solidFill>
                <a:latin typeface="Syne Bold" pitchFamily="34" charset="0"/>
                <a:ea typeface="Syne Bold" pitchFamily="34" charset="-122"/>
                <a:cs typeface="Syne Bold" pitchFamily="34" charset="-120"/>
              </a:rPr>
              <a:t>Improved Thermal Management</a:t>
            </a:r>
            <a:endParaRPr lang="en-US" sz="1333" dirty="0"/>
          </a:p>
        </p:txBody>
      </p:sp>
      <p:sp>
        <p:nvSpPr>
          <p:cNvPr id="9" name="Text 4"/>
          <p:cNvSpPr/>
          <p:nvPr/>
        </p:nvSpPr>
        <p:spPr>
          <a:xfrm>
            <a:off x="1476970" y="4247853"/>
            <a:ext cx="10198100" cy="236339"/>
          </a:xfrm>
          <a:prstGeom prst="rect">
            <a:avLst/>
          </a:prstGeom>
          <a:noFill/>
          <a:ln/>
        </p:spPr>
        <p:txBody>
          <a:bodyPr wrap="none" lIns="0" tIns="0" rIns="0" bIns="0" rtlCol="0" anchor="t"/>
          <a:lstStyle/>
          <a:p>
            <a:pPr>
              <a:lnSpc>
                <a:spcPts val="1833"/>
              </a:lnSpc>
            </a:pPr>
            <a:r>
              <a:rPr lang="en-US" sz="1125" dirty="0">
                <a:solidFill>
                  <a:srgbClr val="D9E1FF"/>
                </a:solidFill>
                <a:latin typeface="Arimo" pitchFamily="34" charset="0"/>
                <a:ea typeface="Arimo" pitchFamily="34" charset="-122"/>
                <a:cs typeface="Arimo" pitchFamily="34" charset="-120"/>
              </a:rPr>
              <a:t>Liquid cooling and heat sink designs.</a:t>
            </a:r>
            <a:endParaRPr lang="en-US" sz="1125" dirty="0"/>
          </a:p>
        </p:txBody>
      </p:sp>
      <p:pic>
        <p:nvPicPr>
          <p:cNvPr id="10" name="Image 3" descr="preencoded.png"/>
          <p:cNvPicPr>
            <a:picLocks noChangeAspect="1"/>
          </p:cNvPicPr>
          <p:nvPr/>
        </p:nvPicPr>
        <p:blipFill>
          <a:blip r:embed="rId6"/>
          <a:stretch>
            <a:fillRect/>
          </a:stretch>
        </p:blipFill>
        <p:spPr>
          <a:xfrm>
            <a:off x="516930" y="4680743"/>
            <a:ext cx="738485" cy="886222"/>
          </a:xfrm>
          <a:prstGeom prst="rect">
            <a:avLst/>
          </a:prstGeom>
        </p:spPr>
      </p:pic>
      <p:sp>
        <p:nvSpPr>
          <p:cNvPr id="11" name="Text 5"/>
          <p:cNvSpPr/>
          <p:nvPr/>
        </p:nvSpPr>
        <p:spPr>
          <a:xfrm>
            <a:off x="1476970" y="4828382"/>
            <a:ext cx="2503587" cy="217091"/>
          </a:xfrm>
          <a:prstGeom prst="rect">
            <a:avLst/>
          </a:prstGeom>
          <a:noFill/>
          <a:ln/>
        </p:spPr>
        <p:txBody>
          <a:bodyPr wrap="none" lIns="0" tIns="0" rIns="0" bIns="0" rtlCol="0" anchor="t"/>
          <a:lstStyle/>
          <a:p>
            <a:pPr>
              <a:lnSpc>
                <a:spcPts val="1708"/>
              </a:lnSpc>
            </a:pPr>
            <a:r>
              <a:rPr lang="en-US" sz="1333" b="1" dirty="0">
                <a:solidFill>
                  <a:srgbClr val="D9E1FF"/>
                </a:solidFill>
                <a:latin typeface="Syne Bold" pitchFamily="34" charset="0"/>
                <a:ea typeface="Syne Bold" pitchFamily="34" charset="-122"/>
                <a:cs typeface="Syne Bold" pitchFamily="34" charset="-120"/>
              </a:rPr>
              <a:t>Enhanced Fault Detection</a:t>
            </a:r>
            <a:endParaRPr lang="en-US" sz="1333" dirty="0"/>
          </a:p>
        </p:txBody>
      </p:sp>
      <p:sp>
        <p:nvSpPr>
          <p:cNvPr id="12" name="Text 6"/>
          <p:cNvSpPr/>
          <p:nvPr/>
        </p:nvSpPr>
        <p:spPr>
          <a:xfrm>
            <a:off x="1476970" y="5134075"/>
            <a:ext cx="10198100" cy="236339"/>
          </a:xfrm>
          <a:prstGeom prst="rect">
            <a:avLst/>
          </a:prstGeom>
          <a:noFill/>
          <a:ln/>
        </p:spPr>
        <p:txBody>
          <a:bodyPr wrap="none" lIns="0" tIns="0" rIns="0" bIns="0" rtlCol="0" anchor="t"/>
          <a:lstStyle/>
          <a:p>
            <a:pPr>
              <a:lnSpc>
                <a:spcPts val="1833"/>
              </a:lnSpc>
            </a:pPr>
            <a:r>
              <a:rPr lang="en-US" sz="1125" dirty="0">
                <a:solidFill>
                  <a:srgbClr val="D9E1FF"/>
                </a:solidFill>
                <a:latin typeface="Arimo" pitchFamily="34" charset="0"/>
                <a:ea typeface="Arimo" pitchFamily="34" charset="-122"/>
                <a:cs typeface="Arimo" pitchFamily="34" charset="-120"/>
              </a:rPr>
              <a:t>Sensor redundancy and anomaly detection.</a:t>
            </a:r>
            <a:endParaRPr lang="en-US" sz="1125" dirty="0"/>
          </a:p>
        </p:txBody>
      </p:sp>
      <p:pic>
        <p:nvPicPr>
          <p:cNvPr id="13" name="Image 4" descr="preencoded.png"/>
          <p:cNvPicPr>
            <a:picLocks noChangeAspect="1"/>
          </p:cNvPicPr>
          <p:nvPr/>
        </p:nvPicPr>
        <p:blipFill>
          <a:blip r:embed="rId7"/>
          <a:stretch>
            <a:fillRect/>
          </a:stretch>
        </p:blipFill>
        <p:spPr>
          <a:xfrm>
            <a:off x="516930" y="5566966"/>
            <a:ext cx="738485" cy="886222"/>
          </a:xfrm>
          <a:prstGeom prst="rect">
            <a:avLst/>
          </a:prstGeom>
        </p:spPr>
      </p:pic>
      <p:sp>
        <p:nvSpPr>
          <p:cNvPr id="14" name="Text 7"/>
          <p:cNvSpPr/>
          <p:nvPr/>
        </p:nvSpPr>
        <p:spPr>
          <a:xfrm>
            <a:off x="1476970" y="5714604"/>
            <a:ext cx="1754088" cy="217091"/>
          </a:xfrm>
          <a:prstGeom prst="rect">
            <a:avLst/>
          </a:prstGeom>
          <a:noFill/>
          <a:ln/>
        </p:spPr>
        <p:txBody>
          <a:bodyPr wrap="none" lIns="0" tIns="0" rIns="0" bIns="0" rtlCol="0" anchor="t"/>
          <a:lstStyle/>
          <a:p>
            <a:pPr>
              <a:lnSpc>
                <a:spcPts val="1708"/>
              </a:lnSpc>
            </a:pPr>
            <a:r>
              <a:rPr lang="en-US" sz="1333" b="1" dirty="0">
                <a:solidFill>
                  <a:srgbClr val="D9E1FF"/>
                </a:solidFill>
                <a:latin typeface="Syne Bold" pitchFamily="34" charset="0"/>
                <a:ea typeface="Syne Bold" pitchFamily="34" charset="-122"/>
                <a:cs typeface="Syne Bold" pitchFamily="34" charset="-120"/>
              </a:rPr>
              <a:t>Cloud-Based BMS</a:t>
            </a:r>
            <a:endParaRPr lang="en-US" sz="1333" dirty="0"/>
          </a:p>
        </p:txBody>
      </p:sp>
      <p:sp>
        <p:nvSpPr>
          <p:cNvPr id="15" name="Text 8"/>
          <p:cNvSpPr/>
          <p:nvPr/>
        </p:nvSpPr>
        <p:spPr>
          <a:xfrm>
            <a:off x="1476970" y="6020296"/>
            <a:ext cx="10198100" cy="236339"/>
          </a:xfrm>
          <a:prstGeom prst="rect">
            <a:avLst/>
          </a:prstGeom>
          <a:noFill/>
          <a:ln/>
        </p:spPr>
        <p:txBody>
          <a:bodyPr wrap="none" lIns="0" tIns="0" rIns="0" bIns="0" rtlCol="0" anchor="t"/>
          <a:lstStyle/>
          <a:p>
            <a:pPr>
              <a:lnSpc>
                <a:spcPts val="1833"/>
              </a:lnSpc>
            </a:pPr>
            <a:r>
              <a:rPr lang="en-US" sz="1125" dirty="0">
                <a:solidFill>
                  <a:srgbClr val="D9E1FF"/>
                </a:solidFill>
                <a:latin typeface="Arimo" pitchFamily="34" charset="0"/>
                <a:ea typeface="Arimo" pitchFamily="34" charset="-122"/>
                <a:cs typeface="Arimo" pitchFamily="34" charset="-120"/>
              </a:rPr>
              <a:t>Remote monitoring and predictive maintenance.</a:t>
            </a:r>
            <a:endParaRPr lang="en-US" sz="1125" dirty="0"/>
          </a:p>
        </p:txBody>
      </p:sp>
    </p:spTree>
    <p:extLst>
      <p:ext uri="{BB962C8B-B14F-4D97-AF65-F5344CB8AC3E}">
        <p14:creationId xmlns:p14="http://schemas.microsoft.com/office/powerpoint/2010/main" val="359088215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3</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Paper Name</a:t>
            </a:r>
            <a:r>
              <a:rPr lang="en-US" sz="1542" b="1" dirty="0">
                <a:solidFill>
                  <a:schemeClr val="bg1"/>
                </a:solidFill>
                <a:latin typeface="Overpass" pitchFamily="34" charset="0"/>
                <a:ea typeface="Overpass" pitchFamily="34" charset="-122"/>
                <a:cs typeface="Overpass" pitchFamily="34" charset="-120"/>
              </a:rPr>
              <a:t>:  </a:t>
            </a:r>
            <a:r>
              <a:rPr lang="en-US" sz="1600" dirty="0">
                <a:solidFill>
                  <a:schemeClr val="bg1"/>
                </a:solidFill>
              </a:rPr>
              <a:t>Enhancement of energy consumption estimation for electric vehicles by using machine learning</a:t>
            </a:r>
            <a:endParaRPr lang="en-US" sz="1542" dirty="0">
              <a:solidFill>
                <a:schemeClr val="bg1"/>
              </a:solidFill>
            </a:endParaRPr>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Author(s</a:t>
            </a:r>
            <a:r>
              <a:rPr lang="en-US" sz="1542" b="1" dirty="0">
                <a:solidFill>
                  <a:schemeClr val="bg1"/>
                </a:solidFill>
                <a:latin typeface="Overpass" pitchFamily="34" charset="0"/>
                <a:ea typeface="Overpass" pitchFamily="34" charset="-122"/>
                <a:cs typeface="Overpass" pitchFamily="34" charset="-120"/>
              </a:rPr>
              <a:t>):  </a:t>
            </a:r>
            <a:r>
              <a:rPr lang="en-US" sz="1542" b="1" dirty="0" smtClean="0">
                <a:solidFill>
                  <a:schemeClr val="bg1"/>
                </a:solidFill>
                <a:latin typeface="Overpass" pitchFamily="34" charset="0"/>
                <a:ea typeface="Overpass" pitchFamily="34" charset="-122"/>
                <a:cs typeface="Overpass" pitchFamily="34" charset="-120"/>
              </a:rPr>
              <a:t> </a:t>
            </a:r>
            <a:r>
              <a:rPr lang="en-US" sz="1600" dirty="0">
                <a:solidFill>
                  <a:schemeClr val="bg1"/>
                </a:solidFill>
              </a:rPr>
              <a:t>Adnane </a:t>
            </a:r>
            <a:r>
              <a:rPr lang="en-US" sz="1600" dirty="0" smtClean="0">
                <a:solidFill>
                  <a:schemeClr val="bg1"/>
                </a:solidFill>
              </a:rPr>
              <a:t>Cabani, </a:t>
            </a:r>
            <a:r>
              <a:rPr lang="en-US" sz="1600" dirty="0">
                <a:solidFill>
                  <a:schemeClr val="bg1"/>
                </a:solidFill>
              </a:rPr>
              <a:t>Peiwen </a:t>
            </a:r>
            <a:r>
              <a:rPr lang="en-US" sz="1600" dirty="0" smtClean="0">
                <a:solidFill>
                  <a:schemeClr val="bg1"/>
                </a:solidFill>
              </a:rPr>
              <a:t>Zhang, Redouane Khemmar, Jin Xu</a:t>
            </a:r>
            <a:endParaRPr lang="en-US" sz="1542" dirty="0">
              <a:solidFill>
                <a:schemeClr val="bg1"/>
              </a:solidFill>
            </a:endParaRPr>
          </a:p>
        </p:txBody>
      </p:sp>
      <p:sp>
        <p:nvSpPr>
          <p:cNvPr id="5" name="Text 3"/>
          <p:cNvSpPr/>
          <p:nvPr/>
        </p:nvSpPr>
        <p:spPr>
          <a:xfrm>
            <a:off x="698104" y="324678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2020-2023</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IAES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pPr>
              <a:lnSpc>
                <a:spcPts val="2500"/>
              </a:lnSpc>
            </a:pPr>
            <a:r>
              <a:rPr lang="en-US" sz="1542" dirty="0">
                <a:solidFill>
                  <a:srgbClr val="D9E1FF"/>
                </a:solidFill>
                <a:latin typeface="Arimo" pitchFamily="34" charset="0"/>
                <a:ea typeface="Arimo" pitchFamily="34" charset="-122"/>
                <a:cs typeface="Arimo" pitchFamily="34" charset="-120"/>
              </a:rPr>
              <a:t>Accurate energy estimation is crucial for EV adoption and efficient energy management. Leverage machine learning to create predictive models. These will consider real-world driving conditions, vehicle characteristics, and environmental factors. The goal is to improve accuracy for electric vehicles.</a:t>
            </a:r>
            <a:endParaRPr lang="en-US" sz="1542" dirty="0"/>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Prince Purohit</a:t>
            </a:r>
            <a:endParaRPr lang="en-US" sz="1542" dirty="0"/>
          </a:p>
        </p:txBody>
      </p:sp>
    </p:spTree>
    <p:extLst>
      <p:ext uri="{BB962C8B-B14F-4D97-AF65-F5344CB8AC3E}">
        <p14:creationId xmlns:p14="http://schemas.microsoft.com/office/powerpoint/2010/main" val="773102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346795"/>
            <a:ext cx="10795793" cy="1173361"/>
          </a:xfrm>
          <a:prstGeom prst="rect">
            <a:avLst/>
          </a:prstGeom>
          <a:noFill/>
          <a:ln/>
        </p:spPr>
        <p:txBody>
          <a:bodyPr wrap="squar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Methodology: A Machine Learning Approach</a:t>
            </a:r>
            <a:endParaRPr lang="en-US" sz="3667" dirty="0"/>
          </a:p>
        </p:txBody>
      </p:sp>
      <p:sp>
        <p:nvSpPr>
          <p:cNvPr id="3" name="Text 1"/>
          <p:cNvSpPr/>
          <p:nvPr/>
        </p:nvSpPr>
        <p:spPr>
          <a:xfrm>
            <a:off x="698104" y="3018731"/>
            <a:ext cx="2346821"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Data Acquisition</a:t>
            </a:r>
            <a:endParaRPr lang="en-US" sz="1833" dirty="0"/>
          </a:p>
        </p:txBody>
      </p:sp>
      <p:sp>
        <p:nvSpPr>
          <p:cNvPr id="4" name="Text 2"/>
          <p:cNvSpPr/>
          <p:nvPr/>
        </p:nvSpPr>
        <p:spPr>
          <a:xfrm>
            <a:off x="698104" y="3511451"/>
            <a:ext cx="5154613"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Collect real-world driving data. Include GPS, speed, acceleration, braking, battery status, and HVAC usage. Use data cleaning and normalization.</a:t>
            </a:r>
            <a:endParaRPr lang="en-US" sz="1542" dirty="0"/>
          </a:p>
        </p:txBody>
      </p:sp>
      <p:sp>
        <p:nvSpPr>
          <p:cNvPr id="5" name="Text 3"/>
          <p:cNvSpPr/>
          <p:nvPr/>
        </p:nvSpPr>
        <p:spPr>
          <a:xfrm>
            <a:off x="6345635" y="3018731"/>
            <a:ext cx="2346821"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Model Selection</a:t>
            </a:r>
            <a:endParaRPr lang="en-US" sz="1833" dirty="0"/>
          </a:p>
        </p:txBody>
      </p:sp>
      <p:sp>
        <p:nvSpPr>
          <p:cNvPr id="6" name="Text 4"/>
          <p:cNvSpPr/>
          <p:nvPr/>
        </p:nvSpPr>
        <p:spPr>
          <a:xfrm>
            <a:off x="6345634" y="3511451"/>
            <a:ext cx="5154613"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Explore regression models, neural networks, and LSTMs. Regression offers interpretability. Random Forests handle non-linear data. RNNs capture time-series data.</a:t>
            </a:r>
            <a:endParaRPr lang="en-US" sz="1542" dirty="0"/>
          </a:p>
        </p:txBody>
      </p:sp>
      <p:sp>
        <p:nvSpPr>
          <p:cNvPr id="7" name="Text 5"/>
          <p:cNvSpPr/>
          <p:nvPr/>
        </p:nvSpPr>
        <p:spPr>
          <a:xfrm>
            <a:off x="698104" y="4872832"/>
            <a:ext cx="1079579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Divide the dataset into training, validation, and testing sets. Train selected models using Python. Evaluate using MAE, RMSE, and R-squared.</a:t>
            </a:r>
            <a:endParaRPr lang="en-US" sz="1542" dirty="0"/>
          </a:p>
        </p:txBody>
      </p:sp>
    </p:spTree>
    <p:extLst>
      <p:ext uri="{BB962C8B-B14F-4D97-AF65-F5344CB8AC3E}">
        <p14:creationId xmlns:p14="http://schemas.microsoft.com/office/powerpoint/2010/main" val="6475106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20000" y="0"/>
            <a:ext cx="4572000" cy="6859588"/>
          </a:xfrm>
          <a:prstGeom prst="rect">
            <a:avLst/>
          </a:prstGeom>
        </p:spPr>
      </p:pic>
      <p:sp>
        <p:nvSpPr>
          <p:cNvPr id="3" name="Text 0"/>
          <p:cNvSpPr/>
          <p:nvPr/>
        </p:nvSpPr>
        <p:spPr>
          <a:xfrm>
            <a:off x="666651" y="523776"/>
            <a:ext cx="6286698" cy="1120378"/>
          </a:xfrm>
          <a:prstGeom prst="rect">
            <a:avLst/>
          </a:prstGeom>
          <a:noFill/>
          <a:ln/>
        </p:spPr>
        <p:txBody>
          <a:bodyPr wrap="square" lIns="0" tIns="0" rIns="0" bIns="0" rtlCol="0" anchor="t"/>
          <a:lstStyle/>
          <a:p>
            <a:pPr>
              <a:lnSpc>
                <a:spcPts val="4375"/>
              </a:lnSpc>
            </a:pPr>
            <a:r>
              <a:rPr lang="en-US" sz="3500" b="1" dirty="0">
                <a:solidFill>
                  <a:srgbClr val="FFFFFF"/>
                </a:solidFill>
                <a:latin typeface="Syne Bold" pitchFamily="34" charset="0"/>
                <a:ea typeface="Syne Bold" pitchFamily="34" charset="-122"/>
                <a:cs typeface="Syne Bold" pitchFamily="34" charset="-120"/>
              </a:rPr>
              <a:t>Research Gaps and Opportunities</a:t>
            </a:r>
            <a:endParaRPr lang="en-US" sz="3500" dirty="0"/>
          </a:p>
        </p:txBody>
      </p:sp>
      <p:sp>
        <p:nvSpPr>
          <p:cNvPr id="4" name="Shape 1"/>
          <p:cNvSpPr/>
          <p:nvPr/>
        </p:nvSpPr>
        <p:spPr>
          <a:xfrm>
            <a:off x="666651" y="2144019"/>
            <a:ext cx="428526" cy="428526"/>
          </a:xfrm>
          <a:prstGeom prst="roundRect">
            <a:avLst>
              <a:gd name="adj" fmla="val 6668"/>
            </a:avLst>
          </a:prstGeom>
          <a:solidFill>
            <a:srgbClr val="2B2952"/>
          </a:solidFill>
          <a:ln/>
        </p:spPr>
      </p:sp>
      <p:pic>
        <p:nvPicPr>
          <p:cNvPr id="5" name="Image 1" descr="preencoded.png"/>
          <p:cNvPicPr>
            <a:picLocks noChangeAspect="1"/>
          </p:cNvPicPr>
          <p:nvPr/>
        </p:nvPicPr>
        <p:blipFill>
          <a:blip r:embed="rId4"/>
          <a:stretch>
            <a:fillRect/>
          </a:stretch>
        </p:blipFill>
        <p:spPr>
          <a:xfrm>
            <a:off x="746423" y="2190155"/>
            <a:ext cx="268883" cy="336153"/>
          </a:xfrm>
          <a:prstGeom prst="rect">
            <a:avLst/>
          </a:prstGeom>
        </p:spPr>
      </p:pic>
      <p:sp>
        <p:nvSpPr>
          <p:cNvPr id="6" name="Text 2"/>
          <p:cNvSpPr/>
          <p:nvPr/>
        </p:nvSpPr>
        <p:spPr>
          <a:xfrm>
            <a:off x="1285577" y="2144019"/>
            <a:ext cx="2429272" cy="560189"/>
          </a:xfrm>
          <a:prstGeom prst="rect">
            <a:avLst/>
          </a:prstGeom>
          <a:noFill/>
          <a:ln/>
        </p:spPr>
        <p:txBody>
          <a:bodyPr wrap="square" lIns="0" tIns="0" rIns="0" bIns="0" rtlCol="0" anchor="t"/>
          <a:lstStyle/>
          <a:p>
            <a:pPr>
              <a:lnSpc>
                <a:spcPts val="2167"/>
              </a:lnSpc>
            </a:pPr>
            <a:r>
              <a:rPr lang="en-US" sz="1750" b="1" dirty="0">
                <a:solidFill>
                  <a:srgbClr val="D9E1FF"/>
                </a:solidFill>
                <a:latin typeface="Syne Bold" pitchFamily="34" charset="0"/>
                <a:ea typeface="Syne Bold" pitchFamily="34" charset="-122"/>
                <a:cs typeface="Syne Bold" pitchFamily="34" charset="-120"/>
              </a:rPr>
              <a:t>Limited Real-World Data</a:t>
            </a:r>
            <a:endParaRPr lang="en-US" sz="1750" dirty="0"/>
          </a:p>
        </p:txBody>
      </p:sp>
      <p:sp>
        <p:nvSpPr>
          <p:cNvPr id="7" name="Text 3"/>
          <p:cNvSpPr/>
          <p:nvPr/>
        </p:nvSpPr>
        <p:spPr>
          <a:xfrm>
            <a:off x="1285577" y="2818408"/>
            <a:ext cx="2429272" cy="1524000"/>
          </a:xfrm>
          <a:prstGeom prst="rect">
            <a:avLst/>
          </a:prstGeom>
          <a:noFill/>
          <a:ln/>
        </p:spPr>
        <p:txBody>
          <a:bodyPr wrap="square" lIns="0" tIns="0" rIns="0" bIns="0" rtlCol="0" anchor="t"/>
          <a:lstStyle/>
          <a:p>
            <a:pPr>
              <a:lnSpc>
                <a:spcPts val="2375"/>
              </a:lnSpc>
            </a:pPr>
            <a:r>
              <a:rPr lang="en-US" sz="1458" dirty="0">
                <a:solidFill>
                  <a:srgbClr val="D9E1FF"/>
                </a:solidFill>
                <a:latin typeface="Arimo" pitchFamily="34" charset="0"/>
                <a:ea typeface="Arimo" pitchFamily="34" charset="-122"/>
                <a:cs typeface="Arimo" pitchFamily="34" charset="-120"/>
              </a:rPr>
              <a:t>There is a lack of datasets capturing diverse driving conditions. Create collaborative data-sharing platforms to address this.</a:t>
            </a:r>
            <a:endParaRPr lang="en-US" sz="1458" dirty="0"/>
          </a:p>
        </p:txBody>
      </p:sp>
      <p:sp>
        <p:nvSpPr>
          <p:cNvPr id="8" name="Shape 4"/>
          <p:cNvSpPr/>
          <p:nvPr/>
        </p:nvSpPr>
        <p:spPr>
          <a:xfrm>
            <a:off x="3905250" y="2144019"/>
            <a:ext cx="428526" cy="428526"/>
          </a:xfrm>
          <a:prstGeom prst="roundRect">
            <a:avLst>
              <a:gd name="adj" fmla="val 6668"/>
            </a:avLst>
          </a:prstGeom>
          <a:solidFill>
            <a:srgbClr val="2B2952"/>
          </a:solidFill>
          <a:ln/>
        </p:spPr>
      </p:sp>
      <p:pic>
        <p:nvPicPr>
          <p:cNvPr id="9" name="Image 2" descr="preencoded.png"/>
          <p:cNvPicPr>
            <a:picLocks noChangeAspect="1"/>
          </p:cNvPicPr>
          <p:nvPr/>
        </p:nvPicPr>
        <p:blipFill>
          <a:blip r:embed="rId5"/>
          <a:stretch>
            <a:fillRect/>
          </a:stretch>
        </p:blipFill>
        <p:spPr>
          <a:xfrm>
            <a:off x="3985022" y="2190155"/>
            <a:ext cx="268883" cy="336153"/>
          </a:xfrm>
          <a:prstGeom prst="rect">
            <a:avLst/>
          </a:prstGeom>
        </p:spPr>
      </p:pic>
      <p:sp>
        <p:nvSpPr>
          <p:cNvPr id="10" name="Text 5"/>
          <p:cNvSpPr/>
          <p:nvPr/>
        </p:nvSpPr>
        <p:spPr>
          <a:xfrm>
            <a:off x="4524177" y="2144019"/>
            <a:ext cx="2429272" cy="840283"/>
          </a:xfrm>
          <a:prstGeom prst="rect">
            <a:avLst/>
          </a:prstGeom>
          <a:noFill/>
          <a:ln/>
        </p:spPr>
        <p:txBody>
          <a:bodyPr wrap="square" lIns="0" tIns="0" rIns="0" bIns="0" rtlCol="0" anchor="t"/>
          <a:lstStyle/>
          <a:p>
            <a:pPr>
              <a:lnSpc>
                <a:spcPts val="2167"/>
              </a:lnSpc>
            </a:pPr>
            <a:r>
              <a:rPr lang="en-US" sz="1750" b="1" dirty="0">
                <a:solidFill>
                  <a:srgbClr val="D9E1FF"/>
                </a:solidFill>
                <a:latin typeface="Syne Bold" pitchFamily="34" charset="0"/>
                <a:ea typeface="Syne Bold" pitchFamily="34" charset="-122"/>
                <a:cs typeface="Syne Bold" pitchFamily="34" charset="-120"/>
              </a:rPr>
              <a:t>Dynamic Environmental Factors</a:t>
            </a:r>
            <a:endParaRPr lang="en-US" sz="1750" dirty="0"/>
          </a:p>
        </p:txBody>
      </p:sp>
      <p:sp>
        <p:nvSpPr>
          <p:cNvPr id="11" name="Text 6"/>
          <p:cNvSpPr/>
          <p:nvPr/>
        </p:nvSpPr>
        <p:spPr>
          <a:xfrm>
            <a:off x="4524177" y="3098503"/>
            <a:ext cx="2429272" cy="1524000"/>
          </a:xfrm>
          <a:prstGeom prst="rect">
            <a:avLst/>
          </a:prstGeom>
          <a:noFill/>
          <a:ln/>
        </p:spPr>
        <p:txBody>
          <a:bodyPr wrap="square" lIns="0" tIns="0" rIns="0" bIns="0" rtlCol="0" anchor="t"/>
          <a:lstStyle/>
          <a:p>
            <a:pPr>
              <a:lnSpc>
                <a:spcPts val="2375"/>
              </a:lnSpc>
            </a:pPr>
            <a:r>
              <a:rPr lang="en-US" sz="1458" dirty="0">
                <a:solidFill>
                  <a:srgbClr val="D9E1FF"/>
                </a:solidFill>
                <a:latin typeface="Arimo" pitchFamily="34" charset="0"/>
                <a:ea typeface="Arimo" pitchFamily="34" charset="-122"/>
                <a:cs typeface="Arimo" pitchFamily="34" charset="-120"/>
              </a:rPr>
              <a:t>Existing models oversimplify weather and road conditions. Integrate real-time APIs and traffic data into ML models.</a:t>
            </a:r>
            <a:endParaRPr lang="en-US" sz="1458" dirty="0"/>
          </a:p>
        </p:txBody>
      </p:sp>
      <p:sp>
        <p:nvSpPr>
          <p:cNvPr id="12" name="Shape 7"/>
          <p:cNvSpPr/>
          <p:nvPr/>
        </p:nvSpPr>
        <p:spPr>
          <a:xfrm>
            <a:off x="666651" y="5027117"/>
            <a:ext cx="428526" cy="428526"/>
          </a:xfrm>
          <a:prstGeom prst="roundRect">
            <a:avLst>
              <a:gd name="adj" fmla="val 6668"/>
            </a:avLst>
          </a:prstGeom>
          <a:solidFill>
            <a:srgbClr val="2B2952"/>
          </a:solidFill>
          <a:ln/>
        </p:spPr>
      </p:sp>
      <p:pic>
        <p:nvPicPr>
          <p:cNvPr id="13" name="Image 3" descr="preencoded.png"/>
          <p:cNvPicPr>
            <a:picLocks noChangeAspect="1"/>
          </p:cNvPicPr>
          <p:nvPr/>
        </p:nvPicPr>
        <p:blipFill>
          <a:blip r:embed="rId6"/>
          <a:stretch>
            <a:fillRect/>
          </a:stretch>
        </p:blipFill>
        <p:spPr>
          <a:xfrm>
            <a:off x="746423" y="5073254"/>
            <a:ext cx="268883" cy="336153"/>
          </a:xfrm>
          <a:prstGeom prst="rect">
            <a:avLst/>
          </a:prstGeom>
        </p:spPr>
      </p:pic>
      <p:sp>
        <p:nvSpPr>
          <p:cNvPr id="14" name="Text 8"/>
          <p:cNvSpPr/>
          <p:nvPr/>
        </p:nvSpPr>
        <p:spPr>
          <a:xfrm>
            <a:off x="1285577" y="5027117"/>
            <a:ext cx="2932212" cy="280094"/>
          </a:xfrm>
          <a:prstGeom prst="rect">
            <a:avLst/>
          </a:prstGeom>
          <a:noFill/>
          <a:ln/>
        </p:spPr>
        <p:txBody>
          <a:bodyPr wrap="none" lIns="0" tIns="0" rIns="0" bIns="0" rtlCol="0" anchor="t"/>
          <a:lstStyle/>
          <a:p>
            <a:pPr>
              <a:lnSpc>
                <a:spcPts val="2167"/>
              </a:lnSpc>
            </a:pPr>
            <a:r>
              <a:rPr lang="en-US" sz="1750" b="1" dirty="0">
                <a:solidFill>
                  <a:srgbClr val="D9E1FF"/>
                </a:solidFill>
                <a:latin typeface="Syne Bold" pitchFamily="34" charset="0"/>
                <a:ea typeface="Syne Bold" pitchFamily="34" charset="-122"/>
                <a:cs typeface="Syne Bold" pitchFamily="34" charset="-120"/>
              </a:rPr>
              <a:t>Driver Behavior Analysis</a:t>
            </a:r>
            <a:endParaRPr lang="en-US" sz="1750" dirty="0"/>
          </a:p>
        </p:txBody>
      </p:sp>
      <p:sp>
        <p:nvSpPr>
          <p:cNvPr id="15" name="Text 9"/>
          <p:cNvSpPr/>
          <p:nvPr/>
        </p:nvSpPr>
        <p:spPr>
          <a:xfrm>
            <a:off x="1285577" y="5421412"/>
            <a:ext cx="5667772" cy="914400"/>
          </a:xfrm>
          <a:prstGeom prst="rect">
            <a:avLst/>
          </a:prstGeom>
          <a:noFill/>
          <a:ln/>
        </p:spPr>
        <p:txBody>
          <a:bodyPr wrap="square" lIns="0" tIns="0" rIns="0" bIns="0" rtlCol="0" anchor="t"/>
          <a:lstStyle/>
          <a:p>
            <a:pPr>
              <a:lnSpc>
                <a:spcPts val="2375"/>
              </a:lnSpc>
            </a:pPr>
            <a:r>
              <a:rPr lang="en-US" sz="1458" dirty="0">
                <a:solidFill>
                  <a:srgbClr val="D9E1FF"/>
                </a:solidFill>
                <a:latin typeface="Arimo" pitchFamily="34" charset="0"/>
                <a:ea typeface="Arimo" pitchFamily="34" charset="-122"/>
                <a:cs typeface="Arimo" pitchFamily="34" charset="-120"/>
              </a:rPr>
              <a:t>Driver aggressiveness and HVAC usage impact energy consumption. Incorporate driver behavior profiling using sensor data.</a:t>
            </a:r>
            <a:endParaRPr lang="en-US" sz="1458" dirty="0"/>
          </a:p>
        </p:txBody>
      </p:sp>
    </p:spTree>
    <p:extLst>
      <p:ext uri="{BB962C8B-B14F-4D97-AF65-F5344CB8AC3E}">
        <p14:creationId xmlns:p14="http://schemas.microsoft.com/office/powerpoint/2010/main" val="324093991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2000" cy="6858000"/>
          </a:xfrm>
          <a:prstGeom prst="rect">
            <a:avLst/>
          </a:prstGeom>
        </p:spPr>
      </p:pic>
      <p:sp>
        <p:nvSpPr>
          <p:cNvPr id="3" name="Text 0"/>
          <p:cNvSpPr/>
          <p:nvPr/>
        </p:nvSpPr>
        <p:spPr>
          <a:xfrm>
            <a:off x="5270104" y="1388666"/>
            <a:ext cx="5006578"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Results and Impact</a:t>
            </a:r>
            <a:endParaRPr lang="en-US" sz="3667" dirty="0"/>
          </a:p>
        </p:txBody>
      </p:sp>
      <p:pic>
        <p:nvPicPr>
          <p:cNvPr id="4" name="Image 1" descr="preencoded.png"/>
          <p:cNvPicPr>
            <a:picLocks noChangeAspect="1"/>
          </p:cNvPicPr>
          <p:nvPr/>
        </p:nvPicPr>
        <p:blipFill>
          <a:blip r:embed="rId4"/>
          <a:stretch>
            <a:fillRect/>
          </a:stretch>
        </p:blipFill>
        <p:spPr>
          <a:xfrm>
            <a:off x="5270104" y="2274491"/>
            <a:ext cx="468709" cy="468709"/>
          </a:xfrm>
          <a:prstGeom prst="rect">
            <a:avLst/>
          </a:prstGeom>
        </p:spPr>
      </p:pic>
      <p:sp>
        <p:nvSpPr>
          <p:cNvPr id="5" name="Text 1"/>
          <p:cNvSpPr/>
          <p:nvPr/>
        </p:nvSpPr>
        <p:spPr>
          <a:xfrm>
            <a:off x="5270103" y="2942630"/>
            <a:ext cx="1875135"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Improved Accuracy</a:t>
            </a:r>
            <a:endParaRPr lang="en-US" sz="1833" dirty="0"/>
          </a:p>
        </p:txBody>
      </p:sp>
      <p:sp>
        <p:nvSpPr>
          <p:cNvPr id="6" name="Text 2"/>
          <p:cNvSpPr/>
          <p:nvPr/>
        </p:nvSpPr>
        <p:spPr>
          <a:xfrm>
            <a:off x="5270103" y="3648869"/>
            <a:ext cx="1875135"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ML models reduce estimation error by 30-50%.</a:t>
            </a:r>
            <a:endParaRPr lang="en-US" sz="1542" dirty="0"/>
          </a:p>
        </p:txBody>
      </p:sp>
      <p:pic>
        <p:nvPicPr>
          <p:cNvPr id="7" name="Image 2" descr="preencoded.png"/>
          <p:cNvPicPr>
            <a:picLocks noChangeAspect="1"/>
          </p:cNvPicPr>
          <p:nvPr/>
        </p:nvPicPr>
        <p:blipFill>
          <a:blip r:embed="rId5"/>
          <a:stretch>
            <a:fillRect/>
          </a:stretch>
        </p:blipFill>
        <p:spPr>
          <a:xfrm>
            <a:off x="7444383" y="2274491"/>
            <a:ext cx="468709" cy="468709"/>
          </a:xfrm>
          <a:prstGeom prst="rect">
            <a:avLst/>
          </a:prstGeom>
        </p:spPr>
      </p:pic>
      <p:sp>
        <p:nvSpPr>
          <p:cNvPr id="8" name="Text 3"/>
          <p:cNvSpPr/>
          <p:nvPr/>
        </p:nvSpPr>
        <p:spPr>
          <a:xfrm>
            <a:off x="7444383" y="2942630"/>
            <a:ext cx="1875135"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Enhanced Management</a:t>
            </a:r>
            <a:endParaRPr lang="en-US" sz="1833" dirty="0"/>
          </a:p>
        </p:txBody>
      </p:sp>
      <p:sp>
        <p:nvSpPr>
          <p:cNvPr id="9" name="Text 4"/>
          <p:cNvSpPr/>
          <p:nvPr/>
        </p:nvSpPr>
        <p:spPr>
          <a:xfrm>
            <a:off x="7444383" y="3648869"/>
            <a:ext cx="1875135"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Precise predictions enable optimized route planning.</a:t>
            </a:r>
            <a:endParaRPr lang="en-US" sz="1542" dirty="0"/>
          </a:p>
        </p:txBody>
      </p:sp>
      <p:pic>
        <p:nvPicPr>
          <p:cNvPr id="10" name="Image 3" descr="preencoded.png"/>
          <p:cNvPicPr>
            <a:picLocks noChangeAspect="1"/>
          </p:cNvPicPr>
          <p:nvPr/>
        </p:nvPicPr>
        <p:blipFill>
          <a:blip r:embed="rId6"/>
          <a:stretch>
            <a:fillRect/>
          </a:stretch>
        </p:blipFill>
        <p:spPr>
          <a:xfrm>
            <a:off x="9618663" y="2274491"/>
            <a:ext cx="468808" cy="468808"/>
          </a:xfrm>
          <a:prstGeom prst="rect">
            <a:avLst/>
          </a:prstGeom>
        </p:spPr>
      </p:pic>
      <p:sp>
        <p:nvSpPr>
          <p:cNvPr id="11" name="Text 5"/>
          <p:cNvSpPr/>
          <p:nvPr/>
        </p:nvSpPr>
        <p:spPr>
          <a:xfrm>
            <a:off x="9618663" y="2942729"/>
            <a:ext cx="1875234"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Benefits for EVs</a:t>
            </a:r>
            <a:endParaRPr lang="en-US" sz="1833" dirty="0"/>
          </a:p>
        </p:txBody>
      </p:sp>
      <p:sp>
        <p:nvSpPr>
          <p:cNvPr id="12" name="Text 6"/>
          <p:cNvSpPr/>
          <p:nvPr/>
        </p:nvSpPr>
        <p:spPr>
          <a:xfrm>
            <a:off x="9618663" y="3648968"/>
            <a:ext cx="1875234"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Reliable range reduces anxiety and boosts adoption.</a:t>
            </a:r>
            <a:endParaRPr lang="en-US" sz="1542" dirty="0"/>
          </a:p>
        </p:txBody>
      </p:sp>
      <p:sp>
        <p:nvSpPr>
          <p:cNvPr id="13" name="Text 7"/>
          <p:cNvSpPr/>
          <p:nvPr/>
        </p:nvSpPr>
        <p:spPr>
          <a:xfrm>
            <a:off x="5270104" y="4830862"/>
            <a:ext cx="6223794"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Continuously refine ML models and integrate real-time feedback. Develop personalized consumption profiles for drivers and vehicles.</a:t>
            </a:r>
            <a:endParaRPr lang="en-US" sz="1542" dirty="0"/>
          </a:p>
        </p:txBody>
      </p:sp>
    </p:spTree>
    <p:extLst>
      <p:ext uri="{BB962C8B-B14F-4D97-AF65-F5344CB8AC3E}">
        <p14:creationId xmlns:p14="http://schemas.microsoft.com/office/powerpoint/2010/main" val="304080348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a:t>
            </a:r>
            <a:r>
              <a:rPr lang="en-US" sz="3667" b="1" kern="0" spc="-111" dirty="0" smtClean="0">
                <a:solidFill>
                  <a:srgbClr val="FFFFFF"/>
                </a:solidFill>
                <a:latin typeface="Overpass Bold" pitchFamily="34" charset="0"/>
                <a:ea typeface="Overpass Bold" pitchFamily="34" charset="-122"/>
              </a:rPr>
              <a:t>4</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Paper Name:  </a:t>
            </a:r>
            <a:r>
              <a:rPr lang="en-US" sz="1600" dirty="0" smtClean="0">
                <a:solidFill>
                  <a:schemeClr val="bg1"/>
                </a:solidFill>
              </a:rPr>
              <a:t>Machine Learning Models for Predicting and Managing Electric Vehicle Load in Smart Grids</a:t>
            </a:r>
            <a:endParaRPr lang="en-US" sz="1542" dirty="0">
              <a:solidFill>
                <a:schemeClr val="bg1"/>
              </a:solidFill>
            </a:endParaRPr>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Author(s):  </a:t>
            </a:r>
            <a:r>
              <a:rPr lang="en-US" sz="1542" b="1" dirty="0" smtClean="0">
                <a:solidFill>
                  <a:schemeClr val="bg1"/>
                </a:solidFill>
                <a:latin typeface="Overpass" pitchFamily="34" charset="0"/>
                <a:ea typeface="Overpass" pitchFamily="34" charset="-122"/>
                <a:cs typeface="Overpass" pitchFamily="34" charset="-120"/>
              </a:rPr>
              <a:t> </a:t>
            </a:r>
            <a:r>
              <a:rPr lang="en-US" sz="1600" dirty="0" smtClean="0">
                <a:solidFill>
                  <a:schemeClr val="bg1"/>
                </a:solidFill>
              </a:rPr>
              <a:t>Vasupalli Manoj, M.Ramasekhara Reddy, G.Nooka Raju, RamaKrishna Raghutu, P.A.Mohana rao, Aakula Swathi</a:t>
            </a:r>
            <a:endParaRPr lang="en-US" sz="1542" dirty="0">
              <a:solidFill>
                <a:schemeClr val="bg1"/>
              </a:solidFill>
            </a:endParaRPr>
          </a:p>
        </p:txBody>
      </p:sp>
      <p:sp>
        <p:nvSpPr>
          <p:cNvPr id="5" name="Text 3"/>
          <p:cNvSpPr/>
          <p:nvPr/>
        </p:nvSpPr>
        <p:spPr>
          <a:xfrm>
            <a:off x="698104" y="324678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2024</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Web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r>
              <a:rPr lang="en-US" sz="1600" b="1" dirty="0">
                <a:solidFill>
                  <a:schemeClr val="bg1"/>
                </a:solidFill>
              </a:rPr>
              <a:t>Machine Learning Models for Predicting and Managing Electric Vehicle Load in Smart Grids</a:t>
            </a:r>
            <a:r>
              <a:rPr lang="en-US" sz="1600" dirty="0">
                <a:solidFill>
                  <a:schemeClr val="bg1"/>
                </a:solidFill>
              </a:rPr>
              <a:t> represent a cutting-edge solution for optimizing energy distribution, reducing grid congestion, and ensuring the efficient use of resources in a modern, decentralized energy system</a:t>
            </a:r>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Mahipal Singh Jadeja</a:t>
            </a:r>
            <a:endParaRPr lang="en-US" sz="1542" dirty="0"/>
          </a:p>
        </p:txBody>
      </p:sp>
    </p:spTree>
    <p:extLst>
      <p:ext uri="{BB962C8B-B14F-4D97-AF65-F5344CB8AC3E}">
        <p14:creationId xmlns:p14="http://schemas.microsoft.com/office/powerpoint/2010/main" val="39488150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119882"/>
            <a:ext cx="10795793" cy="1173361"/>
          </a:xfrm>
          <a:prstGeom prst="rect">
            <a:avLst/>
          </a:prstGeom>
          <a:noFill/>
          <a:ln/>
        </p:spPr>
        <p:txBody>
          <a:bodyPr wrap="squar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AI/ML Techniques for Real-time DR and LM</a:t>
            </a:r>
            <a:endParaRPr lang="en-US" sz="3667" dirty="0"/>
          </a:p>
        </p:txBody>
      </p:sp>
      <p:sp>
        <p:nvSpPr>
          <p:cNvPr id="3" name="Text 1"/>
          <p:cNvSpPr/>
          <p:nvPr/>
        </p:nvSpPr>
        <p:spPr>
          <a:xfrm>
            <a:off x="698104" y="2791818"/>
            <a:ext cx="2560439"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Predictive Modeling</a:t>
            </a:r>
            <a:endParaRPr lang="en-US" sz="1833" dirty="0"/>
          </a:p>
        </p:txBody>
      </p:sp>
      <p:sp>
        <p:nvSpPr>
          <p:cNvPr id="4" name="Text 2"/>
          <p:cNvSpPr/>
          <p:nvPr/>
        </p:nvSpPr>
        <p:spPr>
          <a:xfrm>
            <a:off x="698104" y="3284537"/>
            <a:ext cx="515461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Time series forecasting using RNNs for load forecasting.</a:t>
            </a:r>
            <a:endParaRPr lang="en-US" sz="1542" dirty="0"/>
          </a:p>
        </p:txBody>
      </p:sp>
      <p:sp>
        <p:nvSpPr>
          <p:cNvPr id="5" name="Text 3"/>
          <p:cNvSpPr/>
          <p:nvPr/>
        </p:nvSpPr>
        <p:spPr>
          <a:xfrm>
            <a:off x="698104" y="3783211"/>
            <a:ext cx="515461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Historical data, weather, occupancy patterns, and pricing signals.</a:t>
            </a:r>
            <a:endParaRPr lang="en-US" sz="1542" dirty="0"/>
          </a:p>
        </p:txBody>
      </p:sp>
      <p:sp>
        <p:nvSpPr>
          <p:cNvPr id="6" name="Text 4"/>
          <p:cNvSpPr/>
          <p:nvPr/>
        </p:nvSpPr>
        <p:spPr>
          <a:xfrm>
            <a:off x="698104" y="4601071"/>
            <a:ext cx="515461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Target MAPE of </a:t>
            </a:r>
            <a:r>
              <a:rPr lang="en-US" sz="1542" b="1" dirty="0">
                <a:solidFill>
                  <a:srgbClr val="D9E1FF"/>
                </a:solidFill>
                <a:latin typeface="Arimo" pitchFamily="34" charset="0"/>
                <a:ea typeface="Arimo" pitchFamily="34" charset="-122"/>
                <a:cs typeface="Arimo" pitchFamily="34" charset="-120"/>
              </a:rPr>
              <a:t>less than</a:t>
            </a:r>
            <a:r>
              <a:rPr lang="en-US" sz="1542" dirty="0">
                <a:solidFill>
                  <a:srgbClr val="D9E1FF"/>
                </a:solidFill>
                <a:latin typeface="Arimo" pitchFamily="34" charset="0"/>
                <a:ea typeface="Arimo" pitchFamily="34" charset="-122"/>
                <a:cs typeface="Arimo" pitchFamily="34" charset="-120"/>
              </a:rPr>
              <a:t> 5% improvement over traditional methods.</a:t>
            </a:r>
            <a:endParaRPr lang="en-US" sz="1542" dirty="0"/>
          </a:p>
        </p:txBody>
      </p:sp>
      <p:sp>
        <p:nvSpPr>
          <p:cNvPr id="7" name="Text 5"/>
          <p:cNvSpPr/>
          <p:nvPr/>
        </p:nvSpPr>
        <p:spPr>
          <a:xfrm>
            <a:off x="6345634" y="2791818"/>
            <a:ext cx="3030240"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Real-time Optimization</a:t>
            </a:r>
            <a:endParaRPr lang="en-US" sz="1833" dirty="0"/>
          </a:p>
        </p:txBody>
      </p:sp>
      <p:sp>
        <p:nvSpPr>
          <p:cNvPr id="8" name="Text 6"/>
          <p:cNvSpPr/>
          <p:nvPr/>
        </p:nvSpPr>
        <p:spPr>
          <a:xfrm>
            <a:off x="6345634" y="3284538"/>
            <a:ext cx="515461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Reinforcement Learning (RL) for dynamic control of energy resources.</a:t>
            </a:r>
            <a:endParaRPr lang="en-US" sz="1542" dirty="0"/>
          </a:p>
        </p:txBody>
      </p:sp>
      <p:sp>
        <p:nvSpPr>
          <p:cNvPr id="9" name="Text 7"/>
          <p:cNvSpPr/>
          <p:nvPr/>
        </p:nvSpPr>
        <p:spPr>
          <a:xfrm>
            <a:off x="6345634" y="4102398"/>
            <a:ext cx="515461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Simulated energy grid environment with controllable loads.</a:t>
            </a:r>
            <a:endParaRPr lang="en-US" sz="1542" dirty="0"/>
          </a:p>
        </p:txBody>
      </p:sp>
      <p:sp>
        <p:nvSpPr>
          <p:cNvPr id="10" name="Text 8"/>
          <p:cNvSpPr/>
          <p:nvPr/>
        </p:nvSpPr>
        <p:spPr>
          <a:xfrm>
            <a:off x="6345634" y="4920258"/>
            <a:ext cx="5154613"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Minimize energy costs, reduce peak demand, and ensure grid stability.</a:t>
            </a:r>
            <a:endParaRPr lang="en-US" sz="1542" dirty="0"/>
          </a:p>
        </p:txBody>
      </p:sp>
    </p:spTree>
    <p:extLst>
      <p:ext uri="{BB962C8B-B14F-4D97-AF65-F5344CB8AC3E}">
        <p14:creationId xmlns:p14="http://schemas.microsoft.com/office/powerpoint/2010/main" val="371402461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4572000" cy="6859191"/>
          </a:xfrm>
          <a:prstGeom prst="rect">
            <a:avLst/>
          </a:prstGeom>
        </p:spPr>
      </p:pic>
      <p:sp>
        <p:nvSpPr>
          <p:cNvPr id="3" name="Text 0"/>
          <p:cNvSpPr/>
          <p:nvPr/>
        </p:nvSpPr>
        <p:spPr>
          <a:xfrm>
            <a:off x="5216724" y="506611"/>
            <a:ext cx="6330553" cy="1625501"/>
          </a:xfrm>
          <a:prstGeom prst="rect">
            <a:avLst/>
          </a:prstGeom>
          <a:noFill/>
          <a:ln/>
        </p:spPr>
        <p:txBody>
          <a:bodyPr wrap="square" lIns="0" tIns="0" rIns="0" bIns="0" rtlCol="0" anchor="t"/>
          <a:lstStyle/>
          <a:p>
            <a:pPr>
              <a:lnSpc>
                <a:spcPts val="4250"/>
              </a:lnSpc>
            </a:pPr>
            <a:r>
              <a:rPr lang="en-US" sz="3375" b="1" dirty="0">
                <a:solidFill>
                  <a:srgbClr val="FFFFFF"/>
                </a:solidFill>
                <a:latin typeface="Syne Bold" pitchFamily="34" charset="0"/>
                <a:ea typeface="Syne Bold" pitchFamily="34" charset="-122"/>
                <a:cs typeface="Syne Bold" pitchFamily="34" charset="-120"/>
              </a:rPr>
              <a:t>Research Gaps: Challenges and Future Directions</a:t>
            </a:r>
            <a:endParaRPr lang="en-US" sz="3375" dirty="0"/>
          </a:p>
        </p:txBody>
      </p:sp>
      <p:sp>
        <p:nvSpPr>
          <p:cNvPr id="4" name="Shape 1"/>
          <p:cNvSpPr/>
          <p:nvPr/>
        </p:nvSpPr>
        <p:spPr>
          <a:xfrm>
            <a:off x="5216723" y="2408436"/>
            <a:ext cx="3073202" cy="2310209"/>
          </a:xfrm>
          <a:prstGeom prst="roundRect">
            <a:avLst>
              <a:gd name="adj" fmla="val 1196"/>
            </a:avLst>
          </a:prstGeom>
          <a:solidFill>
            <a:srgbClr val="2B2952"/>
          </a:solidFill>
          <a:ln/>
        </p:spPr>
      </p:sp>
      <p:sp>
        <p:nvSpPr>
          <p:cNvPr id="5" name="Text 2"/>
          <p:cNvSpPr/>
          <p:nvPr/>
        </p:nvSpPr>
        <p:spPr>
          <a:xfrm>
            <a:off x="5400873" y="2592586"/>
            <a:ext cx="2704902" cy="541734"/>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Data Availability &amp; Quality</a:t>
            </a:r>
            <a:endParaRPr lang="en-US" sz="1667" dirty="0"/>
          </a:p>
        </p:txBody>
      </p:sp>
      <p:sp>
        <p:nvSpPr>
          <p:cNvPr id="6" name="Text 3"/>
          <p:cNvSpPr/>
          <p:nvPr/>
        </p:nvSpPr>
        <p:spPr>
          <a:xfrm>
            <a:off x="5400873" y="3244851"/>
            <a:ext cx="2704902" cy="294779"/>
          </a:xfrm>
          <a:prstGeom prst="rect">
            <a:avLst/>
          </a:prstGeom>
          <a:noFill/>
          <a:ln/>
        </p:spPr>
        <p:txBody>
          <a:bodyPr wrap="non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Limited access to real-time data.</a:t>
            </a:r>
            <a:endParaRPr lang="en-US" sz="1417" dirty="0"/>
          </a:p>
        </p:txBody>
      </p:sp>
      <p:sp>
        <p:nvSpPr>
          <p:cNvPr id="7" name="Text 4"/>
          <p:cNvSpPr/>
          <p:nvPr/>
        </p:nvSpPr>
        <p:spPr>
          <a:xfrm>
            <a:off x="5400873" y="3650158"/>
            <a:ext cx="2704902" cy="884337"/>
          </a:xfrm>
          <a:prstGeom prst="rect">
            <a:avLst/>
          </a:prstGeom>
          <a:noFill/>
          <a:ln/>
        </p:spPr>
        <p:txBody>
          <a:bodyPr wrap="square" lIns="0" tIns="0" rIns="0" bIns="0" rtlCol="0" anchor="t"/>
          <a:lstStyle/>
          <a:p>
            <a:pPr marL="285739" indent="-285739">
              <a:lnSpc>
                <a:spcPts val="2292"/>
              </a:lnSpc>
              <a:buSzPct val="100000"/>
              <a:buChar char="•"/>
            </a:pPr>
            <a:r>
              <a:rPr lang="en-US" sz="1417" dirty="0">
                <a:solidFill>
                  <a:srgbClr val="D9E1FF"/>
                </a:solidFill>
                <a:latin typeface="Arimo" pitchFamily="34" charset="0"/>
                <a:ea typeface="Arimo" pitchFamily="34" charset="-122"/>
                <a:cs typeface="Arimo" pitchFamily="34" charset="-120"/>
              </a:rPr>
              <a:t>Federated learning for collaborative AI/ML model training.</a:t>
            </a:r>
            <a:endParaRPr lang="en-US" sz="1417" dirty="0"/>
          </a:p>
        </p:txBody>
      </p:sp>
      <p:sp>
        <p:nvSpPr>
          <p:cNvPr id="8" name="Shape 5"/>
          <p:cNvSpPr/>
          <p:nvPr/>
        </p:nvSpPr>
        <p:spPr>
          <a:xfrm>
            <a:off x="8474075" y="2408436"/>
            <a:ext cx="3073202" cy="2310209"/>
          </a:xfrm>
          <a:prstGeom prst="roundRect">
            <a:avLst>
              <a:gd name="adj" fmla="val 1196"/>
            </a:avLst>
          </a:prstGeom>
          <a:solidFill>
            <a:srgbClr val="2B2952"/>
          </a:solidFill>
          <a:ln/>
        </p:spPr>
      </p:sp>
      <p:sp>
        <p:nvSpPr>
          <p:cNvPr id="9" name="Text 6"/>
          <p:cNvSpPr/>
          <p:nvPr/>
        </p:nvSpPr>
        <p:spPr>
          <a:xfrm>
            <a:off x="8658225" y="2592586"/>
            <a:ext cx="2704902" cy="541734"/>
          </a:xfrm>
          <a:prstGeom prst="rect">
            <a:avLst/>
          </a:prstGeom>
          <a:noFill/>
          <a:ln/>
        </p:spPr>
        <p:txBody>
          <a:bodyPr wrap="squar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Scalability &amp; Adaptability</a:t>
            </a:r>
            <a:endParaRPr lang="en-US" sz="1667" dirty="0"/>
          </a:p>
        </p:txBody>
      </p:sp>
      <p:sp>
        <p:nvSpPr>
          <p:cNvPr id="10" name="Text 7"/>
          <p:cNvSpPr/>
          <p:nvPr/>
        </p:nvSpPr>
        <p:spPr>
          <a:xfrm>
            <a:off x="8658225" y="3244850"/>
            <a:ext cx="2704902" cy="589558"/>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Deploying AI/ML models in large-scale grids.</a:t>
            </a:r>
            <a:endParaRPr lang="en-US" sz="1417" dirty="0"/>
          </a:p>
        </p:txBody>
      </p:sp>
      <p:sp>
        <p:nvSpPr>
          <p:cNvPr id="11" name="Text 8"/>
          <p:cNvSpPr/>
          <p:nvPr/>
        </p:nvSpPr>
        <p:spPr>
          <a:xfrm>
            <a:off x="8658225" y="3944938"/>
            <a:ext cx="2704902" cy="589558"/>
          </a:xfrm>
          <a:prstGeom prst="rect">
            <a:avLst/>
          </a:prstGeom>
          <a:noFill/>
          <a:ln/>
        </p:spPr>
        <p:txBody>
          <a:bodyPr wrap="square" lIns="0" tIns="0" rIns="0" bIns="0" rtlCol="0" anchor="t"/>
          <a:lstStyle/>
          <a:p>
            <a:pPr marL="285739" indent="-285739">
              <a:lnSpc>
                <a:spcPts val="2292"/>
              </a:lnSpc>
              <a:buSzPct val="100000"/>
              <a:buChar char="•"/>
            </a:pPr>
            <a:r>
              <a:rPr lang="en-US" sz="1417" dirty="0">
                <a:solidFill>
                  <a:srgbClr val="D9E1FF"/>
                </a:solidFill>
                <a:latin typeface="Arimo" pitchFamily="34" charset="0"/>
                <a:ea typeface="Arimo" pitchFamily="34" charset="-122"/>
                <a:cs typeface="Arimo" pitchFamily="34" charset="-120"/>
              </a:rPr>
              <a:t>Transfer learning to adapt pre-trained models.</a:t>
            </a:r>
            <a:endParaRPr lang="en-US" sz="1417" dirty="0"/>
          </a:p>
        </p:txBody>
      </p:sp>
      <p:sp>
        <p:nvSpPr>
          <p:cNvPr id="12" name="Shape 9"/>
          <p:cNvSpPr/>
          <p:nvPr/>
        </p:nvSpPr>
        <p:spPr>
          <a:xfrm>
            <a:off x="5216724" y="4902796"/>
            <a:ext cx="6330553" cy="1449784"/>
          </a:xfrm>
          <a:prstGeom prst="roundRect">
            <a:avLst>
              <a:gd name="adj" fmla="val 1906"/>
            </a:avLst>
          </a:prstGeom>
          <a:solidFill>
            <a:srgbClr val="2B2952"/>
          </a:solidFill>
          <a:ln/>
        </p:spPr>
      </p:sp>
      <p:sp>
        <p:nvSpPr>
          <p:cNvPr id="13" name="Text 10"/>
          <p:cNvSpPr/>
          <p:nvPr/>
        </p:nvSpPr>
        <p:spPr>
          <a:xfrm>
            <a:off x="5400874" y="5086945"/>
            <a:ext cx="2475806" cy="270868"/>
          </a:xfrm>
          <a:prstGeom prst="rect">
            <a:avLst/>
          </a:prstGeom>
          <a:noFill/>
          <a:ln/>
        </p:spPr>
        <p:txBody>
          <a:bodyPr wrap="none" lIns="0" tIns="0" rIns="0" bIns="0" rtlCol="0" anchor="t"/>
          <a:lstStyle/>
          <a:p>
            <a:pPr>
              <a:lnSpc>
                <a:spcPts val="2125"/>
              </a:lnSpc>
            </a:pPr>
            <a:r>
              <a:rPr lang="en-US" sz="1667" b="1" dirty="0">
                <a:solidFill>
                  <a:srgbClr val="D9E1FF"/>
                </a:solidFill>
                <a:latin typeface="Syne Bold" pitchFamily="34" charset="0"/>
                <a:ea typeface="Syne Bold" pitchFamily="34" charset="-122"/>
                <a:cs typeface="Syne Bold" pitchFamily="34" charset="-120"/>
              </a:rPr>
              <a:t>Explainability &amp; Trust</a:t>
            </a:r>
            <a:endParaRPr lang="en-US" sz="1667" dirty="0"/>
          </a:p>
        </p:txBody>
      </p:sp>
      <p:sp>
        <p:nvSpPr>
          <p:cNvPr id="14" name="Text 11"/>
          <p:cNvSpPr/>
          <p:nvPr/>
        </p:nvSpPr>
        <p:spPr>
          <a:xfrm>
            <a:off x="5400874" y="5468343"/>
            <a:ext cx="5962253" cy="294779"/>
          </a:xfrm>
          <a:prstGeom prst="rect">
            <a:avLst/>
          </a:prstGeom>
          <a:noFill/>
          <a:ln/>
        </p:spPr>
        <p:txBody>
          <a:bodyPr wrap="non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Lack of transparency in AI/ML models.</a:t>
            </a:r>
            <a:endParaRPr lang="en-US" sz="1417" dirty="0"/>
          </a:p>
        </p:txBody>
      </p:sp>
      <p:sp>
        <p:nvSpPr>
          <p:cNvPr id="15" name="Text 12"/>
          <p:cNvSpPr/>
          <p:nvPr/>
        </p:nvSpPr>
        <p:spPr>
          <a:xfrm>
            <a:off x="5400874" y="5873651"/>
            <a:ext cx="5962253" cy="294779"/>
          </a:xfrm>
          <a:prstGeom prst="rect">
            <a:avLst/>
          </a:prstGeom>
          <a:noFill/>
          <a:ln/>
        </p:spPr>
        <p:txBody>
          <a:bodyPr wrap="none" lIns="0" tIns="0" rIns="0" bIns="0" rtlCol="0" anchor="t"/>
          <a:lstStyle/>
          <a:p>
            <a:pPr marL="285739" indent="-285739">
              <a:lnSpc>
                <a:spcPts val="2292"/>
              </a:lnSpc>
              <a:buSzPct val="100000"/>
              <a:buChar char="•"/>
            </a:pPr>
            <a:r>
              <a:rPr lang="en-US" sz="1417" dirty="0">
                <a:solidFill>
                  <a:srgbClr val="D9E1FF"/>
                </a:solidFill>
                <a:latin typeface="Arimo" pitchFamily="34" charset="0"/>
                <a:ea typeface="Arimo" pitchFamily="34" charset="-122"/>
                <a:cs typeface="Arimo" pitchFamily="34" charset="-120"/>
              </a:rPr>
              <a:t>Integration of Explainable AI (XAI) methods.</a:t>
            </a:r>
            <a:endParaRPr lang="en-US" sz="1417" dirty="0"/>
          </a:p>
        </p:txBody>
      </p:sp>
    </p:spTree>
    <p:extLst>
      <p:ext uri="{BB962C8B-B14F-4D97-AF65-F5344CB8AC3E}">
        <p14:creationId xmlns:p14="http://schemas.microsoft.com/office/powerpoint/2010/main" val="410454803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206798"/>
            <a:ext cx="7387828"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Results: Impact and Benefits</a:t>
            </a:r>
            <a:endParaRPr lang="en-US" sz="3667" dirty="0"/>
          </a:p>
        </p:txBody>
      </p:sp>
      <p:pic>
        <p:nvPicPr>
          <p:cNvPr id="3" name="Image 0" descr="preencoded.png"/>
          <p:cNvPicPr>
            <a:picLocks noChangeAspect="1"/>
          </p:cNvPicPr>
          <p:nvPr/>
        </p:nvPicPr>
        <p:blipFill>
          <a:blip r:embed="rId3"/>
          <a:stretch>
            <a:fillRect/>
          </a:stretch>
        </p:blipFill>
        <p:spPr>
          <a:xfrm>
            <a:off x="698104" y="2192437"/>
            <a:ext cx="498673" cy="498673"/>
          </a:xfrm>
          <a:prstGeom prst="rect">
            <a:avLst/>
          </a:prstGeom>
        </p:spPr>
      </p:pic>
      <p:sp>
        <p:nvSpPr>
          <p:cNvPr id="4" name="Text 1"/>
          <p:cNvSpPr/>
          <p:nvPr/>
        </p:nvSpPr>
        <p:spPr>
          <a:xfrm>
            <a:off x="698103" y="2890540"/>
            <a:ext cx="3399135"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Enhanced Load Forecasting Accuracy</a:t>
            </a:r>
            <a:endParaRPr lang="en-US" sz="1833" dirty="0"/>
          </a:p>
        </p:txBody>
      </p:sp>
      <p:pic>
        <p:nvPicPr>
          <p:cNvPr id="5" name="Image 1" descr="preencoded.png"/>
          <p:cNvPicPr>
            <a:picLocks noChangeAspect="1"/>
          </p:cNvPicPr>
          <p:nvPr/>
        </p:nvPicPr>
        <p:blipFill>
          <a:blip r:embed="rId4"/>
          <a:stretch>
            <a:fillRect/>
          </a:stretch>
        </p:blipFill>
        <p:spPr>
          <a:xfrm>
            <a:off x="4396383" y="2192437"/>
            <a:ext cx="498673" cy="498673"/>
          </a:xfrm>
          <a:prstGeom prst="rect">
            <a:avLst/>
          </a:prstGeom>
        </p:spPr>
      </p:pic>
      <p:sp>
        <p:nvSpPr>
          <p:cNvPr id="6" name="Text 2"/>
          <p:cNvSpPr/>
          <p:nvPr/>
        </p:nvSpPr>
        <p:spPr>
          <a:xfrm>
            <a:off x="4396383" y="2890540"/>
            <a:ext cx="3399135"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Optimized Demand Response</a:t>
            </a:r>
            <a:endParaRPr lang="en-US" sz="1833" dirty="0"/>
          </a:p>
        </p:txBody>
      </p:sp>
      <p:pic>
        <p:nvPicPr>
          <p:cNvPr id="7" name="Image 2" descr="preencoded.png"/>
          <p:cNvPicPr>
            <a:picLocks noChangeAspect="1"/>
          </p:cNvPicPr>
          <p:nvPr/>
        </p:nvPicPr>
        <p:blipFill>
          <a:blip r:embed="rId5"/>
          <a:stretch>
            <a:fillRect/>
          </a:stretch>
        </p:blipFill>
        <p:spPr>
          <a:xfrm>
            <a:off x="8094663" y="2192437"/>
            <a:ext cx="498673" cy="498673"/>
          </a:xfrm>
          <a:prstGeom prst="rect">
            <a:avLst/>
          </a:prstGeom>
        </p:spPr>
      </p:pic>
      <p:sp>
        <p:nvSpPr>
          <p:cNvPr id="8" name="Text 3"/>
          <p:cNvSpPr/>
          <p:nvPr/>
        </p:nvSpPr>
        <p:spPr>
          <a:xfrm>
            <a:off x="8094663" y="2890540"/>
            <a:ext cx="3399234" cy="586582"/>
          </a:xfrm>
          <a:prstGeom prst="rect">
            <a:avLst/>
          </a:prstGeom>
          <a:noFill/>
          <a:ln/>
        </p:spPr>
        <p:txBody>
          <a:bodyPr wrap="squar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Improved Energy Efficiency</a:t>
            </a:r>
            <a:endParaRPr lang="en-US" sz="1833" dirty="0"/>
          </a:p>
        </p:txBody>
      </p:sp>
      <p:sp>
        <p:nvSpPr>
          <p:cNvPr id="9" name="Text 4"/>
          <p:cNvSpPr/>
          <p:nvPr/>
        </p:nvSpPr>
        <p:spPr>
          <a:xfrm>
            <a:off x="698104" y="3701455"/>
            <a:ext cx="1079579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AI/ML models achieve significant improvements.</a:t>
            </a:r>
            <a:endParaRPr lang="en-US" sz="1542" dirty="0"/>
          </a:p>
        </p:txBody>
      </p:sp>
      <p:sp>
        <p:nvSpPr>
          <p:cNvPr id="10" name="Text 5"/>
          <p:cNvSpPr/>
          <p:nvPr/>
        </p:nvSpPr>
        <p:spPr>
          <a:xfrm>
            <a:off x="698104" y="4244975"/>
            <a:ext cx="1079579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DR systems enable dynamic control, reducing peak demand.</a:t>
            </a:r>
            <a:endParaRPr lang="en-US" sz="1542" dirty="0"/>
          </a:p>
        </p:txBody>
      </p:sp>
      <p:sp>
        <p:nvSpPr>
          <p:cNvPr id="11" name="Text 6"/>
          <p:cNvSpPr/>
          <p:nvPr/>
        </p:nvSpPr>
        <p:spPr>
          <a:xfrm>
            <a:off x="698104" y="4788495"/>
            <a:ext cx="1079579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Algorithms identify inefficient consumption, leading to savings.</a:t>
            </a:r>
            <a:endParaRPr lang="en-US" sz="1542" dirty="0"/>
          </a:p>
        </p:txBody>
      </p:sp>
      <p:sp>
        <p:nvSpPr>
          <p:cNvPr id="12" name="Text 7"/>
          <p:cNvSpPr/>
          <p:nvPr/>
        </p:nvSpPr>
        <p:spPr>
          <a:xfrm>
            <a:off x="698104" y="5332016"/>
            <a:ext cx="10795793"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Enabling a sustainable, reliable, and resilient energy future.</a:t>
            </a:r>
            <a:endParaRPr lang="en-US" sz="1542" dirty="0"/>
          </a:p>
        </p:txBody>
      </p:sp>
    </p:spTree>
    <p:extLst>
      <p:ext uri="{BB962C8B-B14F-4D97-AF65-F5344CB8AC3E}">
        <p14:creationId xmlns:p14="http://schemas.microsoft.com/office/powerpoint/2010/main" val="403089354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5</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Paper Name:  </a:t>
            </a:r>
            <a:r>
              <a:rPr lang="en-US" sz="1600" dirty="0">
                <a:solidFill>
                  <a:schemeClr val="bg1"/>
                </a:solidFill>
              </a:rPr>
              <a:t>Recent Trends and Issues of Energy Management Systems Using Machine Learning</a:t>
            </a:r>
            <a:endParaRPr lang="en-US" sz="1542" dirty="0">
              <a:solidFill>
                <a:schemeClr val="bg1"/>
              </a:solidFill>
            </a:endParaRPr>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Author(s):  </a:t>
            </a:r>
            <a:r>
              <a:rPr lang="en-US" sz="1542" b="1" dirty="0" smtClean="0">
                <a:solidFill>
                  <a:schemeClr val="bg1"/>
                </a:solidFill>
                <a:latin typeface="Overpass" pitchFamily="34" charset="0"/>
                <a:ea typeface="Overpass" pitchFamily="34" charset="-122"/>
                <a:cs typeface="Overpass" pitchFamily="34" charset="-120"/>
              </a:rPr>
              <a:t> </a:t>
            </a:r>
            <a:r>
              <a:rPr lang="en-US" sz="1600" dirty="0">
                <a:solidFill>
                  <a:schemeClr val="bg1"/>
                </a:solidFill>
              </a:rPr>
              <a:t>Seongwoo Lee, </a:t>
            </a:r>
            <a:r>
              <a:rPr lang="en-US" sz="1600" dirty="0" smtClean="0">
                <a:solidFill>
                  <a:schemeClr val="bg1"/>
                </a:solidFill>
              </a:rPr>
              <a:t> Joonho </a:t>
            </a:r>
            <a:r>
              <a:rPr lang="en-US" sz="1600" dirty="0">
                <a:solidFill>
                  <a:schemeClr val="bg1"/>
                </a:solidFill>
              </a:rPr>
              <a:t>Seon , </a:t>
            </a:r>
            <a:r>
              <a:rPr lang="en-US" sz="1600" dirty="0" smtClean="0">
                <a:solidFill>
                  <a:schemeClr val="bg1"/>
                </a:solidFill>
              </a:rPr>
              <a:t> Byungsun </a:t>
            </a:r>
            <a:r>
              <a:rPr lang="en-US" sz="1600" dirty="0">
                <a:solidFill>
                  <a:schemeClr val="bg1"/>
                </a:solidFill>
              </a:rPr>
              <a:t>Hwang, Soohyun Kim , </a:t>
            </a:r>
            <a:r>
              <a:rPr lang="en-US" sz="1600" dirty="0" smtClean="0">
                <a:solidFill>
                  <a:schemeClr val="bg1"/>
                </a:solidFill>
              </a:rPr>
              <a:t> Youngghyu </a:t>
            </a:r>
            <a:r>
              <a:rPr lang="en-US" sz="1600" dirty="0">
                <a:solidFill>
                  <a:schemeClr val="bg1"/>
                </a:solidFill>
              </a:rPr>
              <a:t>Sun </a:t>
            </a:r>
            <a:r>
              <a:rPr lang="en-US" sz="1600" dirty="0" smtClean="0">
                <a:solidFill>
                  <a:schemeClr val="bg1"/>
                </a:solidFill>
              </a:rPr>
              <a:t>and JinyoungKim</a:t>
            </a:r>
            <a:endParaRPr lang="en-US" sz="1542" dirty="0">
              <a:solidFill>
                <a:schemeClr val="bg1"/>
              </a:solidFill>
            </a:endParaRPr>
          </a:p>
        </p:txBody>
      </p:sp>
      <p:sp>
        <p:nvSpPr>
          <p:cNvPr id="5" name="Text 3"/>
          <p:cNvSpPr/>
          <p:nvPr/>
        </p:nvSpPr>
        <p:spPr>
          <a:xfrm>
            <a:off x="698104" y="324678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2024</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Energies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pPr>
              <a:lnSpc>
                <a:spcPts val="2500"/>
              </a:lnSpc>
            </a:pPr>
            <a:r>
              <a:rPr lang="en-US" sz="1600" dirty="0">
                <a:solidFill>
                  <a:srgbClr val="D9E1FF"/>
                </a:solidFill>
                <a:latin typeface="Arimo" pitchFamily="34" charset="0"/>
                <a:ea typeface="Arimo" pitchFamily="34" charset="-122"/>
                <a:cs typeface="Arimo" pitchFamily="34" charset="-120"/>
              </a:rPr>
              <a:t>Energy Management Systems (EMS) are evolving with Machine Learning (ML) integration. Traditional EMS are being enhanced by ML, driving market growth. The market is projected to reach $45B by 2027. Key applications include smart grids, building automation, and industrial energy optimization.</a:t>
            </a:r>
            <a:endParaRPr lang="en-US" sz="1600" dirty="0"/>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Sisodiya Dhruv</a:t>
            </a:r>
            <a:endParaRPr lang="en-US" sz="1542" dirty="0"/>
          </a:p>
        </p:txBody>
      </p:sp>
    </p:spTree>
    <p:extLst>
      <p:ext uri="{BB962C8B-B14F-4D97-AF65-F5344CB8AC3E}">
        <p14:creationId xmlns:p14="http://schemas.microsoft.com/office/powerpoint/2010/main" val="12197894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050032"/>
            <a:ext cx="10795793" cy="1173361"/>
          </a:xfrm>
          <a:prstGeom prst="rect">
            <a:avLst/>
          </a:prstGeom>
          <a:noFill/>
          <a:ln/>
        </p:spPr>
        <p:txBody>
          <a:bodyPr wrap="squar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ML Methodologies in Energy Management: A Review</a:t>
            </a:r>
            <a:endParaRPr lang="en-US" sz="3667" dirty="0"/>
          </a:p>
        </p:txBody>
      </p:sp>
      <p:sp>
        <p:nvSpPr>
          <p:cNvPr id="3" name="Text 1"/>
          <p:cNvSpPr/>
          <p:nvPr/>
        </p:nvSpPr>
        <p:spPr>
          <a:xfrm>
            <a:off x="698103" y="2721968"/>
            <a:ext cx="2722265"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Demand Forecasting</a:t>
            </a:r>
            <a:endParaRPr lang="en-US" sz="1833" dirty="0"/>
          </a:p>
        </p:txBody>
      </p:sp>
      <p:sp>
        <p:nvSpPr>
          <p:cNvPr id="4" name="Text 2"/>
          <p:cNvSpPr/>
          <p:nvPr/>
        </p:nvSpPr>
        <p:spPr>
          <a:xfrm>
            <a:off x="698103" y="3214688"/>
            <a:ext cx="3273822"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Time series analysis (ARIMA, Exponential Smoothing) and Regression models are common.</a:t>
            </a:r>
            <a:endParaRPr lang="en-US" sz="1542" dirty="0"/>
          </a:p>
        </p:txBody>
      </p:sp>
      <p:sp>
        <p:nvSpPr>
          <p:cNvPr id="5" name="Text 3"/>
          <p:cNvSpPr/>
          <p:nvPr/>
        </p:nvSpPr>
        <p:spPr>
          <a:xfrm>
            <a:off x="698103" y="4351734"/>
            <a:ext cx="3273822" cy="1276747"/>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Neural Networks (LSTM, CNN) are also used. LSTM-based models achieve 15-20% better accuracy than ARIMA.</a:t>
            </a:r>
            <a:endParaRPr lang="en-US" sz="1542" dirty="0"/>
          </a:p>
        </p:txBody>
      </p:sp>
      <p:sp>
        <p:nvSpPr>
          <p:cNvPr id="6" name="Text 4"/>
          <p:cNvSpPr/>
          <p:nvPr/>
        </p:nvSpPr>
        <p:spPr>
          <a:xfrm>
            <a:off x="4464844" y="2721967"/>
            <a:ext cx="3273822" cy="586582"/>
          </a:xfrm>
          <a:prstGeom prst="rect">
            <a:avLst/>
          </a:prstGeom>
          <a:noFill/>
          <a:ln/>
        </p:spPr>
        <p:txBody>
          <a:bodyPr wrap="squar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Energy Consumption Optimization</a:t>
            </a:r>
            <a:endParaRPr lang="en-US" sz="1833" dirty="0"/>
          </a:p>
        </p:txBody>
      </p:sp>
      <p:sp>
        <p:nvSpPr>
          <p:cNvPr id="7" name="Text 5"/>
          <p:cNvSpPr/>
          <p:nvPr/>
        </p:nvSpPr>
        <p:spPr>
          <a:xfrm>
            <a:off x="4464844" y="3507979"/>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Reinforcement Learning (Q-learning, Deep Q-Networks) can be used.</a:t>
            </a:r>
            <a:endParaRPr lang="en-US" sz="1542" dirty="0"/>
          </a:p>
        </p:txBody>
      </p:sp>
      <p:sp>
        <p:nvSpPr>
          <p:cNvPr id="8" name="Text 6"/>
          <p:cNvSpPr/>
          <p:nvPr/>
        </p:nvSpPr>
        <p:spPr>
          <a:xfrm>
            <a:off x="4464844" y="4325838"/>
            <a:ext cx="3273822" cy="957560"/>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RL-based EMS reduced energy consumption by 12% in a commercial building.</a:t>
            </a:r>
            <a:endParaRPr lang="en-US" sz="1542" dirty="0"/>
          </a:p>
        </p:txBody>
      </p:sp>
      <p:sp>
        <p:nvSpPr>
          <p:cNvPr id="9" name="Text 7"/>
          <p:cNvSpPr/>
          <p:nvPr/>
        </p:nvSpPr>
        <p:spPr>
          <a:xfrm>
            <a:off x="8231584" y="2721967"/>
            <a:ext cx="3273822" cy="586582"/>
          </a:xfrm>
          <a:prstGeom prst="rect">
            <a:avLst/>
          </a:prstGeom>
          <a:noFill/>
          <a:ln/>
        </p:spPr>
        <p:txBody>
          <a:bodyPr wrap="squar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Fault Detection and Diagnosis</a:t>
            </a:r>
            <a:endParaRPr lang="en-US" sz="1833" dirty="0"/>
          </a:p>
        </p:txBody>
      </p:sp>
      <p:sp>
        <p:nvSpPr>
          <p:cNvPr id="10" name="Text 8"/>
          <p:cNvSpPr/>
          <p:nvPr/>
        </p:nvSpPr>
        <p:spPr>
          <a:xfrm>
            <a:off x="8231584" y="3507979"/>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Supervised and Unsupervised learning are applicable.</a:t>
            </a:r>
            <a:endParaRPr lang="en-US" sz="1542" dirty="0"/>
          </a:p>
        </p:txBody>
      </p:sp>
      <p:sp>
        <p:nvSpPr>
          <p:cNvPr id="11" name="Text 9"/>
          <p:cNvSpPr/>
          <p:nvPr/>
        </p:nvSpPr>
        <p:spPr>
          <a:xfrm>
            <a:off x="8231584" y="4325839"/>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SVM-based fault detection in HVAC systems achieves 95% accuracy.</a:t>
            </a:r>
            <a:endParaRPr lang="en-US" sz="1542" dirty="0"/>
          </a:p>
        </p:txBody>
      </p:sp>
    </p:spTree>
    <p:extLst>
      <p:ext uri="{BB962C8B-B14F-4D97-AF65-F5344CB8AC3E}">
        <p14:creationId xmlns:p14="http://schemas.microsoft.com/office/powerpoint/2010/main" val="765419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2280146"/>
          </a:xfrm>
          <a:prstGeom prst="rect">
            <a:avLst/>
          </a:prstGeom>
        </p:spPr>
      </p:pic>
      <p:sp>
        <p:nvSpPr>
          <p:cNvPr id="3" name="Text 0"/>
          <p:cNvSpPr/>
          <p:nvPr/>
        </p:nvSpPr>
        <p:spPr>
          <a:xfrm>
            <a:off x="638374" y="2892624"/>
            <a:ext cx="7377013" cy="536476"/>
          </a:xfrm>
          <a:prstGeom prst="rect">
            <a:avLst/>
          </a:prstGeom>
          <a:noFill/>
          <a:ln/>
        </p:spPr>
        <p:txBody>
          <a:bodyPr wrap="none" lIns="0" tIns="0" rIns="0" bIns="0" rtlCol="0" anchor="t"/>
          <a:lstStyle/>
          <a:p>
            <a:pPr>
              <a:lnSpc>
                <a:spcPts val="4208"/>
              </a:lnSpc>
            </a:pPr>
            <a:r>
              <a:rPr lang="en-US" sz="3375" b="1" dirty="0">
                <a:solidFill>
                  <a:srgbClr val="FFFFFF"/>
                </a:solidFill>
                <a:latin typeface="Syne Bold" pitchFamily="34" charset="0"/>
                <a:ea typeface="Syne Bold" pitchFamily="34" charset="-122"/>
                <a:cs typeface="Syne Bold" pitchFamily="34" charset="-120"/>
              </a:rPr>
              <a:t>Research Gaps and Challenges</a:t>
            </a:r>
            <a:endParaRPr lang="en-US" sz="3375" dirty="0"/>
          </a:p>
        </p:txBody>
      </p:sp>
      <p:sp>
        <p:nvSpPr>
          <p:cNvPr id="4" name="Shape 1"/>
          <p:cNvSpPr/>
          <p:nvPr/>
        </p:nvSpPr>
        <p:spPr>
          <a:xfrm>
            <a:off x="638374" y="3702645"/>
            <a:ext cx="5366444" cy="1326158"/>
          </a:xfrm>
          <a:prstGeom prst="roundRect">
            <a:avLst>
              <a:gd name="adj" fmla="val 2063"/>
            </a:avLst>
          </a:prstGeom>
          <a:solidFill>
            <a:srgbClr val="2B2952"/>
          </a:solidFill>
          <a:ln/>
        </p:spPr>
      </p:sp>
      <p:sp>
        <p:nvSpPr>
          <p:cNvPr id="5" name="Text 2"/>
          <p:cNvSpPr/>
          <p:nvPr/>
        </p:nvSpPr>
        <p:spPr>
          <a:xfrm>
            <a:off x="820737" y="3885009"/>
            <a:ext cx="3331667" cy="268188"/>
          </a:xfrm>
          <a:prstGeom prst="rect">
            <a:avLst/>
          </a:prstGeom>
          <a:noFill/>
          <a:ln/>
        </p:spPr>
        <p:txBody>
          <a:bodyPr wrap="non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Data Availability and Quality</a:t>
            </a:r>
            <a:endParaRPr lang="en-US" sz="1667" dirty="0"/>
          </a:p>
        </p:txBody>
      </p:sp>
      <p:sp>
        <p:nvSpPr>
          <p:cNvPr id="6" name="Text 3"/>
          <p:cNvSpPr/>
          <p:nvPr/>
        </p:nvSpPr>
        <p:spPr>
          <a:xfrm>
            <a:off x="820737" y="4262636"/>
            <a:ext cx="5001717" cy="583803"/>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Limited access to high-quality, labeled energy data. Development of synthetic data using GANs.</a:t>
            </a:r>
            <a:endParaRPr lang="en-US" sz="1417" dirty="0"/>
          </a:p>
        </p:txBody>
      </p:sp>
      <p:sp>
        <p:nvSpPr>
          <p:cNvPr id="7" name="Shape 4"/>
          <p:cNvSpPr/>
          <p:nvPr/>
        </p:nvSpPr>
        <p:spPr>
          <a:xfrm>
            <a:off x="6187182" y="3702645"/>
            <a:ext cx="5366444" cy="1326158"/>
          </a:xfrm>
          <a:prstGeom prst="roundRect">
            <a:avLst>
              <a:gd name="adj" fmla="val 2063"/>
            </a:avLst>
          </a:prstGeom>
          <a:solidFill>
            <a:srgbClr val="2B2952"/>
          </a:solidFill>
          <a:ln/>
        </p:spPr>
      </p:sp>
      <p:sp>
        <p:nvSpPr>
          <p:cNvPr id="8" name="Text 5"/>
          <p:cNvSpPr/>
          <p:nvPr/>
        </p:nvSpPr>
        <p:spPr>
          <a:xfrm>
            <a:off x="6369546" y="3885009"/>
            <a:ext cx="4588669" cy="268188"/>
          </a:xfrm>
          <a:prstGeom prst="rect">
            <a:avLst/>
          </a:prstGeom>
          <a:noFill/>
          <a:ln/>
        </p:spPr>
        <p:txBody>
          <a:bodyPr wrap="non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Scalability and Real-time Performance</a:t>
            </a:r>
            <a:endParaRPr lang="en-US" sz="1667" dirty="0"/>
          </a:p>
        </p:txBody>
      </p:sp>
      <p:sp>
        <p:nvSpPr>
          <p:cNvPr id="9" name="Text 6"/>
          <p:cNvSpPr/>
          <p:nvPr/>
        </p:nvSpPr>
        <p:spPr>
          <a:xfrm>
            <a:off x="6369546" y="4262636"/>
            <a:ext cx="5001717" cy="583803"/>
          </a:xfrm>
          <a:prstGeom prst="rect">
            <a:avLst/>
          </a:prstGeom>
          <a:noFill/>
          <a:ln/>
        </p:spPr>
        <p:txBody>
          <a:bodyPr wrap="squar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Deploying ML models on edge devices is challenging. Use of model compression and edge computing platforms.</a:t>
            </a:r>
            <a:endParaRPr lang="en-US" sz="1417" dirty="0"/>
          </a:p>
        </p:txBody>
      </p:sp>
      <p:sp>
        <p:nvSpPr>
          <p:cNvPr id="10" name="Shape 7"/>
          <p:cNvSpPr/>
          <p:nvPr/>
        </p:nvSpPr>
        <p:spPr>
          <a:xfrm>
            <a:off x="638374" y="5211167"/>
            <a:ext cx="10915253" cy="1034257"/>
          </a:xfrm>
          <a:prstGeom prst="roundRect">
            <a:avLst>
              <a:gd name="adj" fmla="val 2646"/>
            </a:avLst>
          </a:prstGeom>
          <a:solidFill>
            <a:srgbClr val="2B2952"/>
          </a:solidFill>
          <a:ln/>
        </p:spPr>
      </p:sp>
      <p:sp>
        <p:nvSpPr>
          <p:cNvPr id="11" name="Text 8"/>
          <p:cNvSpPr/>
          <p:nvPr/>
        </p:nvSpPr>
        <p:spPr>
          <a:xfrm>
            <a:off x="820738" y="5393531"/>
            <a:ext cx="3359944" cy="268188"/>
          </a:xfrm>
          <a:prstGeom prst="rect">
            <a:avLst/>
          </a:prstGeom>
          <a:noFill/>
          <a:ln/>
        </p:spPr>
        <p:txBody>
          <a:bodyPr wrap="none" lIns="0" tIns="0" rIns="0" bIns="0" rtlCol="0" anchor="t"/>
          <a:lstStyle/>
          <a:p>
            <a:pPr>
              <a:lnSpc>
                <a:spcPts val="2083"/>
              </a:lnSpc>
            </a:pPr>
            <a:r>
              <a:rPr lang="en-US" sz="1667" b="1" dirty="0">
                <a:solidFill>
                  <a:srgbClr val="D9E1FF"/>
                </a:solidFill>
                <a:latin typeface="Syne Bold" pitchFamily="34" charset="0"/>
                <a:ea typeface="Syne Bold" pitchFamily="34" charset="-122"/>
                <a:cs typeface="Syne Bold" pitchFamily="34" charset="-120"/>
              </a:rPr>
              <a:t>Cybersecurity Vulnerabilities</a:t>
            </a:r>
            <a:endParaRPr lang="en-US" sz="1667" dirty="0"/>
          </a:p>
        </p:txBody>
      </p:sp>
      <p:sp>
        <p:nvSpPr>
          <p:cNvPr id="12" name="Text 9"/>
          <p:cNvSpPr/>
          <p:nvPr/>
        </p:nvSpPr>
        <p:spPr>
          <a:xfrm>
            <a:off x="820738" y="5771157"/>
            <a:ext cx="10550525" cy="291902"/>
          </a:xfrm>
          <a:prstGeom prst="rect">
            <a:avLst/>
          </a:prstGeom>
          <a:noFill/>
          <a:ln/>
        </p:spPr>
        <p:txBody>
          <a:bodyPr wrap="none" lIns="0" tIns="0" rIns="0" bIns="0" rtlCol="0" anchor="t"/>
          <a:lstStyle/>
          <a:p>
            <a:pPr>
              <a:lnSpc>
                <a:spcPts val="2292"/>
              </a:lnSpc>
            </a:pPr>
            <a:r>
              <a:rPr lang="en-US" sz="1417" dirty="0">
                <a:solidFill>
                  <a:srgbClr val="D9E1FF"/>
                </a:solidFill>
                <a:latin typeface="Arimo" pitchFamily="34" charset="0"/>
                <a:ea typeface="Arimo" pitchFamily="34" charset="-122"/>
                <a:cs typeface="Arimo" pitchFamily="34" charset="-120"/>
              </a:rPr>
              <a:t>ML-based EMS are susceptible to adversarial attacks. Implementation of adversarial training.</a:t>
            </a:r>
            <a:endParaRPr lang="en-US" sz="1417" dirty="0"/>
          </a:p>
        </p:txBody>
      </p:sp>
    </p:spTree>
    <p:extLst>
      <p:ext uri="{BB962C8B-B14F-4D97-AF65-F5344CB8AC3E}">
        <p14:creationId xmlns:p14="http://schemas.microsoft.com/office/powerpoint/2010/main" val="196263863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4" y="1401168"/>
            <a:ext cx="7539931"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Results and Future Directions</a:t>
            </a:r>
            <a:endParaRPr lang="en-US" sz="3667" dirty="0"/>
          </a:p>
        </p:txBody>
      </p:sp>
      <p:sp>
        <p:nvSpPr>
          <p:cNvPr id="3" name="Shape 1"/>
          <p:cNvSpPr/>
          <p:nvPr/>
        </p:nvSpPr>
        <p:spPr>
          <a:xfrm>
            <a:off x="698103" y="2611140"/>
            <a:ext cx="448767" cy="448767"/>
          </a:xfrm>
          <a:prstGeom prst="roundRect">
            <a:avLst>
              <a:gd name="adj" fmla="val 6668"/>
            </a:avLst>
          </a:prstGeom>
          <a:solidFill>
            <a:srgbClr val="2B2952"/>
          </a:solidFill>
          <a:ln/>
        </p:spPr>
      </p:sp>
      <p:sp>
        <p:nvSpPr>
          <p:cNvPr id="4" name="Text 2"/>
          <p:cNvSpPr/>
          <p:nvPr/>
        </p:nvSpPr>
        <p:spPr>
          <a:xfrm>
            <a:off x="1346300" y="2611140"/>
            <a:ext cx="2346821"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Key Findings</a:t>
            </a:r>
            <a:endParaRPr lang="en-US" sz="1833" dirty="0"/>
          </a:p>
        </p:txBody>
      </p:sp>
      <p:sp>
        <p:nvSpPr>
          <p:cNvPr id="5" name="Text 3"/>
          <p:cNvSpPr/>
          <p:nvPr/>
        </p:nvSpPr>
        <p:spPr>
          <a:xfrm>
            <a:off x="1346300" y="3024088"/>
            <a:ext cx="2817416" cy="1276747"/>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ML improves EMS performance. Major gaps exist in data, interpretability, scalability, and security.</a:t>
            </a:r>
            <a:endParaRPr lang="en-US" sz="1542" dirty="0"/>
          </a:p>
        </p:txBody>
      </p:sp>
      <p:sp>
        <p:nvSpPr>
          <p:cNvPr id="6" name="Shape 4"/>
          <p:cNvSpPr/>
          <p:nvPr/>
        </p:nvSpPr>
        <p:spPr>
          <a:xfrm>
            <a:off x="4363144" y="2611140"/>
            <a:ext cx="448767" cy="448767"/>
          </a:xfrm>
          <a:prstGeom prst="roundRect">
            <a:avLst>
              <a:gd name="adj" fmla="val 6668"/>
            </a:avLst>
          </a:prstGeom>
          <a:solidFill>
            <a:srgbClr val="2B2952"/>
          </a:solidFill>
          <a:ln/>
        </p:spPr>
      </p:sp>
      <p:sp>
        <p:nvSpPr>
          <p:cNvPr id="7" name="Text 5"/>
          <p:cNvSpPr/>
          <p:nvPr/>
        </p:nvSpPr>
        <p:spPr>
          <a:xfrm>
            <a:off x="5011341" y="2611140"/>
            <a:ext cx="2535138"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Federated Learning</a:t>
            </a:r>
            <a:endParaRPr lang="en-US" sz="1833" dirty="0"/>
          </a:p>
        </p:txBody>
      </p:sp>
      <p:sp>
        <p:nvSpPr>
          <p:cNvPr id="8" name="Text 6"/>
          <p:cNvSpPr/>
          <p:nvPr/>
        </p:nvSpPr>
        <p:spPr>
          <a:xfrm>
            <a:off x="5011341" y="3024089"/>
            <a:ext cx="2817416"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Collaborative model training without data sharing.</a:t>
            </a:r>
            <a:endParaRPr lang="en-US" sz="1542" dirty="0"/>
          </a:p>
        </p:txBody>
      </p:sp>
      <p:sp>
        <p:nvSpPr>
          <p:cNvPr id="9" name="Shape 7"/>
          <p:cNvSpPr/>
          <p:nvPr/>
        </p:nvSpPr>
        <p:spPr>
          <a:xfrm>
            <a:off x="8028186" y="2611140"/>
            <a:ext cx="448767" cy="448767"/>
          </a:xfrm>
          <a:prstGeom prst="roundRect">
            <a:avLst>
              <a:gd name="adj" fmla="val 6668"/>
            </a:avLst>
          </a:prstGeom>
          <a:solidFill>
            <a:srgbClr val="2B2952"/>
          </a:solidFill>
          <a:ln/>
        </p:spPr>
      </p:sp>
      <p:sp>
        <p:nvSpPr>
          <p:cNvPr id="10" name="Text 8"/>
          <p:cNvSpPr/>
          <p:nvPr/>
        </p:nvSpPr>
        <p:spPr>
          <a:xfrm>
            <a:off x="8676382" y="2611140"/>
            <a:ext cx="2346821"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Transfer Learning</a:t>
            </a:r>
            <a:endParaRPr lang="en-US" sz="1833" dirty="0"/>
          </a:p>
        </p:txBody>
      </p:sp>
      <p:sp>
        <p:nvSpPr>
          <p:cNvPr id="11" name="Text 9"/>
          <p:cNvSpPr/>
          <p:nvPr/>
        </p:nvSpPr>
        <p:spPr>
          <a:xfrm>
            <a:off x="8676382" y="3024089"/>
            <a:ext cx="2817416"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Adapting pre-trained models to new EMS applications.</a:t>
            </a:r>
            <a:endParaRPr lang="en-US" sz="1542" dirty="0"/>
          </a:p>
        </p:txBody>
      </p:sp>
      <p:sp>
        <p:nvSpPr>
          <p:cNvPr id="12" name="Shape 10"/>
          <p:cNvSpPr/>
          <p:nvPr/>
        </p:nvSpPr>
        <p:spPr>
          <a:xfrm>
            <a:off x="698103" y="4724598"/>
            <a:ext cx="448767" cy="448767"/>
          </a:xfrm>
          <a:prstGeom prst="roundRect">
            <a:avLst>
              <a:gd name="adj" fmla="val 6668"/>
            </a:avLst>
          </a:prstGeom>
          <a:solidFill>
            <a:srgbClr val="2B2952"/>
          </a:solidFill>
          <a:ln/>
        </p:spPr>
      </p:sp>
      <p:sp>
        <p:nvSpPr>
          <p:cNvPr id="13" name="Text 11"/>
          <p:cNvSpPr/>
          <p:nvPr/>
        </p:nvSpPr>
        <p:spPr>
          <a:xfrm>
            <a:off x="1346299" y="4724599"/>
            <a:ext cx="2770088"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Physics-Informed ML</a:t>
            </a:r>
            <a:endParaRPr lang="en-US" sz="1833" dirty="0"/>
          </a:p>
        </p:txBody>
      </p:sp>
      <p:sp>
        <p:nvSpPr>
          <p:cNvPr id="14" name="Text 12"/>
          <p:cNvSpPr/>
          <p:nvPr/>
        </p:nvSpPr>
        <p:spPr>
          <a:xfrm>
            <a:off x="1346300" y="5137547"/>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Integrating domain knowledge into ML models.</a:t>
            </a:r>
            <a:endParaRPr lang="en-US" sz="1542" dirty="0"/>
          </a:p>
        </p:txBody>
      </p:sp>
      <p:sp>
        <p:nvSpPr>
          <p:cNvPr id="15" name="Shape 13"/>
          <p:cNvSpPr/>
          <p:nvPr/>
        </p:nvSpPr>
        <p:spPr>
          <a:xfrm>
            <a:off x="6195715" y="4724598"/>
            <a:ext cx="448767" cy="448767"/>
          </a:xfrm>
          <a:prstGeom prst="roundRect">
            <a:avLst>
              <a:gd name="adj" fmla="val 6668"/>
            </a:avLst>
          </a:prstGeom>
          <a:solidFill>
            <a:srgbClr val="2B2952"/>
          </a:solidFill>
          <a:ln/>
        </p:spPr>
      </p:sp>
      <p:sp>
        <p:nvSpPr>
          <p:cNvPr id="16" name="Text 14"/>
          <p:cNvSpPr/>
          <p:nvPr/>
        </p:nvSpPr>
        <p:spPr>
          <a:xfrm>
            <a:off x="6843911" y="4724599"/>
            <a:ext cx="2923083"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Robust and Secure ML</a:t>
            </a:r>
            <a:endParaRPr lang="en-US" sz="1833" dirty="0"/>
          </a:p>
        </p:txBody>
      </p:sp>
      <p:sp>
        <p:nvSpPr>
          <p:cNvPr id="17" name="Text 15"/>
          <p:cNvSpPr/>
          <p:nvPr/>
        </p:nvSpPr>
        <p:spPr>
          <a:xfrm>
            <a:off x="6843911" y="5137547"/>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Reliable EMS operation in the presence of attacks.</a:t>
            </a:r>
            <a:endParaRPr lang="en-US" sz="1542" dirty="0"/>
          </a:p>
        </p:txBody>
      </p:sp>
    </p:spTree>
    <p:extLst>
      <p:ext uri="{BB962C8B-B14F-4D97-AF65-F5344CB8AC3E}">
        <p14:creationId xmlns:p14="http://schemas.microsoft.com/office/powerpoint/2010/main" val="17958709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986735" y="1019500"/>
            <a:ext cx="5218410" cy="586681"/>
          </a:xfrm>
          <a:prstGeom prst="rect">
            <a:avLst/>
          </a:prstGeom>
          <a:noFill/>
          <a:ln/>
        </p:spPr>
        <p:txBody>
          <a:bodyPr wrap="none" lIns="0" tIns="0" rIns="0" bIns="0" rtlCol="0" anchor="t"/>
          <a:lstStyle/>
          <a:p>
            <a:pPr>
              <a:lnSpc>
                <a:spcPts val="4583"/>
              </a:lnSpc>
            </a:pPr>
            <a:r>
              <a:rPr lang="en-US" sz="3667" b="1" kern="0" spc="-111" dirty="0">
                <a:solidFill>
                  <a:srgbClr val="FFFFFF"/>
                </a:solidFill>
                <a:latin typeface="Overpass Bold" pitchFamily="34" charset="0"/>
                <a:ea typeface="Overpass Bold" pitchFamily="34" charset="-122"/>
              </a:rPr>
              <a:t>Literature Paper </a:t>
            </a:r>
            <a:r>
              <a:rPr lang="en-US" sz="3667" b="1" kern="0" spc="-111" dirty="0" smtClean="0">
                <a:solidFill>
                  <a:srgbClr val="FFFFFF"/>
                </a:solidFill>
                <a:latin typeface="Overpass Bold" pitchFamily="34" charset="0"/>
                <a:ea typeface="Overpass Bold" pitchFamily="34" charset="-122"/>
              </a:rPr>
              <a:t>6</a:t>
            </a:r>
            <a:endParaRPr lang="en-US" sz="3667" dirty="0"/>
          </a:p>
        </p:txBody>
      </p:sp>
      <p:sp>
        <p:nvSpPr>
          <p:cNvPr id="3" name="Text 1"/>
          <p:cNvSpPr/>
          <p:nvPr/>
        </p:nvSpPr>
        <p:spPr>
          <a:xfrm>
            <a:off x="698104" y="2069307"/>
            <a:ext cx="10795793" cy="319187"/>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Paper Name:  </a:t>
            </a:r>
            <a:r>
              <a:rPr lang="en-US" sz="1600" dirty="0">
                <a:solidFill>
                  <a:schemeClr val="bg1"/>
                </a:solidFill>
              </a:rPr>
              <a:t>Energy prediction and optimization based on machine learning </a:t>
            </a:r>
            <a:endParaRPr lang="en-US" sz="1542" dirty="0">
              <a:solidFill>
                <a:schemeClr val="bg1"/>
              </a:solidFill>
            </a:endParaRPr>
          </a:p>
        </p:txBody>
      </p:sp>
      <p:sp>
        <p:nvSpPr>
          <p:cNvPr id="4" name="Text 2"/>
          <p:cNvSpPr/>
          <p:nvPr/>
        </p:nvSpPr>
        <p:spPr>
          <a:xfrm>
            <a:off x="698104" y="2612826"/>
            <a:ext cx="10795793" cy="633956"/>
          </a:xfrm>
          <a:prstGeom prst="rect">
            <a:avLst/>
          </a:prstGeom>
          <a:noFill/>
          <a:ln/>
        </p:spPr>
        <p:txBody>
          <a:bodyPr wrap="none" lIns="0" tIns="0" rIns="0" bIns="0" rtlCol="0" anchor="t"/>
          <a:lstStyle/>
          <a:p>
            <a:pPr>
              <a:lnSpc>
                <a:spcPts val="2500"/>
              </a:lnSpc>
            </a:pPr>
            <a:r>
              <a:rPr lang="en-US" sz="1542" b="1" dirty="0">
                <a:solidFill>
                  <a:schemeClr val="bg1"/>
                </a:solidFill>
                <a:latin typeface="Overpass" pitchFamily="34" charset="0"/>
                <a:ea typeface="Overpass" pitchFamily="34" charset="-122"/>
                <a:cs typeface="Overpass" pitchFamily="34" charset="-120"/>
              </a:rPr>
              <a:t>Author(s):  </a:t>
            </a:r>
            <a:r>
              <a:rPr lang="en-US" sz="1542" b="1" dirty="0" smtClean="0">
                <a:solidFill>
                  <a:schemeClr val="bg1"/>
                </a:solidFill>
                <a:latin typeface="Overpass" pitchFamily="34" charset="0"/>
                <a:ea typeface="Overpass" pitchFamily="34" charset="-122"/>
                <a:cs typeface="Overpass" pitchFamily="34" charset="-120"/>
              </a:rPr>
              <a:t> </a:t>
            </a:r>
            <a:r>
              <a:rPr lang="en-US" sz="1600" dirty="0" smtClean="0">
                <a:solidFill>
                  <a:schemeClr val="bg1"/>
                </a:solidFill>
              </a:rPr>
              <a:t>Thamarai kannan T, Thulasiraman</a:t>
            </a:r>
            <a:r>
              <a:rPr lang="en-US" sz="1600" dirty="0">
                <a:solidFill>
                  <a:schemeClr val="bg1"/>
                </a:solidFill>
              </a:rPr>
              <a:t>,</a:t>
            </a:r>
            <a:r>
              <a:rPr lang="en-US" sz="1600" dirty="0" smtClean="0">
                <a:solidFill>
                  <a:schemeClr val="bg1"/>
                </a:solidFill>
              </a:rPr>
              <a:t> </a:t>
            </a:r>
            <a:r>
              <a:rPr lang="en-US" sz="1600" dirty="0">
                <a:solidFill>
                  <a:schemeClr val="bg1"/>
                </a:solidFill>
              </a:rPr>
              <a:t>Jayanthy </a:t>
            </a:r>
            <a:r>
              <a:rPr lang="en-US" sz="1600" dirty="0" smtClean="0">
                <a:solidFill>
                  <a:schemeClr val="bg1"/>
                </a:solidFill>
              </a:rPr>
              <a:t>Soundrarajan, </a:t>
            </a:r>
            <a:r>
              <a:rPr lang="en-US" sz="1600" dirty="0">
                <a:solidFill>
                  <a:schemeClr val="bg1"/>
                </a:solidFill>
              </a:rPr>
              <a:t>Judeson Antony Kovilpillai J.</a:t>
            </a:r>
            <a:endParaRPr lang="en-US" sz="1542" dirty="0">
              <a:solidFill>
                <a:schemeClr val="bg1"/>
              </a:solidFill>
            </a:endParaRPr>
          </a:p>
        </p:txBody>
      </p:sp>
      <p:sp>
        <p:nvSpPr>
          <p:cNvPr id="5" name="Text 3"/>
          <p:cNvSpPr/>
          <p:nvPr/>
        </p:nvSpPr>
        <p:spPr>
          <a:xfrm>
            <a:off x="698104" y="3246782"/>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Year:</a:t>
            </a:r>
            <a:r>
              <a:rPr lang="en-US" sz="1542" dirty="0">
                <a:solidFill>
                  <a:srgbClr val="E5E0DF"/>
                </a:solidFill>
                <a:latin typeface="Overpass" pitchFamily="34" charset="0"/>
                <a:ea typeface="Overpass" pitchFamily="34" charset="-122"/>
                <a:cs typeface="Overpass" pitchFamily="34" charset="-120"/>
              </a:rPr>
              <a:t>  </a:t>
            </a:r>
            <a:r>
              <a:rPr lang="en-US" sz="1542" dirty="0" smtClean="0">
                <a:solidFill>
                  <a:srgbClr val="E5E0DF"/>
                </a:solidFill>
                <a:latin typeface="Overpass" pitchFamily="34" charset="0"/>
                <a:ea typeface="Overpass" pitchFamily="34" charset="-122"/>
                <a:cs typeface="Overpass" pitchFamily="34" charset="-120"/>
              </a:rPr>
              <a:t>2023</a:t>
            </a:r>
            <a:endParaRPr lang="en-US" sz="1542" dirty="0"/>
          </a:p>
        </p:txBody>
      </p:sp>
      <p:sp>
        <p:nvSpPr>
          <p:cNvPr id="6" name="Text 4"/>
          <p:cNvSpPr/>
          <p:nvPr/>
        </p:nvSpPr>
        <p:spPr>
          <a:xfrm>
            <a:off x="698104" y="3699867"/>
            <a:ext cx="10795793" cy="319187"/>
          </a:xfrm>
          <a:prstGeom prst="rect">
            <a:avLst/>
          </a:prstGeom>
          <a:noFill/>
          <a:ln/>
        </p:spPr>
        <p:txBody>
          <a:bodyPr wrap="non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Journal:</a:t>
            </a:r>
            <a:r>
              <a:rPr lang="en-US" sz="1542" dirty="0">
                <a:solidFill>
                  <a:srgbClr val="E5E0DF"/>
                </a:solidFill>
                <a:latin typeface="Overpass" pitchFamily="34" charset="0"/>
                <a:ea typeface="Overpass" pitchFamily="34" charset="-122"/>
                <a:cs typeface="Overpass" pitchFamily="34" charset="-120"/>
              </a:rPr>
              <a:t>  A</a:t>
            </a:r>
            <a:r>
              <a:rPr lang="en-US" sz="1542" dirty="0" smtClean="0">
                <a:solidFill>
                  <a:srgbClr val="E5E0DF"/>
                </a:solidFill>
                <a:latin typeface="Overpass" pitchFamily="34" charset="0"/>
                <a:ea typeface="Overpass" pitchFamily="34" charset="-122"/>
                <a:cs typeface="Overpass" pitchFamily="34" charset="-120"/>
              </a:rPr>
              <a:t>bstract Journal</a:t>
            </a:r>
            <a:endParaRPr lang="en-US" sz="1542" dirty="0"/>
          </a:p>
        </p:txBody>
      </p:sp>
      <p:sp>
        <p:nvSpPr>
          <p:cNvPr id="7" name="Text 5"/>
          <p:cNvSpPr/>
          <p:nvPr/>
        </p:nvSpPr>
        <p:spPr>
          <a:xfrm>
            <a:off x="698104" y="4243387"/>
            <a:ext cx="10795793" cy="1421037"/>
          </a:xfrm>
          <a:prstGeom prst="rect">
            <a:avLst/>
          </a:prstGeom>
          <a:noFill/>
          <a:ln/>
        </p:spPr>
        <p:txBody>
          <a:bodyPr wrap="square" lIns="0" tIns="0" rIns="0" bIns="0" rtlCol="0" anchor="t"/>
          <a:lstStyle/>
          <a:p>
            <a:pPr>
              <a:lnSpc>
                <a:spcPts val="2500"/>
              </a:lnSpc>
            </a:pPr>
            <a:r>
              <a:rPr lang="en-US" sz="1542" b="1" dirty="0">
                <a:solidFill>
                  <a:srgbClr val="E5E0DF"/>
                </a:solidFill>
                <a:latin typeface="Overpass" pitchFamily="34" charset="0"/>
                <a:ea typeface="Overpass" pitchFamily="34" charset="-122"/>
                <a:cs typeface="Overpass" pitchFamily="34" charset="-120"/>
              </a:rPr>
              <a:t>Summary</a:t>
            </a:r>
            <a:r>
              <a:rPr lang="en-US" sz="1542" b="1" dirty="0" smtClean="0">
                <a:solidFill>
                  <a:srgbClr val="E5E0DF"/>
                </a:solidFill>
                <a:latin typeface="Overpass" pitchFamily="34" charset="0"/>
                <a:ea typeface="Overpass" pitchFamily="34" charset="-122"/>
                <a:cs typeface="Overpass" pitchFamily="34" charset="-120"/>
              </a:rPr>
              <a:t>: </a:t>
            </a:r>
          </a:p>
          <a:p>
            <a:pPr>
              <a:lnSpc>
                <a:spcPts val="2500"/>
              </a:lnSpc>
            </a:pPr>
            <a:r>
              <a:rPr lang="en-US" sz="1600" dirty="0">
                <a:solidFill>
                  <a:srgbClr val="D9E1FF"/>
                </a:solidFill>
                <a:latin typeface="Arimo" pitchFamily="34" charset="0"/>
                <a:ea typeface="Arimo" pitchFamily="34" charset="-122"/>
                <a:cs typeface="Arimo" pitchFamily="34" charset="-120"/>
              </a:rPr>
              <a:t>Global energy demand is increasing. Machine learning can optimize energy use. This presentation highlights ML methodologies for energy prediction. We will explore research gaps and impactful results.</a:t>
            </a:r>
            <a:endParaRPr lang="en-US" sz="1600" dirty="0"/>
          </a:p>
          <a:p>
            <a:pPr>
              <a:lnSpc>
                <a:spcPts val="2500"/>
              </a:lnSpc>
            </a:pPr>
            <a:endParaRPr lang="en-US" sz="1542" dirty="0"/>
          </a:p>
        </p:txBody>
      </p:sp>
      <p:sp>
        <p:nvSpPr>
          <p:cNvPr id="10" name="Text 7"/>
          <p:cNvSpPr/>
          <p:nvPr/>
        </p:nvSpPr>
        <p:spPr>
          <a:xfrm>
            <a:off x="1116906" y="5425282"/>
            <a:ext cx="1320304" cy="349052"/>
          </a:xfrm>
          <a:prstGeom prst="rect">
            <a:avLst/>
          </a:prstGeom>
          <a:noFill/>
          <a:ln/>
        </p:spPr>
        <p:txBody>
          <a:bodyPr wrap="none" lIns="0" tIns="0" rIns="0" bIns="0" rtlCol="0" anchor="t"/>
          <a:lstStyle/>
          <a:p>
            <a:pPr>
              <a:lnSpc>
                <a:spcPts val="2708"/>
              </a:lnSpc>
            </a:pPr>
            <a:endParaRPr lang="en-US" sz="1958" dirty="0"/>
          </a:p>
        </p:txBody>
      </p:sp>
      <p:sp>
        <p:nvSpPr>
          <p:cNvPr id="11" name="Text 4"/>
          <p:cNvSpPr/>
          <p:nvPr/>
        </p:nvSpPr>
        <p:spPr>
          <a:xfrm>
            <a:off x="698104" y="5664424"/>
            <a:ext cx="10795793" cy="319187"/>
          </a:xfrm>
          <a:prstGeom prst="rect">
            <a:avLst/>
          </a:prstGeom>
          <a:noFill/>
          <a:ln/>
        </p:spPr>
        <p:txBody>
          <a:bodyPr wrap="none" lIns="0" tIns="0" rIns="0" bIns="0" rtlCol="0" anchor="t"/>
          <a:lstStyle/>
          <a:p>
            <a:pPr>
              <a:lnSpc>
                <a:spcPts val="2500"/>
              </a:lnSpc>
            </a:pPr>
            <a:r>
              <a:rPr lang="en-US" sz="1542" b="1" dirty="0" smtClean="0">
                <a:solidFill>
                  <a:srgbClr val="E5E0DF"/>
                </a:solidFill>
                <a:latin typeface="Overpass" pitchFamily="34" charset="0"/>
                <a:ea typeface="Overpass" pitchFamily="34" charset="-122"/>
                <a:cs typeface="Overpass" pitchFamily="34" charset="-120"/>
              </a:rPr>
              <a:t>Presented by: Soni Aayush</a:t>
            </a:r>
            <a:endParaRPr lang="en-US" sz="1542" dirty="0"/>
          </a:p>
        </p:txBody>
      </p:sp>
    </p:spTree>
    <p:extLst>
      <p:ext uri="{BB962C8B-B14F-4D97-AF65-F5344CB8AC3E}">
        <p14:creationId xmlns:p14="http://schemas.microsoft.com/office/powerpoint/2010/main" val="3359800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98103" y="1737420"/>
            <a:ext cx="10334625"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ML Methodologies for Energy Prediction</a:t>
            </a:r>
            <a:endParaRPr lang="en-US" sz="3667" dirty="0"/>
          </a:p>
        </p:txBody>
      </p:sp>
      <p:sp>
        <p:nvSpPr>
          <p:cNvPr id="3" name="Text 1"/>
          <p:cNvSpPr/>
          <p:nvPr/>
        </p:nvSpPr>
        <p:spPr>
          <a:xfrm>
            <a:off x="698104" y="2822675"/>
            <a:ext cx="2426693"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Regression Models</a:t>
            </a:r>
            <a:endParaRPr lang="en-US" sz="1833" dirty="0"/>
          </a:p>
        </p:txBody>
      </p:sp>
      <p:sp>
        <p:nvSpPr>
          <p:cNvPr id="4" name="Text 2"/>
          <p:cNvSpPr/>
          <p:nvPr/>
        </p:nvSpPr>
        <p:spPr>
          <a:xfrm>
            <a:off x="698103" y="3315394"/>
            <a:ext cx="3273822" cy="638373"/>
          </a:xfrm>
          <a:prstGeom prst="rect">
            <a:avLst/>
          </a:prstGeom>
          <a:noFill/>
          <a:ln/>
        </p:spPr>
        <p:txBody>
          <a:bodyPr wrap="square" lIns="0" tIns="0" rIns="0" bIns="0" rtlCol="0" anchor="t"/>
          <a:lstStyle/>
          <a:p>
            <a:pPr marL="285739" indent="-285739">
              <a:lnSpc>
                <a:spcPts val="2500"/>
              </a:lnSpc>
              <a:buSzPct val="100000"/>
              <a:buChar char="•"/>
            </a:pPr>
            <a:r>
              <a:rPr lang="en-US" sz="1542" dirty="0">
                <a:solidFill>
                  <a:srgbClr val="D9E1FF"/>
                </a:solidFill>
                <a:latin typeface="Arimo" pitchFamily="34" charset="0"/>
                <a:ea typeface="Arimo" pitchFamily="34" charset="-122"/>
                <a:cs typeface="Arimo" pitchFamily="34" charset="-120"/>
              </a:rPr>
              <a:t>Linear Regression: Quick insights.</a:t>
            </a:r>
            <a:endParaRPr lang="en-US" sz="1542" dirty="0"/>
          </a:p>
        </p:txBody>
      </p:sp>
      <p:sp>
        <p:nvSpPr>
          <p:cNvPr id="5" name="Text 3"/>
          <p:cNvSpPr/>
          <p:nvPr/>
        </p:nvSpPr>
        <p:spPr>
          <a:xfrm>
            <a:off x="698103" y="4023519"/>
            <a:ext cx="3273822" cy="638373"/>
          </a:xfrm>
          <a:prstGeom prst="rect">
            <a:avLst/>
          </a:prstGeom>
          <a:noFill/>
          <a:ln/>
        </p:spPr>
        <p:txBody>
          <a:bodyPr wrap="square" lIns="0" tIns="0" rIns="0" bIns="0" rtlCol="0" anchor="t"/>
          <a:lstStyle/>
          <a:p>
            <a:pPr marL="285739" indent="-285739">
              <a:lnSpc>
                <a:spcPts val="2500"/>
              </a:lnSpc>
              <a:buSzPct val="100000"/>
              <a:buChar char="•"/>
            </a:pPr>
            <a:r>
              <a:rPr lang="en-US" sz="1542" dirty="0">
                <a:solidFill>
                  <a:srgbClr val="D9E1FF"/>
                </a:solidFill>
                <a:latin typeface="Arimo" pitchFamily="34" charset="0"/>
                <a:ea typeface="Arimo" pitchFamily="34" charset="-122"/>
                <a:cs typeface="Arimo" pitchFamily="34" charset="-120"/>
              </a:rPr>
              <a:t>Support Vector Regression (SVR): Handles non-linear data.</a:t>
            </a:r>
            <a:endParaRPr lang="en-US" sz="1542" dirty="0"/>
          </a:p>
        </p:txBody>
      </p:sp>
      <p:sp>
        <p:nvSpPr>
          <p:cNvPr id="6" name="Text 4"/>
          <p:cNvSpPr/>
          <p:nvPr/>
        </p:nvSpPr>
        <p:spPr>
          <a:xfrm>
            <a:off x="698103" y="4731643"/>
            <a:ext cx="3273822" cy="319187"/>
          </a:xfrm>
          <a:prstGeom prst="rect">
            <a:avLst/>
          </a:prstGeom>
          <a:noFill/>
          <a:ln/>
        </p:spPr>
        <p:txBody>
          <a:bodyPr wrap="none" lIns="0" tIns="0" rIns="0" bIns="0" rtlCol="0" anchor="t"/>
          <a:lstStyle/>
          <a:p>
            <a:pPr>
              <a:lnSpc>
                <a:spcPts val="2500"/>
              </a:lnSpc>
              <a:buSzPct val="100000"/>
            </a:pPr>
            <a:endParaRPr lang="en-US" sz="1542" dirty="0"/>
          </a:p>
        </p:txBody>
      </p:sp>
      <p:sp>
        <p:nvSpPr>
          <p:cNvPr id="7" name="Text 5"/>
          <p:cNvSpPr/>
          <p:nvPr/>
        </p:nvSpPr>
        <p:spPr>
          <a:xfrm>
            <a:off x="4464844" y="2822675"/>
            <a:ext cx="2592288"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Time Series Analysis</a:t>
            </a:r>
            <a:endParaRPr lang="en-US" sz="1833" dirty="0"/>
          </a:p>
        </p:txBody>
      </p:sp>
      <p:sp>
        <p:nvSpPr>
          <p:cNvPr id="8" name="Text 6"/>
          <p:cNvSpPr/>
          <p:nvPr/>
        </p:nvSpPr>
        <p:spPr>
          <a:xfrm>
            <a:off x="4464844" y="3315394"/>
            <a:ext cx="3273822" cy="319187"/>
          </a:xfrm>
          <a:prstGeom prst="rect">
            <a:avLst/>
          </a:prstGeom>
          <a:noFill/>
          <a:ln/>
        </p:spPr>
        <p:txBody>
          <a:bodyPr wrap="none" lIns="0" tIns="0" rIns="0" bIns="0" rtlCol="0" anchor="t"/>
          <a:lstStyle/>
          <a:p>
            <a:pPr marL="285739" indent="-285739">
              <a:lnSpc>
                <a:spcPts val="2500"/>
              </a:lnSpc>
              <a:buSzPct val="100000"/>
              <a:buChar char="•"/>
            </a:pPr>
            <a:r>
              <a:rPr lang="en-US" sz="1542" dirty="0" smtClean="0">
                <a:solidFill>
                  <a:srgbClr val="D9E1FF"/>
                </a:solidFill>
                <a:latin typeface="Arimo" pitchFamily="34" charset="0"/>
                <a:ea typeface="Arimo" pitchFamily="34" charset="-122"/>
                <a:cs typeface="Arimo" pitchFamily="34" charset="-120"/>
              </a:rPr>
              <a:t>Short-term </a:t>
            </a:r>
            <a:r>
              <a:rPr lang="en-US" sz="1542" dirty="0">
                <a:solidFill>
                  <a:srgbClr val="D9E1FF"/>
                </a:solidFill>
                <a:latin typeface="Arimo" pitchFamily="34" charset="0"/>
                <a:ea typeface="Arimo" pitchFamily="34" charset="-122"/>
                <a:cs typeface="Arimo" pitchFamily="34" charset="-120"/>
              </a:rPr>
              <a:t>forecasting.</a:t>
            </a:r>
            <a:endParaRPr lang="en-US" sz="1542" dirty="0"/>
          </a:p>
        </p:txBody>
      </p:sp>
      <p:sp>
        <p:nvSpPr>
          <p:cNvPr id="9" name="Text 7"/>
          <p:cNvSpPr/>
          <p:nvPr/>
        </p:nvSpPr>
        <p:spPr>
          <a:xfrm>
            <a:off x="4464844" y="3704332"/>
            <a:ext cx="3273822" cy="319187"/>
          </a:xfrm>
          <a:prstGeom prst="rect">
            <a:avLst/>
          </a:prstGeom>
          <a:noFill/>
          <a:ln/>
        </p:spPr>
        <p:txBody>
          <a:bodyPr wrap="none" lIns="0" tIns="0" rIns="0" bIns="0" rtlCol="0" anchor="t"/>
          <a:lstStyle/>
          <a:p>
            <a:pPr marL="285739" indent="-285739">
              <a:lnSpc>
                <a:spcPts val="2500"/>
              </a:lnSpc>
              <a:buSzPct val="100000"/>
              <a:buChar char="•"/>
            </a:pPr>
            <a:r>
              <a:rPr lang="en-US" sz="1542" dirty="0" smtClean="0">
                <a:solidFill>
                  <a:srgbClr val="D9E1FF"/>
                </a:solidFill>
                <a:latin typeface="Arimo" pitchFamily="34" charset="0"/>
                <a:ea typeface="Arimo" pitchFamily="34" charset="-122"/>
                <a:cs typeface="Arimo" pitchFamily="34" charset="-120"/>
              </a:rPr>
              <a:t>Complex </a:t>
            </a:r>
            <a:r>
              <a:rPr lang="en-US" sz="1542" dirty="0">
                <a:solidFill>
                  <a:srgbClr val="D9E1FF"/>
                </a:solidFill>
                <a:latin typeface="Arimo" pitchFamily="34" charset="0"/>
                <a:ea typeface="Arimo" pitchFamily="34" charset="-122"/>
                <a:cs typeface="Arimo" pitchFamily="34" charset="-120"/>
              </a:rPr>
              <a:t>patterns.</a:t>
            </a:r>
            <a:endParaRPr lang="en-US" sz="1542" dirty="0"/>
          </a:p>
        </p:txBody>
      </p:sp>
      <p:sp>
        <p:nvSpPr>
          <p:cNvPr id="10" name="Text 8"/>
          <p:cNvSpPr/>
          <p:nvPr/>
        </p:nvSpPr>
        <p:spPr>
          <a:xfrm>
            <a:off x="8231585" y="2822675"/>
            <a:ext cx="2346821" cy="293291"/>
          </a:xfrm>
          <a:prstGeom prst="rect">
            <a:avLst/>
          </a:prstGeom>
          <a:noFill/>
          <a:ln/>
        </p:spPr>
        <p:txBody>
          <a:bodyPr wrap="none" lIns="0" tIns="0" rIns="0" bIns="0" rtlCol="0" anchor="t"/>
          <a:lstStyle/>
          <a:p>
            <a:pPr>
              <a:lnSpc>
                <a:spcPts val="2292"/>
              </a:lnSpc>
            </a:pPr>
            <a:r>
              <a:rPr lang="en-US" sz="1833" b="1" dirty="0">
                <a:solidFill>
                  <a:srgbClr val="FFFFFF"/>
                </a:solidFill>
                <a:latin typeface="Syne Bold" pitchFamily="34" charset="0"/>
                <a:ea typeface="Syne Bold" pitchFamily="34" charset="-122"/>
                <a:cs typeface="Syne Bold" pitchFamily="34" charset="-120"/>
              </a:rPr>
              <a:t>Hybrid Models</a:t>
            </a:r>
            <a:endParaRPr lang="en-US" sz="1833" dirty="0"/>
          </a:p>
        </p:txBody>
      </p:sp>
      <p:sp>
        <p:nvSpPr>
          <p:cNvPr id="11" name="Text 9"/>
          <p:cNvSpPr/>
          <p:nvPr/>
        </p:nvSpPr>
        <p:spPr>
          <a:xfrm>
            <a:off x="8231584" y="3315394"/>
            <a:ext cx="3273822" cy="638373"/>
          </a:xfrm>
          <a:prstGeom prst="rect">
            <a:avLst/>
          </a:prstGeom>
          <a:noFill/>
          <a:ln/>
        </p:spPr>
        <p:txBody>
          <a:bodyPr wrap="squar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Combines wavelet transform with neural networks.</a:t>
            </a:r>
            <a:endParaRPr lang="en-US" sz="1542" dirty="0"/>
          </a:p>
        </p:txBody>
      </p:sp>
      <p:sp>
        <p:nvSpPr>
          <p:cNvPr id="12" name="Text 10"/>
          <p:cNvSpPr/>
          <p:nvPr/>
        </p:nvSpPr>
        <p:spPr>
          <a:xfrm>
            <a:off x="8231584" y="4133255"/>
            <a:ext cx="3273822"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Integrates physical and ML models.</a:t>
            </a:r>
            <a:endParaRPr lang="en-US" sz="1542" dirty="0"/>
          </a:p>
        </p:txBody>
      </p:sp>
    </p:spTree>
    <p:extLst>
      <p:ext uri="{BB962C8B-B14F-4D97-AF65-F5344CB8AC3E}">
        <p14:creationId xmlns:p14="http://schemas.microsoft.com/office/powerpoint/2010/main" val="318953160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2493467"/>
          </a:xfrm>
          <a:prstGeom prst="rect">
            <a:avLst/>
          </a:prstGeom>
        </p:spPr>
      </p:pic>
      <p:sp>
        <p:nvSpPr>
          <p:cNvPr id="3" name="Text 0"/>
          <p:cNvSpPr/>
          <p:nvPr/>
        </p:nvSpPr>
        <p:spPr>
          <a:xfrm>
            <a:off x="698104" y="3176588"/>
            <a:ext cx="9611419" cy="586681"/>
          </a:xfrm>
          <a:prstGeom prst="rect">
            <a:avLst/>
          </a:prstGeom>
          <a:noFill/>
          <a:ln/>
        </p:spPr>
        <p:txBody>
          <a:bodyPr wrap="none" lIns="0" tIns="0" rIns="0" bIns="0" rtlCol="0" anchor="t"/>
          <a:lstStyle/>
          <a:p>
            <a:pPr>
              <a:lnSpc>
                <a:spcPts val="4583"/>
              </a:lnSpc>
            </a:pPr>
            <a:r>
              <a:rPr lang="en-US" sz="3667" b="1" dirty="0">
                <a:solidFill>
                  <a:srgbClr val="FFFFFF"/>
                </a:solidFill>
                <a:latin typeface="Syne Bold" pitchFamily="34" charset="0"/>
                <a:ea typeface="Syne Bold" pitchFamily="34" charset="-122"/>
                <a:cs typeface="Syne Bold" pitchFamily="34" charset="-120"/>
              </a:rPr>
              <a:t>Research Gaps and Future Directions</a:t>
            </a:r>
            <a:endParaRPr lang="en-US" sz="3667" dirty="0"/>
          </a:p>
        </p:txBody>
      </p:sp>
      <p:sp>
        <p:nvSpPr>
          <p:cNvPr id="4" name="Shape 1"/>
          <p:cNvSpPr/>
          <p:nvPr/>
        </p:nvSpPr>
        <p:spPr>
          <a:xfrm>
            <a:off x="698103" y="4286746"/>
            <a:ext cx="448767" cy="448767"/>
          </a:xfrm>
          <a:prstGeom prst="roundRect">
            <a:avLst>
              <a:gd name="adj" fmla="val 6668"/>
            </a:avLst>
          </a:prstGeom>
          <a:solidFill>
            <a:srgbClr val="2B2952"/>
          </a:solidFill>
          <a:ln/>
        </p:spPr>
      </p:sp>
      <p:pic>
        <p:nvPicPr>
          <p:cNvPr id="5" name="Image 1" descr="preencoded.png"/>
          <p:cNvPicPr>
            <a:picLocks noChangeAspect="1"/>
          </p:cNvPicPr>
          <p:nvPr/>
        </p:nvPicPr>
        <p:blipFill>
          <a:blip r:embed="rId4"/>
          <a:stretch>
            <a:fillRect/>
          </a:stretch>
        </p:blipFill>
        <p:spPr>
          <a:xfrm>
            <a:off x="781645" y="4335066"/>
            <a:ext cx="281583" cy="352028"/>
          </a:xfrm>
          <a:prstGeom prst="rect">
            <a:avLst/>
          </a:prstGeom>
        </p:spPr>
      </p:pic>
      <p:sp>
        <p:nvSpPr>
          <p:cNvPr id="6" name="Text 2"/>
          <p:cNvSpPr/>
          <p:nvPr/>
        </p:nvSpPr>
        <p:spPr>
          <a:xfrm>
            <a:off x="1346300" y="4286746"/>
            <a:ext cx="2346821"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Data Availability</a:t>
            </a:r>
            <a:endParaRPr lang="en-US" sz="1833" dirty="0"/>
          </a:p>
        </p:txBody>
      </p:sp>
      <p:sp>
        <p:nvSpPr>
          <p:cNvPr id="7" name="Text 3"/>
          <p:cNvSpPr/>
          <p:nvPr/>
        </p:nvSpPr>
        <p:spPr>
          <a:xfrm>
            <a:off x="1346300" y="4699694"/>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Limited high-resolution energy data.</a:t>
            </a:r>
            <a:endParaRPr lang="en-US" sz="1542" dirty="0"/>
          </a:p>
        </p:txBody>
      </p:sp>
      <p:sp>
        <p:nvSpPr>
          <p:cNvPr id="8" name="Shape 4"/>
          <p:cNvSpPr/>
          <p:nvPr/>
        </p:nvSpPr>
        <p:spPr>
          <a:xfrm>
            <a:off x="6195715" y="4286746"/>
            <a:ext cx="448767" cy="448767"/>
          </a:xfrm>
          <a:prstGeom prst="roundRect">
            <a:avLst>
              <a:gd name="adj" fmla="val 6668"/>
            </a:avLst>
          </a:prstGeom>
          <a:solidFill>
            <a:srgbClr val="2B2952"/>
          </a:solidFill>
          <a:ln/>
        </p:spPr>
      </p:sp>
      <p:pic>
        <p:nvPicPr>
          <p:cNvPr id="9" name="Image 2" descr="preencoded.png"/>
          <p:cNvPicPr>
            <a:picLocks noChangeAspect="1"/>
          </p:cNvPicPr>
          <p:nvPr/>
        </p:nvPicPr>
        <p:blipFill>
          <a:blip r:embed="rId5"/>
          <a:stretch>
            <a:fillRect/>
          </a:stretch>
        </p:blipFill>
        <p:spPr>
          <a:xfrm>
            <a:off x="6279257" y="4335066"/>
            <a:ext cx="281583" cy="352028"/>
          </a:xfrm>
          <a:prstGeom prst="rect">
            <a:avLst/>
          </a:prstGeom>
        </p:spPr>
      </p:pic>
      <p:sp>
        <p:nvSpPr>
          <p:cNvPr id="10" name="Text 5"/>
          <p:cNvSpPr/>
          <p:nvPr/>
        </p:nvSpPr>
        <p:spPr>
          <a:xfrm>
            <a:off x="6843911" y="4286746"/>
            <a:ext cx="3540125" cy="293291"/>
          </a:xfrm>
          <a:prstGeom prst="rect">
            <a:avLst/>
          </a:prstGeom>
          <a:noFill/>
          <a:ln/>
        </p:spPr>
        <p:txBody>
          <a:bodyPr wrap="none" lIns="0" tIns="0" rIns="0" bIns="0" rtlCol="0" anchor="t"/>
          <a:lstStyle/>
          <a:p>
            <a:pPr>
              <a:lnSpc>
                <a:spcPts val="2292"/>
              </a:lnSpc>
            </a:pPr>
            <a:r>
              <a:rPr lang="en-US" sz="1833" b="1" dirty="0">
                <a:solidFill>
                  <a:srgbClr val="D9E1FF"/>
                </a:solidFill>
                <a:latin typeface="Syne Bold" pitchFamily="34" charset="0"/>
                <a:ea typeface="Syne Bold" pitchFamily="34" charset="-122"/>
                <a:cs typeface="Syne Bold" pitchFamily="34" charset="-120"/>
              </a:rPr>
              <a:t>Scalability and Adaptability</a:t>
            </a:r>
            <a:endParaRPr lang="en-US" sz="1833" dirty="0"/>
          </a:p>
        </p:txBody>
      </p:sp>
      <p:sp>
        <p:nvSpPr>
          <p:cNvPr id="11" name="Text 6"/>
          <p:cNvSpPr/>
          <p:nvPr/>
        </p:nvSpPr>
        <p:spPr>
          <a:xfrm>
            <a:off x="6843911" y="4699694"/>
            <a:ext cx="4649986" cy="319187"/>
          </a:xfrm>
          <a:prstGeom prst="rect">
            <a:avLst/>
          </a:prstGeom>
          <a:noFill/>
          <a:ln/>
        </p:spPr>
        <p:txBody>
          <a:bodyPr wrap="none" lIns="0" tIns="0" rIns="0" bIns="0" rtlCol="0" anchor="t"/>
          <a:lstStyle/>
          <a:p>
            <a:pPr>
              <a:lnSpc>
                <a:spcPts val="2500"/>
              </a:lnSpc>
            </a:pPr>
            <a:r>
              <a:rPr lang="en-US" sz="1542" dirty="0">
                <a:solidFill>
                  <a:srgbClr val="D9E1FF"/>
                </a:solidFill>
                <a:latin typeface="Arimo" pitchFamily="34" charset="0"/>
                <a:ea typeface="Arimo" pitchFamily="34" charset="-122"/>
                <a:cs typeface="Arimo" pitchFamily="34" charset="-120"/>
              </a:rPr>
              <a:t>Deploying ML in large-scale systems.</a:t>
            </a:r>
            <a:endParaRPr lang="en-US" sz="1542" dirty="0"/>
          </a:p>
        </p:txBody>
      </p:sp>
    </p:spTree>
    <p:extLst>
      <p:ext uri="{BB962C8B-B14F-4D97-AF65-F5344CB8AC3E}">
        <p14:creationId xmlns:p14="http://schemas.microsoft.com/office/powerpoint/2010/main" val="3465954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5253732" y="535980"/>
            <a:ext cx="6256536" cy="1145580"/>
          </a:xfrm>
          <a:prstGeom prst="rect">
            <a:avLst/>
          </a:prstGeom>
          <a:noFill/>
          <a:ln/>
        </p:spPr>
        <p:txBody>
          <a:bodyPr wrap="square" lIns="0" tIns="0" rIns="0" bIns="0" rtlCol="0" anchor="t"/>
          <a:lstStyle/>
          <a:p>
            <a:pPr>
              <a:lnSpc>
                <a:spcPts val="4500"/>
              </a:lnSpc>
            </a:pPr>
            <a:r>
              <a:rPr lang="en-US" sz="3583" b="1" dirty="0">
                <a:solidFill>
                  <a:srgbClr val="FFFFFF"/>
                </a:solidFill>
                <a:latin typeface="Syne Bold" pitchFamily="34" charset="0"/>
                <a:ea typeface="Syne Bold" pitchFamily="34" charset="-122"/>
                <a:cs typeface="Syne Bold" pitchFamily="34" charset="-120"/>
              </a:rPr>
              <a:t>Impactful Results and Case Studies</a:t>
            </a:r>
            <a:endParaRPr lang="en-US" sz="3583" dirty="0"/>
          </a:p>
        </p:txBody>
      </p:sp>
      <p:pic>
        <p:nvPicPr>
          <p:cNvPr id="4" name="Image 1" descr="preencoded.png"/>
          <p:cNvPicPr>
            <a:picLocks noChangeAspect="1"/>
          </p:cNvPicPr>
          <p:nvPr/>
        </p:nvPicPr>
        <p:blipFill>
          <a:blip r:embed="rId3"/>
          <a:stretch>
            <a:fillRect/>
          </a:stretch>
        </p:blipFill>
        <p:spPr>
          <a:xfrm>
            <a:off x="5253732" y="1973659"/>
            <a:ext cx="973932" cy="1168698"/>
          </a:xfrm>
          <a:prstGeom prst="rect">
            <a:avLst/>
          </a:prstGeom>
        </p:spPr>
      </p:pic>
      <p:sp>
        <p:nvSpPr>
          <p:cNvPr id="5" name="Text 1"/>
          <p:cNvSpPr/>
          <p:nvPr/>
        </p:nvSpPr>
        <p:spPr>
          <a:xfrm>
            <a:off x="6519763" y="2168426"/>
            <a:ext cx="3611265" cy="286444"/>
          </a:xfrm>
          <a:prstGeom prst="rect">
            <a:avLst/>
          </a:prstGeom>
          <a:noFill/>
          <a:ln/>
        </p:spPr>
        <p:txBody>
          <a:bodyPr wrap="none" lIns="0" tIns="0" rIns="0" bIns="0" rtlCol="0" anchor="t"/>
          <a:lstStyle/>
          <a:p>
            <a:pPr>
              <a:lnSpc>
                <a:spcPts val="2250"/>
              </a:lnSpc>
            </a:pPr>
            <a:r>
              <a:rPr lang="en-US" sz="1792" b="1" dirty="0">
                <a:solidFill>
                  <a:srgbClr val="D9E1FF"/>
                </a:solidFill>
                <a:latin typeface="Syne Bold" pitchFamily="34" charset="0"/>
                <a:ea typeface="Syne Bold" pitchFamily="34" charset="-122"/>
                <a:cs typeface="Syne Bold" pitchFamily="34" charset="-120"/>
              </a:rPr>
              <a:t>Smart Building Management</a:t>
            </a:r>
            <a:endParaRPr lang="en-US" sz="1792" dirty="0"/>
          </a:p>
        </p:txBody>
      </p:sp>
      <p:sp>
        <p:nvSpPr>
          <p:cNvPr id="6" name="Text 2"/>
          <p:cNvSpPr/>
          <p:nvPr/>
        </p:nvSpPr>
        <p:spPr>
          <a:xfrm>
            <a:off x="6519763" y="2571651"/>
            <a:ext cx="4990505" cy="311547"/>
          </a:xfrm>
          <a:prstGeom prst="rect">
            <a:avLst/>
          </a:prstGeom>
          <a:noFill/>
          <a:ln/>
        </p:spPr>
        <p:txBody>
          <a:bodyPr wrap="none" lIns="0" tIns="0" rIns="0" bIns="0" rtlCol="0" anchor="t"/>
          <a:lstStyle/>
          <a:p>
            <a:pPr>
              <a:lnSpc>
                <a:spcPts val="2417"/>
              </a:lnSpc>
            </a:pPr>
            <a:r>
              <a:rPr lang="en-US" sz="1500" dirty="0">
                <a:solidFill>
                  <a:srgbClr val="D9E1FF"/>
                </a:solidFill>
                <a:latin typeface="Arimo" pitchFamily="34" charset="0"/>
                <a:ea typeface="Arimo" pitchFamily="34" charset="-122"/>
                <a:cs typeface="Arimo" pitchFamily="34" charset="-120"/>
              </a:rPr>
              <a:t>Reduces energy use by 20%.</a:t>
            </a:r>
            <a:endParaRPr lang="en-US" sz="1500" dirty="0"/>
          </a:p>
        </p:txBody>
      </p:sp>
      <p:pic>
        <p:nvPicPr>
          <p:cNvPr id="7" name="Image 2" descr="preencoded.png"/>
          <p:cNvPicPr>
            <a:picLocks noChangeAspect="1"/>
          </p:cNvPicPr>
          <p:nvPr/>
        </p:nvPicPr>
        <p:blipFill>
          <a:blip r:embed="rId4"/>
          <a:stretch>
            <a:fillRect/>
          </a:stretch>
        </p:blipFill>
        <p:spPr>
          <a:xfrm>
            <a:off x="5253732" y="3142357"/>
            <a:ext cx="973932" cy="1168698"/>
          </a:xfrm>
          <a:prstGeom prst="rect">
            <a:avLst/>
          </a:prstGeom>
        </p:spPr>
      </p:pic>
      <p:sp>
        <p:nvSpPr>
          <p:cNvPr id="8" name="Text 3"/>
          <p:cNvSpPr/>
          <p:nvPr/>
        </p:nvSpPr>
        <p:spPr>
          <a:xfrm>
            <a:off x="6519764" y="3337124"/>
            <a:ext cx="2787948" cy="286444"/>
          </a:xfrm>
          <a:prstGeom prst="rect">
            <a:avLst/>
          </a:prstGeom>
          <a:noFill/>
          <a:ln/>
        </p:spPr>
        <p:txBody>
          <a:bodyPr wrap="none" lIns="0" tIns="0" rIns="0" bIns="0" rtlCol="0" anchor="t"/>
          <a:lstStyle/>
          <a:p>
            <a:pPr>
              <a:lnSpc>
                <a:spcPts val="2250"/>
              </a:lnSpc>
            </a:pPr>
            <a:r>
              <a:rPr lang="en-US" sz="1792" b="1" dirty="0">
                <a:solidFill>
                  <a:srgbClr val="D9E1FF"/>
                </a:solidFill>
                <a:latin typeface="Syne Bold" pitchFamily="34" charset="0"/>
                <a:ea typeface="Syne Bold" pitchFamily="34" charset="-122"/>
                <a:cs typeface="Syne Bold" pitchFamily="34" charset="-120"/>
              </a:rPr>
              <a:t>Grid Load Forecasting</a:t>
            </a:r>
            <a:endParaRPr lang="en-US" sz="1792" dirty="0"/>
          </a:p>
        </p:txBody>
      </p:sp>
      <p:sp>
        <p:nvSpPr>
          <p:cNvPr id="9" name="Text 4"/>
          <p:cNvSpPr/>
          <p:nvPr/>
        </p:nvSpPr>
        <p:spPr>
          <a:xfrm>
            <a:off x="6519763" y="3740348"/>
            <a:ext cx="4990505" cy="311547"/>
          </a:xfrm>
          <a:prstGeom prst="rect">
            <a:avLst/>
          </a:prstGeom>
          <a:noFill/>
          <a:ln/>
        </p:spPr>
        <p:txBody>
          <a:bodyPr wrap="none" lIns="0" tIns="0" rIns="0" bIns="0" rtlCol="0" anchor="t"/>
          <a:lstStyle/>
          <a:p>
            <a:pPr>
              <a:lnSpc>
                <a:spcPts val="2417"/>
              </a:lnSpc>
            </a:pPr>
            <a:r>
              <a:rPr lang="en-US" sz="1500" dirty="0">
                <a:solidFill>
                  <a:srgbClr val="D9E1FF"/>
                </a:solidFill>
                <a:latin typeface="Arimo" pitchFamily="34" charset="0"/>
                <a:ea typeface="Arimo" pitchFamily="34" charset="-122"/>
                <a:cs typeface="Arimo" pitchFamily="34" charset="-120"/>
              </a:rPr>
              <a:t>Improves accuracy by 15%.</a:t>
            </a:r>
            <a:endParaRPr lang="en-US" sz="1500" dirty="0"/>
          </a:p>
        </p:txBody>
      </p:sp>
      <p:pic>
        <p:nvPicPr>
          <p:cNvPr id="10" name="Image 3" descr="preencoded.png"/>
          <p:cNvPicPr>
            <a:picLocks noChangeAspect="1"/>
          </p:cNvPicPr>
          <p:nvPr/>
        </p:nvPicPr>
        <p:blipFill>
          <a:blip r:embed="rId5"/>
          <a:stretch>
            <a:fillRect/>
          </a:stretch>
        </p:blipFill>
        <p:spPr>
          <a:xfrm>
            <a:off x="5253732" y="4311055"/>
            <a:ext cx="973932" cy="1168698"/>
          </a:xfrm>
          <a:prstGeom prst="rect">
            <a:avLst/>
          </a:prstGeom>
        </p:spPr>
      </p:pic>
      <p:sp>
        <p:nvSpPr>
          <p:cNvPr id="11" name="Text 5"/>
          <p:cNvSpPr/>
          <p:nvPr/>
        </p:nvSpPr>
        <p:spPr>
          <a:xfrm>
            <a:off x="6519764" y="4505821"/>
            <a:ext cx="3796606" cy="286444"/>
          </a:xfrm>
          <a:prstGeom prst="rect">
            <a:avLst/>
          </a:prstGeom>
          <a:noFill/>
          <a:ln/>
        </p:spPr>
        <p:txBody>
          <a:bodyPr wrap="none" lIns="0" tIns="0" rIns="0" bIns="0" rtlCol="0" anchor="t"/>
          <a:lstStyle/>
          <a:p>
            <a:pPr>
              <a:lnSpc>
                <a:spcPts val="2250"/>
              </a:lnSpc>
            </a:pPr>
            <a:r>
              <a:rPr lang="en-US" sz="1792" b="1" dirty="0">
                <a:solidFill>
                  <a:srgbClr val="D9E1FF"/>
                </a:solidFill>
                <a:latin typeface="Syne Bold" pitchFamily="34" charset="0"/>
                <a:ea typeface="Syne Bold" pitchFamily="34" charset="-122"/>
                <a:cs typeface="Syne Bold" pitchFamily="34" charset="-120"/>
              </a:rPr>
              <a:t>Renewable Energy Integration</a:t>
            </a:r>
            <a:endParaRPr lang="en-US" sz="1792" dirty="0"/>
          </a:p>
        </p:txBody>
      </p:sp>
      <p:sp>
        <p:nvSpPr>
          <p:cNvPr id="12" name="Text 6"/>
          <p:cNvSpPr/>
          <p:nvPr/>
        </p:nvSpPr>
        <p:spPr>
          <a:xfrm>
            <a:off x="6519763" y="4909046"/>
            <a:ext cx="4990505" cy="311547"/>
          </a:xfrm>
          <a:prstGeom prst="rect">
            <a:avLst/>
          </a:prstGeom>
          <a:noFill/>
          <a:ln/>
        </p:spPr>
        <p:txBody>
          <a:bodyPr wrap="none" lIns="0" tIns="0" rIns="0" bIns="0" rtlCol="0" anchor="t"/>
          <a:lstStyle/>
          <a:p>
            <a:pPr>
              <a:lnSpc>
                <a:spcPts val="2417"/>
              </a:lnSpc>
            </a:pPr>
            <a:r>
              <a:rPr lang="en-US" sz="1500" dirty="0">
                <a:solidFill>
                  <a:srgbClr val="D9E1FF"/>
                </a:solidFill>
                <a:latin typeface="Arimo" pitchFamily="34" charset="0"/>
                <a:ea typeface="Arimo" pitchFamily="34" charset="-122"/>
                <a:cs typeface="Arimo" pitchFamily="34" charset="-120"/>
              </a:rPr>
              <a:t>Increases utilization by 30%.</a:t>
            </a:r>
            <a:endParaRPr lang="en-US" sz="1500" dirty="0"/>
          </a:p>
        </p:txBody>
      </p:sp>
      <p:sp>
        <p:nvSpPr>
          <p:cNvPr id="13" name="Text 7"/>
          <p:cNvSpPr/>
          <p:nvPr/>
        </p:nvSpPr>
        <p:spPr>
          <a:xfrm>
            <a:off x="5253732" y="5698828"/>
            <a:ext cx="6256536" cy="623094"/>
          </a:xfrm>
          <a:prstGeom prst="rect">
            <a:avLst/>
          </a:prstGeom>
          <a:noFill/>
          <a:ln/>
        </p:spPr>
        <p:txBody>
          <a:bodyPr wrap="square" lIns="0" tIns="0" rIns="0" bIns="0" rtlCol="0" anchor="t"/>
          <a:lstStyle/>
          <a:p>
            <a:pPr>
              <a:lnSpc>
                <a:spcPts val="2417"/>
              </a:lnSpc>
            </a:pPr>
            <a:r>
              <a:rPr lang="en-US" sz="1500" dirty="0">
                <a:solidFill>
                  <a:srgbClr val="D9E1FF"/>
                </a:solidFill>
                <a:latin typeface="Arimo" pitchFamily="34" charset="0"/>
                <a:ea typeface="Arimo" pitchFamily="34" charset="-122"/>
                <a:cs typeface="Arimo" pitchFamily="34" charset="-120"/>
              </a:rPr>
              <a:t>Machine learning is a powerful tool for energy optimization. Further research will unlock greater potential.</a:t>
            </a:r>
            <a:endParaRPr lang="en-US" sz="1500" dirty="0"/>
          </a:p>
        </p:txBody>
      </p:sp>
      <p:pic>
        <p:nvPicPr>
          <p:cNvPr id="3074" name="Picture 2" descr="EV Battery Problems: Here Is A Detailed Guide On Symptoms, Causes &amp; Fixes"/>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386" y="2298435"/>
            <a:ext cx="5078296" cy="28565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685790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1771222"/>
              </p:ext>
            </p:extLst>
          </p:nvPr>
        </p:nvGraphicFramePr>
        <p:xfrm>
          <a:off x="0" y="-1"/>
          <a:ext cx="12192000" cy="6858000"/>
        </p:xfrm>
        <a:graphic>
          <a:graphicData uri="http://schemas.openxmlformats.org/drawingml/2006/table">
            <a:tbl>
              <a:tblPr firstRow="1" bandRow="1">
                <a:tableStyleId>{5C22544A-7EE6-4342-B048-85BDC9FD1C3A}</a:tableStyleId>
              </a:tblPr>
              <a:tblGrid>
                <a:gridCol w="598811"/>
                <a:gridCol w="3876085"/>
                <a:gridCol w="4669104"/>
                <a:gridCol w="3048000"/>
              </a:tblGrid>
              <a:tr h="1258622">
                <a:tc>
                  <a:txBody>
                    <a:bodyPr/>
                    <a:lstStyle/>
                    <a:p>
                      <a:endParaRPr lang="en-US" dirty="0"/>
                    </a:p>
                  </a:txBody>
                  <a:tcPr/>
                </a:tc>
                <a:tc>
                  <a:txBody>
                    <a:bodyPr/>
                    <a:lstStyle/>
                    <a:p>
                      <a:r>
                        <a:rPr lang="en-US" dirty="0" smtClean="0"/>
                        <a:t>Project title</a:t>
                      </a:r>
                      <a:endParaRPr lang="en-US" dirty="0"/>
                    </a:p>
                  </a:txBody>
                  <a:tcPr/>
                </a:tc>
                <a:tc>
                  <a:txBody>
                    <a:bodyPr/>
                    <a:lstStyle/>
                    <a:p>
                      <a:r>
                        <a:rPr lang="en-US" dirty="0" smtClean="0"/>
                        <a:t>Project Details</a:t>
                      </a:r>
                      <a:endParaRPr lang="en-US" dirty="0"/>
                    </a:p>
                  </a:txBody>
                  <a:tcPr/>
                </a:tc>
                <a:tc>
                  <a:txBody>
                    <a:bodyPr/>
                    <a:lstStyle/>
                    <a:p>
                      <a:r>
                        <a:rPr lang="en-US" dirty="0" smtClean="0"/>
                        <a:t>Infernce </a:t>
                      </a:r>
                      <a:endParaRPr lang="en-US" dirty="0"/>
                    </a:p>
                  </a:txBody>
                  <a:tcPr/>
                </a:tc>
              </a:tr>
              <a:tr h="2799689">
                <a:tc>
                  <a:txBody>
                    <a:bodyPr/>
                    <a:lstStyle/>
                    <a:p>
                      <a:r>
                        <a:rPr lang="en-US" dirty="0" smtClean="0"/>
                        <a:t>`1</a:t>
                      </a:r>
                      <a:endParaRPr lang="en-US" dirty="0"/>
                    </a:p>
                  </a:txBody>
                  <a:tcPr/>
                </a:tc>
                <a:tc>
                  <a:txBody>
                    <a:bodyPr/>
                    <a:lstStyle/>
                    <a:p>
                      <a:r>
                        <a:rPr lang="en-US" dirty="0" smtClean="0"/>
                        <a:t>BATTERY MANAGEMENT SYSTEM FOR ELECTRIC VEHICLE</a:t>
                      </a:r>
                      <a:endParaRPr lang="en-US" dirty="0"/>
                    </a:p>
                  </a:txBody>
                  <a:tcPr/>
                </a:tc>
                <a:tc>
                  <a:txBody>
                    <a:bodyPr/>
                    <a:lstStyle/>
                    <a:p>
                      <a:r>
                        <a:rPr lang="en-US" dirty="0" smtClean="0"/>
                        <a:t>Sagar Sutar, Ramkrushna Shinde, Dhanashree Patil, Sayali Jamdade, Rutuja Chougule, Prof. Sanjay Dhaygude, Rohan Doshi</a:t>
                      </a:r>
                    </a:p>
                    <a:p>
                      <a:r>
                        <a:rPr lang="en-US" dirty="0" smtClean="0"/>
                        <a:t/>
                      </a:r>
                      <a:br>
                        <a:rPr lang="en-US" dirty="0" smtClean="0"/>
                      </a:br>
                      <a:r>
                        <a:rPr lang="en-US" dirty="0" smtClean="0"/>
                        <a:t>Student, Department Of Electronics Engineering, Walchand Collage Of Engineering, Sangli, Maharashtra, India.</a:t>
                      </a:r>
                      <a:endParaRPr lang="en-US" dirty="0"/>
                    </a:p>
                  </a:txBody>
                  <a:tcPr/>
                </a:tc>
                <a:tc>
                  <a:txBody>
                    <a:bodyPr/>
                    <a:lstStyle/>
                    <a:p>
                      <a:r>
                        <a:rPr lang="en-US" dirty="0" smtClean="0"/>
                        <a:t>A </a:t>
                      </a:r>
                      <a:r>
                        <a:rPr lang="en-US" b="1" dirty="0" smtClean="0"/>
                        <a:t>Battery Management System (BMS)</a:t>
                      </a:r>
                      <a:r>
                        <a:rPr lang="en-US" dirty="0" smtClean="0"/>
                        <a:t> for an </a:t>
                      </a:r>
                      <a:r>
                        <a:rPr lang="en-US" b="1" dirty="0" smtClean="0"/>
                        <a:t>Electric Vehicle (EV)</a:t>
                      </a:r>
                      <a:r>
                        <a:rPr lang="en-US" dirty="0" smtClean="0"/>
                        <a:t> plays a crucial role in ensuring the optimal performance, safety, and longevity of the vehicle’s battery pack.</a:t>
                      </a:r>
                      <a:endParaRPr lang="en-US" dirty="0"/>
                    </a:p>
                  </a:txBody>
                  <a:tcPr/>
                </a:tc>
              </a:tr>
              <a:tr h="2799689">
                <a:tc>
                  <a:txBody>
                    <a:bodyPr/>
                    <a:lstStyle/>
                    <a:p>
                      <a:r>
                        <a:rPr lang="en-US" dirty="0" smtClean="0"/>
                        <a:t>2</a:t>
                      </a:r>
                      <a:endParaRPr lang="en-US" dirty="0"/>
                    </a:p>
                  </a:txBody>
                  <a:tcPr/>
                </a:tc>
                <a:tc>
                  <a:txBody>
                    <a:bodyPr/>
                    <a:lstStyle/>
                    <a:p>
                      <a:r>
                        <a:rPr lang="en-US" dirty="0" smtClean="0"/>
                        <a:t>Enhancement of energy consumption estimation for electric vehicles by using machine learning</a:t>
                      </a:r>
                      <a:endParaRPr lang="en-US" dirty="0"/>
                    </a:p>
                  </a:txBody>
                  <a:tcPr/>
                </a:tc>
                <a:tc>
                  <a:txBody>
                    <a:bodyPr/>
                    <a:lstStyle/>
                    <a:p>
                      <a:r>
                        <a:rPr lang="en-US" dirty="0" smtClean="0"/>
                        <a:t>Adnane Cabani, Peiwen Zhang, Redouane Khemmar, Jin Xu</a:t>
                      </a:r>
                      <a:r>
                        <a:rPr lang="en-US" baseline="0" dirty="0" smtClean="0"/>
                        <a:t> </a:t>
                      </a:r>
                      <a:r>
                        <a:rPr lang="en-US" dirty="0" smtClean="0"/>
                        <a:t>Normandie Univ, UNIROUEN, ESIGELEC, IRSEEM, 76000 Rouen, France 4 ´ Ecole de Technologie Sup´erieure, University of Quebec, Montreal, QC, H3C 1K3, Canada</a:t>
                      </a:r>
                      <a:endParaRPr lang="en-US" dirty="0"/>
                    </a:p>
                  </a:txBody>
                  <a:tcPr/>
                </a:tc>
                <a:tc>
                  <a:txBody>
                    <a:bodyPr/>
                    <a:lstStyle/>
                    <a:p>
                      <a:r>
                        <a:rPr lang="en-US" dirty="0" smtClean="0"/>
                        <a:t>The </a:t>
                      </a:r>
                      <a:r>
                        <a:rPr lang="en-US" b="1" dirty="0" smtClean="0"/>
                        <a:t>enhancement of energy consumption estimation for electric vehicles (EVs) using machine learning</a:t>
                      </a:r>
                      <a:r>
                        <a:rPr lang="en-US" dirty="0" smtClean="0"/>
                        <a:t> is a promising and transformative approach aimed at improving the accuracy and efficiency of energy management systems in EVs</a:t>
                      </a:r>
                      <a:endParaRPr lang="en-US" dirty="0"/>
                    </a:p>
                  </a:txBody>
                  <a:tcPr/>
                </a:tc>
              </a:tr>
            </a:tbl>
          </a:graphicData>
        </a:graphic>
      </p:graphicFrame>
    </p:spTree>
    <p:extLst>
      <p:ext uri="{BB962C8B-B14F-4D97-AF65-F5344CB8AC3E}">
        <p14:creationId xmlns:p14="http://schemas.microsoft.com/office/powerpoint/2010/main" val="182588720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843470856"/>
              </p:ext>
            </p:extLst>
          </p:nvPr>
        </p:nvGraphicFramePr>
        <p:xfrm>
          <a:off x="0" y="-1"/>
          <a:ext cx="12192000" cy="6892951"/>
        </p:xfrm>
        <a:graphic>
          <a:graphicData uri="http://schemas.openxmlformats.org/drawingml/2006/table">
            <a:tbl>
              <a:tblPr firstRow="1" bandRow="1">
                <a:tableStyleId>{5C22544A-7EE6-4342-B048-85BDC9FD1C3A}</a:tableStyleId>
              </a:tblPr>
              <a:tblGrid>
                <a:gridCol w="598811"/>
                <a:gridCol w="3876085"/>
                <a:gridCol w="4669104"/>
                <a:gridCol w="3048000"/>
              </a:tblGrid>
              <a:tr h="1258622">
                <a:tc>
                  <a:txBody>
                    <a:bodyPr/>
                    <a:lstStyle/>
                    <a:p>
                      <a:endParaRPr lang="en-US" dirty="0"/>
                    </a:p>
                  </a:txBody>
                  <a:tcPr/>
                </a:tc>
                <a:tc>
                  <a:txBody>
                    <a:bodyPr/>
                    <a:lstStyle/>
                    <a:p>
                      <a:r>
                        <a:rPr lang="en-US" dirty="0" smtClean="0"/>
                        <a:t>Project title</a:t>
                      </a:r>
                      <a:endParaRPr lang="en-US" dirty="0"/>
                    </a:p>
                  </a:txBody>
                  <a:tcPr/>
                </a:tc>
                <a:tc>
                  <a:txBody>
                    <a:bodyPr/>
                    <a:lstStyle/>
                    <a:p>
                      <a:r>
                        <a:rPr lang="en-US" dirty="0" smtClean="0"/>
                        <a:t>Project Details</a:t>
                      </a:r>
                      <a:endParaRPr lang="en-US" dirty="0"/>
                    </a:p>
                  </a:txBody>
                  <a:tcPr/>
                </a:tc>
                <a:tc>
                  <a:txBody>
                    <a:bodyPr/>
                    <a:lstStyle/>
                    <a:p>
                      <a:r>
                        <a:rPr lang="en-US" dirty="0" smtClean="0"/>
                        <a:t>Infernce </a:t>
                      </a:r>
                      <a:endParaRPr lang="en-US" dirty="0"/>
                    </a:p>
                  </a:txBody>
                  <a:tcPr/>
                </a:tc>
              </a:tr>
              <a:tr h="2799689">
                <a:tc>
                  <a:txBody>
                    <a:bodyPr/>
                    <a:lstStyle/>
                    <a:p>
                      <a:r>
                        <a:rPr lang="en-US" dirty="0" smtClean="0"/>
                        <a:t>3</a:t>
                      </a:r>
                      <a:endParaRPr lang="en-US" dirty="0"/>
                    </a:p>
                  </a:txBody>
                  <a:tcPr/>
                </a:tc>
                <a:tc>
                  <a:txBody>
                    <a:bodyPr/>
                    <a:lstStyle/>
                    <a:p>
                      <a:r>
                        <a:rPr lang="en-US" dirty="0" smtClean="0"/>
                        <a:t>A MACHINE LEARNING-BASED ENERGY OPTIMIZATION SYSTEM FOR ELECTRIC VEHICLES </a:t>
                      </a:r>
                      <a:endParaRPr lang="en-US" dirty="0"/>
                    </a:p>
                  </a:txBody>
                  <a:tcPr/>
                </a:tc>
                <a:tc>
                  <a:txBody>
                    <a:bodyPr/>
                    <a:lstStyle/>
                    <a:p>
                      <a:r>
                        <a:rPr lang="en-US" dirty="0" smtClean="0"/>
                        <a:t>Padmavathy R  Jeya Prakash K,</a:t>
                      </a:r>
                      <a:r>
                        <a:rPr lang="en-US" baseline="0" dirty="0" smtClean="0"/>
                        <a:t> </a:t>
                      </a:r>
                      <a:r>
                        <a:rPr lang="en-US" dirty="0" smtClean="0"/>
                        <a:t>Greeta T ,Divya K  1New Prince Shrishri Bhavani College Of Engineering And Technology, Approved by AICTE, Affilated to Anna UniversityChennai, India.</a:t>
                      </a:r>
                      <a:r>
                        <a:rPr lang="en-US" baseline="0" dirty="0" smtClean="0"/>
                        <a:t> </a:t>
                      </a:r>
                      <a:r>
                        <a:rPr lang="en-US" dirty="0" smtClean="0"/>
                        <a:t>Assistant Professor Kalasalingam Academy of Research and Education Tamilnadu, India</a:t>
                      </a:r>
                      <a:endParaRPr lang="en-US" dirty="0"/>
                    </a:p>
                  </a:txBody>
                  <a:tcPr/>
                </a:tc>
                <a:tc>
                  <a:txBody>
                    <a:bodyPr/>
                    <a:lstStyle/>
                    <a:p>
                      <a:r>
                        <a:rPr lang="en-US" dirty="0" smtClean="0"/>
                        <a:t>A </a:t>
                      </a:r>
                      <a:r>
                        <a:rPr lang="en-US" b="1" dirty="0" smtClean="0"/>
                        <a:t>Machine Learning-Based Energy Optimization System</a:t>
                      </a:r>
                      <a:r>
                        <a:rPr lang="en-US" dirty="0" smtClean="0"/>
                        <a:t> for </a:t>
                      </a:r>
                      <a:r>
                        <a:rPr lang="en-US" b="1" dirty="0" smtClean="0"/>
                        <a:t>Electric Vehicles (EVs)</a:t>
                      </a:r>
                      <a:r>
                        <a:rPr lang="en-US" dirty="0" smtClean="0"/>
                        <a:t> is a transformative approach aimed at enhancing the overall efficiency of energy consumption, improving the range, and prolonging the lifespan of EV batteries.</a:t>
                      </a:r>
                      <a:endParaRPr lang="en-US" dirty="0"/>
                    </a:p>
                  </a:txBody>
                  <a:tcPr/>
                </a:tc>
              </a:tr>
              <a:tr h="2799689">
                <a:tc>
                  <a:txBody>
                    <a:bodyPr/>
                    <a:lstStyle/>
                    <a:p>
                      <a:r>
                        <a:rPr lang="en-US" dirty="0" smtClean="0"/>
                        <a:t>4</a:t>
                      </a:r>
                      <a:endParaRPr lang="en-US" dirty="0"/>
                    </a:p>
                  </a:txBody>
                  <a:tcPr/>
                </a:tc>
                <a:tc>
                  <a:txBody>
                    <a:bodyPr/>
                    <a:lstStyle/>
                    <a:p>
                      <a:r>
                        <a:rPr lang="en-US" dirty="0" smtClean="0"/>
                        <a:t>Machine Learning Models for Predicting and Managing Electric Vehicle Load in Smart Grids</a:t>
                      </a:r>
                      <a:endParaRPr lang="en-US" dirty="0"/>
                    </a:p>
                  </a:txBody>
                  <a:tcPr/>
                </a:tc>
                <a:tc>
                  <a:txBody>
                    <a:bodyPr/>
                    <a:lstStyle/>
                    <a:p>
                      <a:r>
                        <a:rPr lang="en-US" dirty="0" smtClean="0"/>
                        <a:t>VasupalliManoj,M.RamasekharaReddy,G.NookaRaju,RamakrishnaRaghutu,P.A.Mohanarao,AakulaSwathi.</a:t>
                      </a:r>
                    </a:p>
                    <a:p>
                      <a:r>
                        <a:rPr lang="en-US" dirty="0" smtClean="0"/>
                        <a:t>Department</a:t>
                      </a:r>
                      <a:r>
                        <a:rPr lang="en-US" baseline="0" dirty="0" smtClean="0"/>
                        <a:t> of electronic engineering department Andra Pradesh</a:t>
                      </a:r>
                      <a:endParaRPr lang="en-US" dirty="0"/>
                    </a:p>
                  </a:txBody>
                  <a:tcPr/>
                </a:tc>
                <a:tc>
                  <a:txBody>
                    <a:bodyPr/>
                    <a:lstStyle/>
                    <a:p>
                      <a:r>
                        <a:rPr lang="en-US" b="1" dirty="0" smtClean="0"/>
                        <a:t>Machine Learning Models for Predicting and Managing Electric Vehicle Load in Smart Grids</a:t>
                      </a:r>
                      <a:r>
                        <a:rPr lang="en-US" dirty="0" smtClean="0"/>
                        <a:t> represent a cutting-edge solution for optimizing energy distribution, reducing grid congestion, and ensuring the efficient use of resources in a modern, decentralized energy system</a:t>
                      </a:r>
                      <a:endParaRPr lang="en-US" dirty="0"/>
                    </a:p>
                  </a:txBody>
                  <a:tcPr/>
                </a:tc>
              </a:tr>
            </a:tbl>
          </a:graphicData>
        </a:graphic>
      </p:graphicFrame>
    </p:spTree>
    <p:extLst>
      <p:ext uri="{BB962C8B-B14F-4D97-AF65-F5344CB8AC3E}">
        <p14:creationId xmlns:p14="http://schemas.microsoft.com/office/powerpoint/2010/main" val="316232314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926147429"/>
              </p:ext>
            </p:extLst>
          </p:nvPr>
        </p:nvGraphicFramePr>
        <p:xfrm>
          <a:off x="0" y="-1"/>
          <a:ext cx="12192000" cy="6892951"/>
        </p:xfrm>
        <a:graphic>
          <a:graphicData uri="http://schemas.openxmlformats.org/drawingml/2006/table">
            <a:tbl>
              <a:tblPr firstRow="1" bandRow="1">
                <a:tableStyleId>{5C22544A-7EE6-4342-B048-85BDC9FD1C3A}</a:tableStyleId>
              </a:tblPr>
              <a:tblGrid>
                <a:gridCol w="598811"/>
                <a:gridCol w="3876085"/>
                <a:gridCol w="4669104"/>
                <a:gridCol w="3048000"/>
              </a:tblGrid>
              <a:tr h="1258622">
                <a:tc>
                  <a:txBody>
                    <a:bodyPr/>
                    <a:lstStyle/>
                    <a:p>
                      <a:endParaRPr lang="en-US" dirty="0"/>
                    </a:p>
                  </a:txBody>
                  <a:tcPr/>
                </a:tc>
                <a:tc>
                  <a:txBody>
                    <a:bodyPr/>
                    <a:lstStyle/>
                    <a:p>
                      <a:r>
                        <a:rPr lang="en-US" dirty="0" smtClean="0"/>
                        <a:t>Project title</a:t>
                      </a:r>
                      <a:endParaRPr lang="en-US" dirty="0"/>
                    </a:p>
                  </a:txBody>
                  <a:tcPr/>
                </a:tc>
                <a:tc>
                  <a:txBody>
                    <a:bodyPr/>
                    <a:lstStyle/>
                    <a:p>
                      <a:r>
                        <a:rPr lang="en-US" dirty="0" smtClean="0"/>
                        <a:t>Project Details</a:t>
                      </a:r>
                      <a:endParaRPr lang="en-US" dirty="0"/>
                    </a:p>
                  </a:txBody>
                  <a:tcPr/>
                </a:tc>
                <a:tc>
                  <a:txBody>
                    <a:bodyPr/>
                    <a:lstStyle/>
                    <a:p>
                      <a:r>
                        <a:rPr lang="en-US" dirty="0" smtClean="0"/>
                        <a:t>Infernce </a:t>
                      </a:r>
                      <a:endParaRPr lang="en-US" dirty="0"/>
                    </a:p>
                  </a:txBody>
                  <a:tcPr/>
                </a:tc>
              </a:tr>
              <a:tr h="2799689">
                <a:tc>
                  <a:txBody>
                    <a:bodyPr/>
                    <a:lstStyle/>
                    <a:p>
                      <a:r>
                        <a:rPr lang="en-US" dirty="0" smtClean="0"/>
                        <a:t>5</a:t>
                      </a:r>
                      <a:endParaRPr lang="en-US" dirty="0"/>
                    </a:p>
                  </a:txBody>
                  <a:tcPr/>
                </a:tc>
                <a:tc>
                  <a:txBody>
                    <a:bodyPr/>
                    <a:lstStyle/>
                    <a:p>
                      <a:r>
                        <a:rPr lang="en-US" dirty="0" smtClean="0"/>
                        <a:t>Recent Trends and Issues of Energy Management Systems Using Machine Learning</a:t>
                      </a:r>
                      <a:endParaRPr lang="en-US" dirty="0"/>
                    </a:p>
                  </a:txBody>
                  <a:tcPr/>
                </a:tc>
                <a:tc>
                  <a:txBody>
                    <a:bodyPr/>
                    <a:lstStyle/>
                    <a:p>
                      <a:r>
                        <a:rPr lang="en-US" dirty="0" smtClean="0"/>
                        <a:t>Seongwoo Lee, Joonho Seon , Byungsun Hwang, Soohyun Kim , Youngghyu Sun and Jinyoung Kim</a:t>
                      </a:r>
                      <a:endParaRPr lang="en-US" dirty="0"/>
                    </a:p>
                  </a:txBody>
                  <a:tcPr/>
                </a:tc>
                <a:tc>
                  <a:txBody>
                    <a:bodyPr/>
                    <a:lstStyle/>
                    <a:p>
                      <a:r>
                        <a:rPr lang="en-US" dirty="0" smtClean="0"/>
                        <a:t>Energy Management Systems (EMS) are critical for optimizing energy use, reducing costs, and improving efficiency in various industries, such as manufacturing, utilities, and smart homes. </a:t>
                      </a:r>
                      <a:endParaRPr lang="en-US" dirty="0"/>
                    </a:p>
                  </a:txBody>
                  <a:tcPr/>
                </a:tc>
              </a:tr>
              <a:tr h="2799689">
                <a:tc>
                  <a:txBody>
                    <a:bodyPr/>
                    <a:lstStyle/>
                    <a:p>
                      <a:r>
                        <a:rPr lang="en-US" dirty="0" smtClean="0"/>
                        <a:t>6</a:t>
                      </a:r>
                      <a:endParaRPr lang="en-US" dirty="0"/>
                    </a:p>
                  </a:txBody>
                  <a:tcPr/>
                </a:tc>
                <a:tc>
                  <a:txBody>
                    <a:bodyPr/>
                    <a:lstStyle/>
                    <a:p>
                      <a:r>
                        <a:rPr lang="en-US" dirty="0" smtClean="0"/>
                        <a:t>Energy prediction and optimization based on machine learning.</a:t>
                      </a:r>
                      <a:endParaRPr lang="en-US" dirty="0"/>
                    </a:p>
                  </a:txBody>
                  <a:tcPr/>
                </a:tc>
                <a:tc>
                  <a:txBody>
                    <a:bodyPr/>
                    <a:lstStyle/>
                    <a:p>
                      <a:r>
                        <a:rPr lang="en-US" dirty="0" smtClean="0"/>
                        <a:t>Thamaraikannan T. Thulasiraman , Jayanthy Soundrarajan,  Judeson Antony Kovilpillai J</a:t>
                      </a:r>
                      <a:endParaRPr lang="en-US" dirty="0"/>
                    </a:p>
                  </a:txBody>
                  <a:tcPr/>
                </a:tc>
                <a:tc>
                  <a:txBody>
                    <a:bodyPr/>
                    <a:lstStyle/>
                    <a:p>
                      <a:r>
                        <a:rPr lang="en-US" dirty="0" smtClean="0"/>
                        <a:t>Energy prediction and optimization using Machine Learning (ML) has become a central focus for industries, utilities, and residential sectors aiming to improve energy efficiency, reduce costs, and increase the integration of renewable energy sources</a:t>
                      </a:r>
                      <a:endParaRPr lang="en-US" dirty="0"/>
                    </a:p>
                  </a:txBody>
                  <a:tcPr/>
                </a:tc>
              </a:tr>
            </a:tbl>
          </a:graphicData>
        </a:graphic>
      </p:graphicFrame>
    </p:spTree>
    <p:extLst>
      <p:ext uri="{BB962C8B-B14F-4D97-AF65-F5344CB8AC3E}">
        <p14:creationId xmlns:p14="http://schemas.microsoft.com/office/powerpoint/2010/main" val="4186270108"/>
      </p:ext>
    </p:extLst>
  </p:cSld>
  <p:clrMapOvr>
    <a:masterClrMapping/>
  </p:clrMapOvr>
  <p:timing>
    <p:tnLst>
      <p:par>
        <p:cTn id="1" dur="indefinite" restart="never" nodeType="tmRoot"/>
      </p:par>
    </p:tnLst>
  </p:timing>
</p:sld>
</file>

<file path=ppt/theme/theme1.xml><?xml version="1.0" encoding="utf-8"?>
<a:theme xmlns:a="http://schemas.openxmlformats.org/drawingml/2006/main" name="Retrospect">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9CC26709-368C-4D72-9060-94E5B3FF3CD6}"/>
    </a:ext>
  </a:extLst>
</a:theme>
</file>

<file path=ppt/theme/theme2.xml><?xml version="1.0" encoding="utf-8"?>
<a:theme xmlns:a="http://schemas.openxmlformats.org/drawingml/2006/main" name="Office Theme">
  <a:themeElements>
    <a:clrScheme name="Forest">
      <a:dk1>
        <a:sysClr val="windowText" lastClr="000000"/>
      </a:dk1>
      <a:lt1>
        <a:sysClr val="window" lastClr="FFFFFF"/>
      </a:lt1>
      <a:dk2>
        <a:srgbClr val="444444"/>
      </a:dk2>
      <a:lt2>
        <a:srgbClr val="EBEBEB"/>
      </a:lt2>
      <a:accent1>
        <a:srgbClr val="5EBFE4"/>
      </a:accent1>
      <a:accent2>
        <a:srgbClr val="4DD6B0"/>
      </a:accent2>
      <a:accent3>
        <a:srgbClr val="98DC55"/>
      </a:accent3>
      <a:accent4>
        <a:srgbClr val="FFC63D"/>
      </a:accent4>
      <a:accent5>
        <a:srgbClr val="E59046"/>
      </a:accent5>
      <a:accent6>
        <a:srgbClr val="DC6555"/>
      </a:accent6>
      <a:hlink>
        <a:srgbClr val="0563C1"/>
      </a:hlink>
      <a:folHlink>
        <a:srgbClr val="954F72"/>
      </a:folHlink>
    </a:clrScheme>
    <a:fontScheme name="Forest">
      <a:majorFont>
        <a:latin typeface="Raleway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654</TotalTime>
  <Words>2333</Words>
  <Application>Microsoft Office PowerPoint</Application>
  <PresentationFormat>Widescreen</PresentationFormat>
  <Paragraphs>285</Paragraphs>
  <Slides>31</Slides>
  <Notes>28</Notes>
  <HiddenSlides>0</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31</vt:i4>
      </vt:variant>
    </vt:vector>
  </HeadingPairs>
  <TitlesOfParts>
    <vt:vector size="43" baseType="lpstr">
      <vt:lpstr>Arial</vt:lpstr>
      <vt:lpstr>Arimo</vt:lpstr>
      <vt:lpstr>Calibri</vt:lpstr>
      <vt:lpstr>Calibri Light</vt:lpstr>
      <vt:lpstr>Overpass</vt:lpstr>
      <vt:lpstr>Overpass Bold</vt:lpstr>
      <vt:lpstr>Raleway Light</vt:lpstr>
      <vt:lpstr>Roboto</vt:lpstr>
      <vt:lpstr>Syne Bold</vt:lpstr>
      <vt:lpstr>Retrospect</vt:lpstr>
      <vt:lpstr>Office Theme</vt:lpstr>
      <vt:lpstr>1_Office Theme</vt:lpstr>
      <vt:lpstr>A data preprocessing technique to manage the batteries of the EV vehicles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data preprocessing technique for missing values and biased data in Machine Learning</dc:title>
  <dc:creator>Lenovo</dc:creator>
  <cp:lastModifiedBy>Aayush</cp:lastModifiedBy>
  <cp:revision>188</cp:revision>
  <dcterms:created xsi:type="dcterms:W3CDTF">2021-08-16T15:21:54Z</dcterms:created>
  <dcterms:modified xsi:type="dcterms:W3CDTF">2025-04-07T05:56:28Z</dcterms:modified>
</cp:coreProperties>
</file>